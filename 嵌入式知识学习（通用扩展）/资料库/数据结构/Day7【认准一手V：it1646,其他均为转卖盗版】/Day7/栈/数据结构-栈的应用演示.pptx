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192" r:id="rId4"/>
    <p:sldId id="2304" r:id="rId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93366"/>
    <a:srgbClr val="FFFF66"/>
    <a:srgbClr val="33CC33"/>
    <a:srgbClr val="008000"/>
    <a:srgbClr val="FFFF00"/>
    <a:srgbClr val="889208"/>
    <a:srgbClr val="727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/>
    <p:restoredTop sz="94619"/>
  </p:normalViewPr>
  <p:slideViewPr>
    <p:cSldViewPr showGuides="1">
      <p:cViewPr varScale="1">
        <p:scale>
          <a:sx n="68" d="100"/>
          <a:sy n="68" d="100"/>
        </p:scale>
        <p:origin x="-12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5220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mpd="sng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Font typeface="Wingdings 3" panose="05040102010807070707" pitchFamily="18" charset="2"/>
              <a:buChar char="•"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769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769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769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769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标题占位符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日期占位符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00800" y="6356350"/>
            <a:ext cx="2289175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40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8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8775" y="6356350"/>
            <a:ext cx="3505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40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9" name="直接连接符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直接连接符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等腰三角形 9"/>
          <p:cNvSpPr>
            <a:spLocks noChangeAspect="1" noChangeArrowheads="1"/>
          </p:cNvSpPr>
          <p:nvPr/>
        </p:nvSpPr>
        <p:spPr bwMode="auto"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6632" name="Picture 9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858000" y="304800"/>
            <a:ext cx="1724025" cy="61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灯片编号占位符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12775" y="6356350"/>
            <a:ext cx="1981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Wingdings 3" panose="05040102010807070707" pitchFamily="18" charset="2"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634" name="文本占位符 12"/>
          <p:cNvSpPr>
            <a:spLocks noGrp="1"/>
          </p:cNvSpPr>
          <p:nvPr>
            <p:ph type="body"/>
          </p:nvPr>
        </p:nvSpPr>
        <p:spPr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7305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400">
          <a:solidFill>
            <a:schemeClr val="tx2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000">
          <a:solidFill>
            <a:schemeClr val="tx1"/>
          </a:solidFill>
          <a:latin typeface="+mn-lt"/>
          <a:ea typeface="+mn-ea"/>
        </a:defRPr>
      </a:lvl3pPr>
      <a:lvl4pPr marL="1097280" indent="-228600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5pPr>
      <a:lvl6pPr marL="18288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6pPr>
      <a:lvl7pPr marL="22860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7pPr>
      <a:lvl8pPr marL="27432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8pPr>
      <a:lvl9pPr marL="32004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等腰三角形 11"/>
          <p:cNvSpPr>
            <a:spLocks noChangeAspect="1" noChangeArrowheads="1"/>
          </p:cNvSpPr>
          <p:nvPr/>
        </p:nvSpPr>
        <p:spPr bwMode="auto"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7652" name="Picture 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38588" y="1235075"/>
            <a:ext cx="2462212" cy="669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3" name="Picture 5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705600" y="1295400"/>
            <a:ext cx="1724025" cy="61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矩形 16"/>
          <p:cNvSpPr>
            <a:spLocks noChangeArrowheads="1"/>
          </p:cNvSpPr>
          <p:nvPr/>
        </p:nvSpPr>
        <p:spPr bwMode="auto">
          <a:xfrm>
            <a:off x="904875" y="3648075"/>
            <a:ext cx="7315200" cy="1279525"/>
          </a:xfrm>
          <a:prstGeom prst="rect">
            <a:avLst/>
          </a:prstGeom>
          <a:noFill/>
          <a:ln w="6350" cap="rnd">
            <a:solidFill>
              <a:schemeClr val="accent1"/>
            </a:solidFill>
            <a:miter lim="800000"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55" name="矩形 17"/>
          <p:cNvSpPr>
            <a:spLocks noChangeArrowheads="1"/>
          </p:cNvSpPr>
          <p:nvPr/>
        </p:nvSpPr>
        <p:spPr bwMode="auto">
          <a:xfrm>
            <a:off x="914400" y="5048250"/>
            <a:ext cx="7315200" cy="685800"/>
          </a:xfrm>
          <a:prstGeom prst="rect">
            <a:avLst/>
          </a:prstGeom>
          <a:noFill/>
          <a:ln w="6350" cap="rnd">
            <a:solidFill>
              <a:schemeClr val="accent2"/>
            </a:solidFill>
            <a:miter lim="800000"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56" name="矩形 18"/>
          <p:cNvSpPr>
            <a:spLocks noChangeArrowheads="1"/>
          </p:cNvSpPr>
          <p:nvPr/>
        </p:nvSpPr>
        <p:spPr bwMode="auto"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57" name="矩形 19"/>
          <p:cNvSpPr>
            <a:spLocks noChangeArrowheads="1"/>
          </p:cNvSpPr>
          <p:nvPr/>
        </p:nvSpPr>
        <p:spPr bwMode="auto"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658" name="标题占位符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7659" name="文本占位符 12"/>
          <p:cNvSpPr>
            <a:spLocks noGrp="1"/>
          </p:cNvSpPr>
          <p:nvPr>
            <p:ph type="body"/>
          </p:nvPr>
        </p:nvSpPr>
        <p:spPr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7305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400">
          <a:solidFill>
            <a:schemeClr val="tx2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000">
          <a:solidFill>
            <a:schemeClr val="tx1"/>
          </a:solidFill>
          <a:latin typeface="+mn-lt"/>
          <a:ea typeface="+mn-ea"/>
        </a:defRPr>
      </a:lvl3pPr>
      <a:lvl4pPr marL="1097280" indent="-228600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5pPr>
      <a:lvl6pPr marL="18288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6pPr>
      <a:lvl7pPr marL="22860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7pPr>
      <a:lvl8pPr marL="27432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8pPr>
      <a:lvl9pPr marL="32004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98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sz="36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栈的应用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表达式求值</a:t>
            </a:r>
            <a:endParaRPr lang="en-US" altLang="zh-CN" sz="36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9812" name="Rectangle 3"/>
          <p:cNvSpPr>
            <a:spLocks noGrp="1"/>
          </p:cNvSpPr>
          <p:nvPr>
            <p:ph type="body"/>
          </p:nvPr>
        </p:nvSpPr>
        <p:spPr>
          <a:xfrm>
            <a:off x="457200" y="1143000"/>
            <a:ext cx="8080375" cy="4910138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14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建立操作数栈和运算符栈。运算符有优先级。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自左至右扫描表达式，凡是遇到操作数一律进操作数栈。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遇到运算符时，如果它的优先级比运算符栈栈顶元素的优先级高就进栈。反之，取出栈顶运算符和操作数栈栈顶的连续两个操作数进行运算，并将结果存入操作数栈，然后继续比较该运算符与栈顶运算符的优先级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左括号一律进运算符栈，右括号一律不进运算符栈，取出运算符栈顶运算符和操作数栈顶的两个操作数进行运算，并将结果压入操作数栈，直到取出左括号为止。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48145" y="76200"/>
            <a:ext cx="2167255" cy="9207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9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9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9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9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9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9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6" name="Rectangle 3"/>
          <p:cNvSpPr>
            <a:spLocks noGrp="1"/>
          </p:cNvSpPr>
          <p:nvPr>
            <p:ph type="body"/>
          </p:nvPr>
        </p:nvSpPr>
        <p:spPr>
          <a:xfrm>
            <a:off x="-368300" y="1223010"/>
            <a:ext cx="8080375" cy="1404620"/>
          </a:xfrm>
        </p:spPr>
        <p:txBody>
          <a:bodyPr vert="horz" wrap="square" lIns="91440" tIns="45720" rIns="91440" bIns="45720" anchor="t"/>
          <a:p>
            <a:pPr lvl="1" eaLnBrk="1" hangingPunct="1"/>
            <a:r>
              <a:rPr lang="zh-CN" altLang="en-US" dirty="0"/>
              <a:t>计算 </a:t>
            </a:r>
            <a:r>
              <a:rPr lang="en-US" altLang="zh-CN" dirty="0"/>
              <a:t>( 4</a:t>
            </a:r>
            <a:r>
              <a:rPr lang="zh-CN" altLang="en-US" dirty="0"/>
              <a:t>＋</a:t>
            </a:r>
            <a:r>
              <a:rPr lang="en-US" altLang="zh-CN" dirty="0"/>
              <a:t>8 )×2</a:t>
            </a:r>
            <a:r>
              <a:rPr lang="zh-CN" altLang="en-US" dirty="0"/>
              <a:t>－</a:t>
            </a:r>
            <a:r>
              <a:rPr lang="en-US" altLang="zh-CN" dirty="0"/>
              <a:t>3 ;</a:t>
            </a:r>
            <a:endParaRPr lang="en-US" altLang="zh-CN" dirty="0"/>
          </a:p>
          <a:p>
            <a:pPr lvl="2" eaLnBrk="1" hangingPunct="1">
              <a:buNone/>
            </a:pPr>
            <a:r>
              <a:rPr lang="zh-CN" altLang="en-US" dirty="0"/>
              <a:t>操作数栈 ：</a:t>
            </a:r>
            <a:r>
              <a:rPr lang="en-US" altLang="zh-CN" dirty="0"/>
              <a:t>4  8    	| 12  2		|24  3		|21</a:t>
            </a:r>
            <a:endParaRPr lang="en-US" altLang="zh-CN" dirty="0"/>
          </a:p>
          <a:p>
            <a:pPr lvl="2" eaLnBrk="1" hangingPunct="1">
              <a:buNone/>
            </a:pPr>
            <a:r>
              <a:rPr lang="zh-CN" altLang="en-US" dirty="0"/>
              <a:t>运算符栈 ：</a:t>
            </a:r>
            <a:r>
              <a:rPr lang="en-US" altLang="zh-CN" dirty="0"/>
              <a:t>( </a:t>
            </a:r>
            <a:r>
              <a:rPr lang="zh-CN" altLang="en-US" dirty="0"/>
              <a:t>＋     	</a:t>
            </a:r>
            <a:r>
              <a:rPr lang="en-US" altLang="zh-CN" dirty="0"/>
              <a:t>|×		|</a:t>
            </a:r>
            <a:r>
              <a:rPr lang="zh-CN" altLang="en-US" dirty="0"/>
              <a:t>－		</a:t>
            </a:r>
            <a:r>
              <a:rPr lang="en-US" altLang="zh-CN" dirty="0"/>
              <a:t>|</a:t>
            </a:r>
            <a:endParaRPr lang="en-US" altLang="zh-CN" dirty="0"/>
          </a:p>
        </p:txBody>
      </p:sp>
      <p:grpSp>
        <p:nvGrpSpPr>
          <p:cNvPr id="2" name="Group 5"/>
          <p:cNvGrpSpPr/>
          <p:nvPr/>
        </p:nvGrpSpPr>
        <p:grpSpPr>
          <a:xfrm>
            <a:off x="238125" y="3053715"/>
            <a:ext cx="990600" cy="2286000"/>
            <a:chOff x="0" y="0"/>
            <a:chExt cx="624" cy="1440"/>
          </a:xfrm>
        </p:grpSpPr>
        <p:sp>
          <p:nvSpPr>
            <p:cNvPr id="10957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624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4" name="Line 6"/>
            <p:cNvSpPr>
              <a:spLocks noChangeShapeType="1"/>
            </p:cNvSpPr>
            <p:nvPr/>
          </p:nvSpPr>
          <p:spPr bwMode="auto">
            <a:xfrm>
              <a:off x="0" y="11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5" name="Line 7"/>
            <p:cNvSpPr>
              <a:spLocks noChangeShapeType="1"/>
            </p:cNvSpPr>
            <p:nvPr/>
          </p:nvSpPr>
          <p:spPr bwMode="auto">
            <a:xfrm>
              <a:off x="0" y="86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6" name="Line 8"/>
            <p:cNvSpPr>
              <a:spLocks noChangeShapeType="1"/>
            </p:cNvSpPr>
            <p:nvPr/>
          </p:nvSpPr>
          <p:spPr bwMode="auto">
            <a:xfrm>
              <a:off x="0" y="57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7" name="Line 9"/>
            <p:cNvSpPr>
              <a:spLocks noChangeShapeType="1"/>
            </p:cNvSpPr>
            <p:nvPr/>
          </p:nvSpPr>
          <p:spPr bwMode="auto">
            <a:xfrm>
              <a:off x="0" y="28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1"/>
          <p:cNvGrpSpPr/>
          <p:nvPr/>
        </p:nvGrpSpPr>
        <p:grpSpPr>
          <a:xfrm>
            <a:off x="1914525" y="3053715"/>
            <a:ext cx="990600" cy="2286000"/>
            <a:chOff x="0" y="0"/>
            <a:chExt cx="624" cy="1440"/>
          </a:xfrm>
        </p:grpSpPr>
        <p:sp>
          <p:nvSpPr>
            <p:cNvPr id="109579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624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80" name="Line 12"/>
            <p:cNvSpPr>
              <a:spLocks noChangeShapeType="1"/>
            </p:cNvSpPr>
            <p:nvPr/>
          </p:nvSpPr>
          <p:spPr bwMode="auto">
            <a:xfrm>
              <a:off x="0" y="11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81" name="Line 13"/>
            <p:cNvSpPr>
              <a:spLocks noChangeShapeType="1"/>
            </p:cNvSpPr>
            <p:nvPr/>
          </p:nvSpPr>
          <p:spPr bwMode="auto">
            <a:xfrm>
              <a:off x="0" y="86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82" name="Line 14"/>
            <p:cNvSpPr>
              <a:spLocks noChangeShapeType="1"/>
            </p:cNvSpPr>
            <p:nvPr/>
          </p:nvSpPr>
          <p:spPr bwMode="auto">
            <a:xfrm>
              <a:off x="0" y="57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83" name="Line 15"/>
            <p:cNvSpPr>
              <a:spLocks noChangeShapeType="1"/>
            </p:cNvSpPr>
            <p:nvPr/>
          </p:nvSpPr>
          <p:spPr bwMode="auto">
            <a:xfrm>
              <a:off x="0" y="28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0609" name="Rectangle 16"/>
          <p:cNvSpPr/>
          <p:nvPr/>
        </p:nvSpPr>
        <p:spPr>
          <a:xfrm>
            <a:off x="161925" y="5415915"/>
            <a:ext cx="1200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zh-CN" altLang="en-US" sz="2000" dirty="0">
                <a:latin typeface="Times New Roman" panose="02020603050405020304" pitchFamily="18" charset="0"/>
              </a:rPr>
              <a:t>操作数栈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0610" name="Rectangle 17"/>
          <p:cNvSpPr/>
          <p:nvPr/>
        </p:nvSpPr>
        <p:spPr>
          <a:xfrm>
            <a:off x="1838325" y="5415915"/>
            <a:ext cx="1200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zh-CN" altLang="en-US" sz="2000" dirty="0">
                <a:latin typeface="Times New Roman" panose="02020603050405020304" pitchFamily="18" charset="0"/>
              </a:rPr>
              <a:t>运算符栈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0611" name="Rectangle 18"/>
          <p:cNvSpPr/>
          <p:nvPr/>
        </p:nvSpPr>
        <p:spPr>
          <a:xfrm>
            <a:off x="3213100" y="2977515"/>
            <a:ext cx="17494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( 4</a:t>
            </a:r>
            <a:r>
              <a:rPr lang="zh-CN" altLang="en-US" sz="2000" dirty="0">
                <a:latin typeface="Times New Roman" panose="02020603050405020304" pitchFamily="18" charset="0"/>
              </a:rPr>
              <a:t>＋</a:t>
            </a:r>
            <a:r>
              <a:rPr lang="en-US" altLang="zh-CN" sz="2000" dirty="0">
                <a:latin typeface="Times New Roman" panose="02020603050405020304" pitchFamily="18" charset="0"/>
              </a:rPr>
              <a:t>8 )×2</a:t>
            </a: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12" name="Line 19"/>
          <p:cNvSpPr>
            <a:spLocks noChangeShapeType="1"/>
          </p:cNvSpPr>
          <p:nvPr/>
        </p:nvSpPr>
        <p:spPr bwMode="auto">
          <a:xfrm>
            <a:off x="4127500" y="33585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13" name="Rectangle 20"/>
          <p:cNvSpPr/>
          <p:nvPr/>
        </p:nvSpPr>
        <p:spPr>
          <a:xfrm>
            <a:off x="3209925" y="3587115"/>
            <a:ext cx="16017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</a:rPr>
              <a:t>＋</a:t>
            </a:r>
            <a:r>
              <a:rPr lang="en-US" altLang="zh-CN" sz="2000" dirty="0">
                <a:latin typeface="Times New Roman" panose="02020603050405020304" pitchFamily="18" charset="0"/>
              </a:rPr>
              <a:t>8 )×2</a:t>
            </a: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14" name="Rectangle 21"/>
          <p:cNvSpPr/>
          <p:nvPr/>
        </p:nvSpPr>
        <p:spPr>
          <a:xfrm>
            <a:off x="2295525" y="4882515"/>
            <a:ext cx="2682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15" name="Line 22"/>
          <p:cNvSpPr>
            <a:spLocks noChangeShapeType="1"/>
          </p:cNvSpPr>
          <p:nvPr/>
        </p:nvSpPr>
        <p:spPr bwMode="auto">
          <a:xfrm>
            <a:off x="4127500" y="389191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16" name="Rectangle 23"/>
          <p:cNvSpPr/>
          <p:nvPr/>
        </p:nvSpPr>
        <p:spPr>
          <a:xfrm>
            <a:off x="3352800" y="4196715"/>
            <a:ext cx="14747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zh-CN" altLang="en-US" sz="2000" dirty="0">
                <a:latin typeface="Times New Roman" panose="02020603050405020304" pitchFamily="18" charset="0"/>
              </a:rPr>
              <a:t>＋</a:t>
            </a:r>
            <a:r>
              <a:rPr lang="en-US" altLang="zh-CN" sz="2000" dirty="0">
                <a:latin typeface="Times New Roman" panose="02020603050405020304" pitchFamily="18" charset="0"/>
              </a:rPr>
              <a:t>8 )×2</a:t>
            </a: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17" name="Rectangle 24"/>
          <p:cNvSpPr/>
          <p:nvPr/>
        </p:nvSpPr>
        <p:spPr>
          <a:xfrm>
            <a:off x="619125" y="494284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4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18" name="Line 25"/>
          <p:cNvSpPr>
            <a:spLocks noChangeShapeType="1"/>
          </p:cNvSpPr>
          <p:nvPr/>
        </p:nvSpPr>
        <p:spPr bwMode="auto">
          <a:xfrm>
            <a:off x="4140200" y="448564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19" name="Rectangle 26"/>
          <p:cNvSpPr/>
          <p:nvPr/>
        </p:nvSpPr>
        <p:spPr>
          <a:xfrm>
            <a:off x="3492500" y="4790440"/>
            <a:ext cx="12207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8 )×2</a:t>
            </a: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20" name="Rectangle 27"/>
          <p:cNvSpPr/>
          <p:nvPr/>
        </p:nvSpPr>
        <p:spPr>
          <a:xfrm>
            <a:off x="2238375" y="4501515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zh-CN" altLang="en-US" sz="2000" dirty="0">
                <a:latin typeface="Times New Roman" panose="02020603050405020304" pitchFamily="18" charset="0"/>
              </a:rPr>
              <a:t>＋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0621" name="Line 28"/>
          <p:cNvSpPr>
            <a:spLocks noChangeShapeType="1"/>
          </p:cNvSpPr>
          <p:nvPr/>
        </p:nvSpPr>
        <p:spPr bwMode="auto">
          <a:xfrm>
            <a:off x="4165600" y="509524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22" name="Rectangle 29"/>
          <p:cNvSpPr/>
          <p:nvPr/>
        </p:nvSpPr>
        <p:spPr>
          <a:xfrm>
            <a:off x="3613150" y="5400040"/>
            <a:ext cx="10302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)×2</a:t>
            </a: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23" name="Rectangle 30"/>
          <p:cNvSpPr/>
          <p:nvPr/>
        </p:nvSpPr>
        <p:spPr>
          <a:xfrm>
            <a:off x="619125" y="448564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8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32"/>
          <p:cNvGrpSpPr/>
          <p:nvPr/>
        </p:nvGrpSpPr>
        <p:grpSpPr>
          <a:xfrm>
            <a:off x="5118100" y="3129915"/>
            <a:ext cx="457200" cy="2514600"/>
            <a:chOff x="0" y="0"/>
            <a:chExt cx="288" cy="1584"/>
          </a:xfrm>
        </p:grpSpPr>
        <p:sp>
          <p:nvSpPr>
            <p:cNvPr id="109600" name="Line 32"/>
            <p:cNvSpPr>
              <a:spLocks noChangeShapeType="1"/>
            </p:cNvSpPr>
            <p:nvPr/>
          </p:nvSpPr>
          <p:spPr bwMode="auto">
            <a:xfrm>
              <a:off x="144" y="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601" name="Line 33"/>
            <p:cNvSpPr>
              <a:spLocks noChangeShapeType="1"/>
            </p:cNvSpPr>
            <p:nvPr/>
          </p:nvSpPr>
          <p:spPr bwMode="auto">
            <a:xfrm>
              <a:off x="144" y="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602" name="Line 34"/>
            <p:cNvSpPr>
              <a:spLocks noChangeShapeType="1"/>
            </p:cNvSpPr>
            <p:nvPr/>
          </p:nvSpPr>
          <p:spPr bwMode="auto">
            <a:xfrm>
              <a:off x="0" y="15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0628" name="Rectangle 35"/>
          <p:cNvSpPr/>
          <p:nvPr/>
        </p:nvSpPr>
        <p:spPr>
          <a:xfrm>
            <a:off x="5616575" y="2901315"/>
            <a:ext cx="946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×2</a:t>
            </a: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29" name="Rectangle 36"/>
          <p:cNvSpPr/>
          <p:nvPr/>
        </p:nvSpPr>
        <p:spPr>
          <a:xfrm>
            <a:off x="6654800" y="2901315"/>
            <a:ext cx="9779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4+8=12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30" name="Rectangle 37"/>
          <p:cNvSpPr/>
          <p:nvPr/>
        </p:nvSpPr>
        <p:spPr>
          <a:xfrm>
            <a:off x="542925" y="494284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12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31" name="Rectangle 38"/>
          <p:cNvSpPr/>
          <p:nvPr/>
        </p:nvSpPr>
        <p:spPr>
          <a:xfrm>
            <a:off x="5854700" y="3434715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32" name="Line 39"/>
          <p:cNvSpPr>
            <a:spLocks noChangeShapeType="1"/>
          </p:cNvSpPr>
          <p:nvPr/>
        </p:nvSpPr>
        <p:spPr bwMode="auto">
          <a:xfrm>
            <a:off x="6184900" y="32061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33" name="Rectangle 40"/>
          <p:cNvSpPr/>
          <p:nvPr/>
        </p:nvSpPr>
        <p:spPr>
          <a:xfrm>
            <a:off x="2219325" y="4882515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×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34" name="Line 41"/>
          <p:cNvSpPr>
            <a:spLocks noChangeShapeType="1"/>
          </p:cNvSpPr>
          <p:nvPr/>
        </p:nvSpPr>
        <p:spPr bwMode="auto">
          <a:xfrm>
            <a:off x="6184900" y="37395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35" name="Rectangle 42"/>
          <p:cNvSpPr/>
          <p:nvPr/>
        </p:nvSpPr>
        <p:spPr>
          <a:xfrm>
            <a:off x="5943600" y="3968115"/>
            <a:ext cx="565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36" name="Rectangle 43"/>
          <p:cNvSpPr/>
          <p:nvPr/>
        </p:nvSpPr>
        <p:spPr>
          <a:xfrm>
            <a:off x="612775" y="448564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37" name="Line 44"/>
          <p:cNvSpPr>
            <a:spLocks noChangeShapeType="1"/>
          </p:cNvSpPr>
          <p:nvPr/>
        </p:nvSpPr>
        <p:spPr bwMode="auto">
          <a:xfrm>
            <a:off x="6184900" y="42729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38" name="Rectangle 45"/>
          <p:cNvSpPr/>
          <p:nvPr/>
        </p:nvSpPr>
        <p:spPr>
          <a:xfrm>
            <a:off x="6007100" y="442531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39" name="Rectangle 46"/>
          <p:cNvSpPr/>
          <p:nvPr/>
        </p:nvSpPr>
        <p:spPr>
          <a:xfrm>
            <a:off x="6565900" y="4409440"/>
            <a:ext cx="11461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12X2=24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40" name="Rectangle 47"/>
          <p:cNvSpPr/>
          <p:nvPr/>
        </p:nvSpPr>
        <p:spPr>
          <a:xfrm>
            <a:off x="2219325" y="4882515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zh-CN" altLang="en-US" sz="2000" dirty="0">
                <a:latin typeface="Times New Roman" panose="02020603050405020304" pitchFamily="18" charset="0"/>
              </a:rPr>
              <a:t>－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10641" name="Rectangle 48"/>
          <p:cNvSpPr/>
          <p:nvPr/>
        </p:nvSpPr>
        <p:spPr>
          <a:xfrm>
            <a:off x="542925" y="494284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24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42" name="Line 49"/>
          <p:cNvSpPr>
            <a:spLocks noChangeShapeType="1"/>
          </p:cNvSpPr>
          <p:nvPr/>
        </p:nvSpPr>
        <p:spPr bwMode="auto">
          <a:xfrm>
            <a:off x="6184900" y="47301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643" name="Rectangle 50"/>
          <p:cNvSpPr/>
          <p:nvPr/>
        </p:nvSpPr>
        <p:spPr>
          <a:xfrm>
            <a:off x="619125" y="448564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10644" name="Rectangle 51"/>
          <p:cNvSpPr/>
          <p:nvPr/>
        </p:nvSpPr>
        <p:spPr>
          <a:xfrm>
            <a:off x="6586538" y="5095240"/>
            <a:ext cx="1046162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buFont typeface="Wingdings 3" panose="05040102010807070707" pitchFamily="18" charset="2"/>
            </a:pPr>
            <a:r>
              <a:rPr lang="en-US" altLang="zh-CN" sz="2000" dirty="0">
                <a:latin typeface="Times New Roman" panose="02020603050405020304" pitchFamily="18" charset="0"/>
              </a:rPr>
              <a:t>24-3=21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6748145" y="76200"/>
            <a:ext cx="2167255" cy="9207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1" name="Rectangle 2"/>
          <p:cNvSpPr>
            <a:spLocks noGrp="1"/>
          </p:cNvSpPr>
          <p:nvPr/>
        </p:nvSpPr>
        <p:spPr>
          <a:xfrm>
            <a:off x="161925" y="76200"/>
            <a:ext cx="8229600" cy="990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栈的应用举例</a:t>
            </a:r>
            <a:r>
              <a:rPr lang="zh-CN" altLang="en-US" sz="3600" b="0" dirty="0">
                <a:sym typeface="+mn-ea"/>
              </a:rPr>
              <a:t> </a:t>
            </a:r>
            <a:endParaRPr lang="zh-CN" altLang="en-US" sz="36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9" grpId="0"/>
      <p:bldP spid="110610" grpId="0"/>
      <p:bldP spid="110611" grpId="0"/>
      <p:bldP spid="110613" grpId="0"/>
      <p:bldP spid="110614" grpId="0"/>
      <p:bldP spid="110614" grpId="1"/>
      <p:bldP spid="110616" grpId="0"/>
      <p:bldP spid="110617" grpId="0"/>
      <p:bldP spid="110617" grpId="1"/>
      <p:bldP spid="110619" grpId="0"/>
      <p:bldP spid="110620" grpId="0"/>
      <p:bldP spid="110620" grpId="1"/>
      <p:bldP spid="110622" grpId="0"/>
      <p:bldP spid="110623" grpId="0"/>
      <p:bldP spid="110623" grpId="1"/>
      <p:bldP spid="110628" grpId="0"/>
      <p:bldP spid="110629" grpId="0"/>
      <p:bldP spid="110630" grpId="0"/>
      <p:bldP spid="110630" grpId="1"/>
      <p:bldP spid="110631" grpId="0"/>
      <p:bldP spid="110633" grpId="0"/>
      <p:bldP spid="110633" grpId="1"/>
      <p:bldP spid="110635" grpId="0"/>
      <p:bldP spid="110636" grpId="0"/>
      <p:bldP spid="110636" grpId="1"/>
      <p:bldP spid="110638" grpId="0"/>
      <p:bldP spid="110639" grpId="0"/>
      <p:bldP spid="110640" grpId="0"/>
      <p:bldP spid="110640" grpId="1"/>
      <p:bldP spid="110641" grpId="0"/>
      <p:bldP spid="110641" grpId="1"/>
      <p:bldP spid="110643" grpId="0"/>
      <p:bldP spid="110643" grpId="1"/>
      <p:bldP spid="110644" grpId="0"/>
    </p:bldLst>
  </p:timing>
</p:sld>
</file>

<file path=ppt/tags/tag1.xml><?xml version="1.0" encoding="utf-8"?>
<p:tagLst xmlns:p="http://schemas.openxmlformats.org/presentationml/2006/main">
  <p:tag name="REFSHAPE" val="236647780"/>
</p:tagLst>
</file>

<file path=ppt/theme/theme1.xml><?xml version="1.0" encoding="utf-8"?>
<a:theme xmlns:a="http://schemas.openxmlformats.org/drawingml/2006/main" name="质朴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质朴">
  <a:themeElements>
    <a:clrScheme name="1_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1_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WPS 演示</Application>
  <PresentationFormat>全屏显示(4:3)</PresentationFormat>
  <Paragraphs>61</Paragraphs>
  <Slides>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Wingdings 3</vt:lpstr>
      <vt:lpstr>微软雅黑</vt:lpstr>
      <vt:lpstr>Arial Unicode MS</vt:lpstr>
      <vt:lpstr>质朴</vt:lpstr>
      <vt:lpstr>1_质朴</vt:lpstr>
      <vt:lpstr>栈的应用举例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第1节  数据结构概述</dc:title>
  <dc:creator/>
  <cp:lastModifiedBy>小美</cp:lastModifiedBy>
  <cp:revision>35</cp:revision>
  <dcterms:created xsi:type="dcterms:W3CDTF">2015-12-14T07:51:00Z</dcterms:created>
  <dcterms:modified xsi:type="dcterms:W3CDTF">2019-09-18T12:16:17Z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