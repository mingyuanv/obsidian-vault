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5"/>
  </p:handoutMasterIdLst>
  <p:sldIdLst>
    <p:sldId id="1031" r:id="rId4"/>
    <p:sldId id="848" r:id="rId6"/>
    <p:sldId id="873" r:id="rId7"/>
    <p:sldId id="874" r:id="rId8"/>
    <p:sldId id="1211" r:id="rId9"/>
    <p:sldId id="875" r:id="rId10"/>
    <p:sldId id="876" r:id="rId11"/>
    <p:sldId id="1210" r:id="rId12"/>
    <p:sldId id="877" r:id="rId13"/>
    <p:sldId id="1226" r:id="rId14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222"/>
        <p:guide pos="4006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223"/>
        <p:guide pos="23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1633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650" y="335915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650" y="1332230"/>
            <a:ext cx="7793990" cy="3799840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）是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n≥0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）个节点的有限集合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，它满足两个条件 ：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8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有且仅有一个特定的称为根（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Root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）的节点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其余的节点可以分为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m≥0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）个互不相交的有限集合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T2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Tm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，其中每一个集合又是一棵树，并称为其根的子树</a:t>
            </a:r>
            <a:endParaRPr sz="2000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8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表示方法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：</a:t>
            </a: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树形表示法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目录表示法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650" y="51054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树</a:t>
            </a: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129030" y="2038350"/>
            <a:ext cx="2470785" cy="1578610"/>
            <a:chOff x="1461" y="3250"/>
            <a:chExt cx="3891" cy="2486"/>
          </a:xfrm>
        </p:grpSpPr>
        <p:sp>
          <p:nvSpPr>
            <p:cNvPr id="132099" name="Oval 3"/>
            <p:cNvSpPr/>
            <p:nvPr/>
          </p:nvSpPr>
          <p:spPr>
            <a:xfrm>
              <a:off x="1461" y="4810"/>
              <a:ext cx="998" cy="926"/>
            </a:xfrm>
            <a:prstGeom prst="ellipse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00" name="AutoShape 4"/>
            <p:cNvSpPr/>
            <p:nvPr/>
          </p:nvSpPr>
          <p:spPr>
            <a:xfrm>
              <a:off x="2236" y="3250"/>
              <a:ext cx="3117" cy="631"/>
            </a:xfrm>
            <a:prstGeom prst="wedgeRectCallout">
              <a:avLst>
                <a:gd name="adj1" fmla="val -45491"/>
                <a:gd name="adj2" fmla="val 143750"/>
              </a:avLst>
            </a:prstGeom>
            <a:noFill/>
            <a:ln w="1905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只有根结点的树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939223" y="1928896"/>
            <a:ext cx="4322763" cy="2889250"/>
            <a:chOff x="80" y="12"/>
            <a:chExt cx="2723" cy="1820"/>
          </a:xfrm>
        </p:grpSpPr>
        <p:grpSp>
          <p:nvGrpSpPr>
            <p:cNvPr id="132102" name="Group 7"/>
            <p:cNvGrpSpPr/>
            <p:nvPr/>
          </p:nvGrpSpPr>
          <p:grpSpPr>
            <a:xfrm>
              <a:off x="80" y="77"/>
              <a:ext cx="2723" cy="1755"/>
              <a:chOff x="0" y="0"/>
              <a:chExt cx="2723" cy="1755"/>
            </a:xfrm>
          </p:grpSpPr>
          <p:sp>
            <p:nvSpPr>
              <p:cNvPr id="132103" name="Oval 7"/>
              <p:cNvSpPr/>
              <p:nvPr/>
            </p:nvSpPr>
            <p:spPr>
              <a:xfrm>
                <a:off x="1283" y="0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04" name="Oval 8"/>
              <p:cNvSpPr/>
              <p:nvPr/>
            </p:nvSpPr>
            <p:spPr>
              <a:xfrm>
                <a:off x="637" y="512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05" name="Oval 9"/>
              <p:cNvSpPr/>
              <p:nvPr/>
            </p:nvSpPr>
            <p:spPr>
              <a:xfrm>
                <a:off x="1283" y="512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06" name="Oval 10"/>
              <p:cNvSpPr/>
              <p:nvPr/>
            </p:nvSpPr>
            <p:spPr>
              <a:xfrm>
                <a:off x="2060" y="512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07" name="Oval 11"/>
              <p:cNvSpPr/>
              <p:nvPr/>
            </p:nvSpPr>
            <p:spPr>
              <a:xfrm>
                <a:off x="261" y="997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08" name="Oval 12"/>
              <p:cNvSpPr/>
              <p:nvPr/>
            </p:nvSpPr>
            <p:spPr>
              <a:xfrm>
                <a:off x="905" y="997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09" name="Oval 13"/>
              <p:cNvSpPr/>
              <p:nvPr/>
            </p:nvSpPr>
            <p:spPr>
              <a:xfrm>
                <a:off x="1283" y="997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10" name="Oval 14"/>
              <p:cNvSpPr/>
              <p:nvPr/>
            </p:nvSpPr>
            <p:spPr>
              <a:xfrm>
                <a:off x="1650" y="997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11" name="Oval 15"/>
              <p:cNvSpPr/>
              <p:nvPr/>
            </p:nvSpPr>
            <p:spPr>
              <a:xfrm>
                <a:off x="2060" y="997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12" name="Oval 16"/>
              <p:cNvSpPr/>
              <p:nvPr/>
            </p:nvSpPr>
            <p:spPr>
              <a:xfrm>
                <a:off x="2433" y="997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13" name="Oval 17"/>
              <p:cNvSpPr/>
              <p:nvPr/>
            </p:nvSpPr>
            <p:spPr>
              <a:xfrm>
                <a:off x="0" y="1463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14" name="Oval 18"/>
              <p:cNvSpPr/>
              <p:nvPr/>
            </p:nvSpPr>
            <p:spPr>
              <a:xfrm>
                <a:off x="511" y="1463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15" name="Oval 19"/>
              <p:cNvSpPr/>
              <p:nvPr/>
            </p:nvSpPr>
            <p:spPr>
              <a:xfrm>
                <a:off x="1634" y="1463"/>
                <a:ext cx="290" cy="292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116" name="Line 20"/>
              <p:cNvSpPr/>
              <p:nvPr/>
            </p:nvSpPr>
            <p:spPr>
              <a:xfrm>
                <a:off x="1424" y="298"/>
                <a:ext cx="0" cy="211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17" name="Line 21"/>
              <p:cNvSpPr/>
              <p:nvPr/>
            </p:nvSpPr>
            <p:spPr>
              <a:xfrm flipH="1">
                <a:off x="1424" y="809"/>
                <a:ext cx="0" cy="189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18" name="Line 22"/>
              <p:cNvSpPr/>
              <p:nvPr/>
            </p:nvSpPr>
            <p:spPr>
              <a:xfrm>
                <a:off x="2202" y="809"/>
                <a:ext cx="0" cy="189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19" name="Line 23"/>
              <p:cNvSpPr/>
              <p:nvPr/>
            </p:nvSpPr>
            <p:spPr>
              <a:xfrm flipH="1">
                <a:off x="1846" y="765"/>
                <a:ext cx="256" cy="255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20" name="Line 24"/>
              <p:cNvSpPr/>
              <p:nvPr/>
            </p:nvSpPr>
            <p:spPr>
              <a:xfrm>
                <a:off x="2313" y="765"/>
                <a:ext cx="234" cy="233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21" name="Line 25"/>
              <p:cNvSpPr/>
              <p:nvPr/>
            </p:nvSpPr>
            <p:spPr>
              <a:xfrm>
                <a:off x="1524" y="198"/>
                <a:ext cx="567" cy="411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22" name="Line 26"/>
              <p:cNvSpPr/>
              <p:nvPr/>
            </p:nvSpPr>
            <p:spPr>
              <a:xfrm flipH="1">
                <a:off x="869" y="220"/>
                <a:ext cx="422" cy="345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23" name="Line 27"/>
              <p:cNvSpPr/>
              <p:nvPr/>
            </p:nvSpPr>
            <p:spPr>
              <a:xfrm>
                <a:off x="835" y="787"/>
                <a:ext cx="167" cy="233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24" name="Line 28"/>
              <p:cNvSpPr/>
              <p:nvPr/>
            </p:nvSpPr>
            <p:spPr>
              <a:xfrm flipH="1">
                <a:off x="491" y="798"/>
                <a:ext cx="222" cy="222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25" name="Line 29"/>
              <p:cNvSpPr/>
              <p:nvPr/>
            </p:nvSpPr>
            <p:spPr>
              <a:xfrm flipH="1">
                <a:off x="191" y="1287"/>
                <a:ext cx="122" cy="189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26" name="Line 30"/>
              <p:cNvSpPr/>
              <p:nvPr/>
            </p:nvSpPr>
            <p:spPr>
              <a:xfrm>
                <a:off x="491" y="1254"/>
                <a:ext cx="166" cy="222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2127" name="Line 31"/>
              <p:cNvSpPr/>
              <p:nvPr/>
            </p:nvSpPr>
            <p:spPr>
              <a:xfrm>
                <a:off x="1791" y="1287"/>
                <a:ext cx="0" cy="189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2128" name="AutoShape 32"/>
            <p:cNvSpPr/>
            <p:nvPr/>
          </p:nvSpPr>
          <p:spPr>
            <a:xfrm>
              <a:off x="158" y="12"/>
              <a:ext cx="924" cy="252"/>
            </a:xfrm>
            <a:prstGeom prst="wedgeRectCallout">
              <a:avLst>
                <a:gd name="adj1" fmla="val 52713"/>
                <a:gd name="adj2" fmla="val 130861"/>
              </a:avLst>
            </a:prstGeom>
            <a:noFill/>
            <a:ln w="1905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有子树的树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3158" name="AutoShape 37"/>
          <p:cNvSpPr/>
          <p:nvPr/>
        </p:nvSpPr>
        <p:spPr>
          <a:xfrm>
            <a:off x="2338268" y="5706735"/>
            <a:ext cx="980997" cy="562630"/>
          </a:xfrm>
          <a:prstGeom prst="wedgeEllipseCallout">
            <a:avLst>
              <a:gd name="adj1" fmla="val 133681"/>
              <a:gd name="adj2" fmla="val -151486"/>
            </a:avLst>
          </a:prstGeom>
          <a:noFill/>
          <a:ln w="28575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7" name="AutoShape 36"/>
          <p:cNvSpPr/>
          <p:nvPr/>
        </p:nvSpPr>
        <p:spPr>
          <a:xfrm>
            <a:off x="7486680" y="1847840"/>
            <a:ext cx="620335" cy="562630"/>
          </a:xfrm>
          <a:prstGeom prst="wedgeEllipseCallout">
            <a:avLst>
              <a:gd name="adj1" fmla="val -183431"/>
              <a:gd name="adj2" fmla="val 20236"/>
            </a:avLst>
          </a:prstGeom>
          <a:noFill/>
          <a:ln w="28575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根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4" name="Freeform 33"/>
          <p:cNvSpPr/>
          <p:nvPr/>
        </p:nvSpPr>
        <p:spPr>
          <a:xfrm>
            <a:off x="3729673" y="2699627"/>
            <a:ext cx="2152650" cy="2293937"/>
          </a:xfrm>
          <a:custGeom>
            <a:avLst/>
            <a:gdLst/>
            <a:ahLst/>
            <a:cxnLst>
              <a:cxn ang="0">
                <a:pos x="528638" y="388937"/>
              </a:cxn>
              <a:cxn ang="0">
                <a:pos x="1200150" y="0"/>
              </a:cxn>
              <a:cxn ang="0">
                <a:pos x="1570037" y="71437"/>
              </a:cxn>
              <a:cxn ang="0">
                <a:pos x="1800225" y="247650"/>
              </a:cxn>
              <a:cxn ang="0">
                <a:pos x="1835150" y="300037"/>
              </a:cxn>
              <a:cxn ang="0">
                <a:pos x="1887538" y="334962"/>
              </a:cxn>
              <a:cxn ang="0">
                <a:pos x="1922463" y="441325"/>
              </a:cxn>
              <a:cxn ang="0">
                <a:pos x="1958975" y="493712"/>
              </a:cxn>
              <a:cxn ang="0">
                <a:pos x="2098675" y="811212"/>
              </a:cxn>
              <a:cxn ang="0">
                <a:pos x="2117725" y="882650"/>
              </a:cxn>
              <a:cxn ang="0">
                <a:pos x="2152650" y="987425"/>
              </a:cxn>
              <a:cxn ang="0">
                <a:pos x="2135188" y="1252537"/>
              </a:cxn>
              <a:cxn ang="0">
                <a:pos x="1993900" y="1641475"/>
              </a:cxn>
              <a:cxn ang="0">
                <a:pos x="1939925" y="1746250"/>
              </a:cxn>
              <a:cxn ang="0">
                <a:pos x="1658938" y="1976437"/>
              </a:cxn>
              <a:cxn ang="0">
                <a:pos x="1411287" y="2135187"/>
              </a:cxn>
              <a:cxn ang="0">
                <a:pos x="1093787" y="2293937"/>
              </a:cxn>
              <a:cxn ang="0">
                <a:pos x="423863" y="2274887"/>
              </a:cxn>
              <a:cxn ang="0">
                <a:pos x="176212" y="2187575"/>
              </a:cxn>
              <a:cxn ang="0">
                <a:pos x="0" y="1976437"/>
              </a:cxn>
              <a:cxn ang="0">
                <a:pos x="34925" y="1676400"/>
              </a:cxn>
              <a:cxn ang="0">
                <a:pos x="282575" y="1182687"/>
              </a:cxn>
              <a:cxn ang="0">
                <a:pos x="352425" y="1006475"/>
              </a:cxn>
              <a:cxn ang="0">
                <a:pos x="511175" y="688975"/>
              </a:cxn>
              <a:cxn ang="0">
                <a:pos x="582612" y="530225"/>
              </a:cxn>
              <a:cxn ang="0">
                <a:pos x="565150" y="458787"/>
              </a:cxn>
              <a:cxn ang="0">
                <a:pos x="528638" y="388937"/>
              </a:cxn>
            </a:cxnLst>
            <a:rect l="0" t="0" r="0" b="0"/>
            <a:pathLst>
              <a:path w="1356" h="1445">
                <a:moveTo>
                  <a:pt x="333" y="245"/>
                </a:moveTo>
                <a:cubicBezTo>
                  <a:pt x="396" y="66"/>
                  <a:pt x="587" y="19"/>
                  <a:pt x="756" y="0"/>
                </a:cubicBezTo>
                <a:cubicBezTo>
                  <a:pt x="831" y="7"/>
                  <a:pt x="919" y="10"/>
                  <a:pt x="989" y="45"/>
                </a:cubicBezTo>
                <a:cubicBezTo>
                  <a:pt x="1043" y="72"/>
                  <a:pt x="1084" y="123"/>
                  <a:pt x="1134" y="156"/>
                </a:cubicBezTo>
                <a:cubicBezTo>
                  <a:pt x="1141" y="167"/>
                  <a:pt x="1147" y="180"/>
                  <a:pt x="1156" y="189"/>
                </a:cubicBezTo>
                <a:cubicBezTo>
                  <a:pt x="1165" y="198"/>
                  <a:pt x="1182" y="200"/>
                  <a:pt x="1189" y="211"/>
                </a:cubicBezTo>
                <a:cubicBezTo>
                  <a:pt x="1201" y="231"/>
                  <a:pt x="1198" y="259"/>
                  <a:pt x="1211" y="278"/>
                </a:cubicBezTo>
                <a:cubicBezTo>
                  <a:pt x="1219" y="289"/>
                  <a:pt x="1226" y="300"/>
                  <a:pt x="1234" y="311"/>
                </a:cubicBezTo>
                <a:cubicBezTo>
                  <a:pt x="1258" y="383"/>
                  <a:pt x="1298" y="439"/>
                  <a:pt x="1322" y="511"/>
                </a:cubicBezTo>
                <a:cubicBezTo>
                  <a:pt x="1327" y="526"/>
                  <a:pt x="1329" y="541"/>
                  <a:pt x="1334" y="556"/>
                </a:cubicBezTo>
                <a:cubicBezTo>
                  <a:pt x="1341" y="578"/>
                  <a:pt x="1356" y="622"/>
                  <a:pt x="1356" y="622"/>
                </a:cubicBezTo>
                <a:cubicBezTo>
                  <a:pt x="1352" y="678"/>
                  <a:pt x="1351" y="734"/>
                  <a:pt x="1345" y="789"/>
                </a:cubicBezTo>
                <a:cubicBezTo>
                  <a:pt x="1336" y="873"/>
                  <a:pt x="1293" y="960"/>
                  <a:pt x="1256" y="1034"/>
                </a:cubicBezTo>
                <a:cubicBezTo>
                  <a:pt x="1233" y="1080"/>
                  <a:pt x="1260" y="1057"/>
                  <a:pt x="1222" y="1100"/>
                </a:cubicBezTo>
                <a:cubicBezTo>
                  <a:pt x="1160" y="1169"/>
                  <a:pt x="1117" y="1197"/>
                  <a:pt x="1045" y="1245"/>
                </a:cubicBezTo>
                <a:cubicBezTo>
                  <a:pt x="993" y="1280"/>
                  <a:pt x="949" y="1323"/>
                  <a:pt x="889" y="1345"/>
                </a:cubicBezTo>
                <a:cubicBezTo>
                  <a:pt x="827" y="1392"/>
                  <a:pt x="765" y="1425"/>
                  <a:pt x="689" y="1445"/>
                </a:cubicBezTo>
                <a:cubicBezTo>
                  <a:pt x="548" y="1441"/>
                  <a:pt x="408" y="1440"/>
                  <a:pt x="267" y="1433"/>
                </a:cubicBezTo>
                <a:cubicBezTo>
                  <a:pt x="219" y="1431"/>
                  <a:pt x="160" y="1390"/>
                  <a:pt x="111" y="1378"/>
                </a:cubicBezTo>
                <a:cubicBezTo>
                  <a:pt x="57" y="1342"/>
                  <a:pt x="20" y="1306"/>
                  <a:pt x="0" y="1245"/>
                </a:cubicBezTo>
                <a:cubicBezTo>
                  <a:pt x="2" y="1220"/>
                  <a:pt x="7" y="1102"/>
                  <a:pt x="22" y="1056"/>
                </a:cubicBezTo>
                <a:cubicBezTo>
                  <a:pt x="58" y="948"/>
                  <a:pt x="115" y="839"/>
                  <a:pt x="178" y="745"/>
                </a:cubicBezTo>
                <a:cubicBezTo>
                  <a:pt x="191" y="704"/>
                  <a:pt x="198" y="670"/>
                  <a:pt x="222" y="634"/>
                </a:cubicBezTo>
                <a:cubicBezTo>
                  <a:pt x="240" y="562"/>
                  <a:pt x="281" y="495"/>
                  <a:pt x="322" y="434"/>
                </a:cubicBezTo>
                <a:cubicBezTo>
                  <a:pt x="334" y="396"/>
                  <a:pt x="345" y="367"/>
                  <a:pt x="367" y="334"/>
                </a:cubicBezTo>
                <a:cubicBezTo>
                  <a:pt x="363" y="319"/>
                  <a:pt x="363" y="303"/>
                  <a:pt x="356" y="289"/>
                </a:cubicBezTo>
                <a:cubicBezTo>
                  <a:pt x="328" y="233"/>
                  <a:pt x="333" y="297"/>
                  <a:pt x="333" y="245"/>
                </a:cubicBezTo>
                <a:close/>
              </a:path>
            </a:pathLst>
          </a:custGeom>
          <a:noFill/>
          <a:ln w="38100" cap="flat" cmpd="sng">
            <a:solidFill>
              <a:srgbClr val="0066FF"/>
            </a:solidFill>
            <a:prstDash val="dash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55" name="Freeform 34"/>
          <p:cNvSpPr/>
          <p:nvPr/>
        </p:nvSpPr>
        <p:spPr>
          <a:xfrm>
            <a:off x="5826572" y="2734154"/>
            <a:ext cx="785813" cy="1587500"/>
          </a:xfrm>
          <a:custGeom>
            <a:avLst/>
            <a:gdLst/>
            <a:ahLst/>
            <a:cxnLst>
              <a:cxn ang="0">
                <a:pos x="17463" y="158750"/>
              </a:cxn>
              <a:cxn ang="0">
                <a:pos x="247650" y="0"/>
              </a:cxn>
              <a:cxn ang="0">
                <a:pos x="530225" y="34925"/>
              </a:cxn>
              <a:cxn ang="0">
                <a:pos x="635000" y="69850"/>
              </a:cxn>
              <a:cxn ang="0">
                <a:pos x="758825" y="246063"/>
              </a:cxn>
              <a:cxn ang="0">
                <a:pos x="688975" y="617538"/>
              </a:cxn>
              <a:cxn ang="0">
                <a:pos x="600075" y="1287463"/>
              </a:cxn>
              <a:cxn ang="0">
                <a:pos x="476250" y="1498600"/>
              </a:cxn>
              <a:cxn ang="0">
                <a:pos x="441325" y="1552575"/>
              </a:cxn>
              <a:cxn ang="0">
                <a:pos x="336550" y="1587500"/>
              </a:cxn>
              <a:cxn ang="0">
                <a:pos x="230188" y="1533525"/>
              </a:cxn>
              <a:cxn ang="0">
                <a:pos x="176213" y="1481138"/>
              </a:cxn>
              <a:cxn ang="0">
                <a:pos x="123825" y="1446213"/>
              </a:cxn>
              <a:cxn ang="0">
                <a:pos x="123825" y="1004888"/>
              </a:cxn>
              <a:cxn ang="0">
                <a:pos x="0" y="352425"/>
              </a:cxn>
              <a:cxn ang="0">
                <a:pos x="88900" y="87313"/>
              </a:cxn>
            </a:cxnLst>
            <a:rect l="0" t="0" r="0" b="0"/>
            <a:pathLst>
              <a:path w="495" h="1000">
                <a:moveTo>
                  <a:pt x="11" y="100"/>
                </a:moveTo>
                <a:cubicBezTo>
                  <a:pt x="56" y="34"/>
                  <a:pt x="78" y="15"/>
                  <a:pt x="156" y="0"/>
                </a:cubicBezTo>
                <a:cubicBezTo>
                  <a:pt x="242" y="7"/>
                  <a:pt x="268" y="2"/>
                  <a:pt x="334" y="22"/>
                </a:cubicBezTo>
                <a:cubicBezTo>
                  <a:pt x="356" y="29"/>
                  <a:pt x="400" y="44"/>
                  <a:pt x="400" y="44"/>
                </a:cubicBezTo>
                <a:cubicBezTo>
                  <a:pt x="439" y="83"/>
                  <a:pt x="461" y="103"/>
                  <a:pt x="478" y="155"/>
                </a:cubicBezTo>
                <a:cubicBezTo>
                  <a:pt x="472" y="246"/>
                  <a:pt x="495" y="325"/>
                  <a:pt x="434" y="389"/>
                </a:cubicBezTo>
                <a:cubicBezTo>
                  <a:pt x="389" y="524"/>
                  <a:pt x="391" y="669"/>
                  <a:pt x="378" y="811"/>
                </a:cubicBezTo>
                <a:cubicBezTo>
                  <a:pt x="372" y="875"/>
                  <a:pt x="336" y="899"/>
                  <a:pt x="300" y="944"/>
                </a:cubicBezTo>
                <a:cubicBezTo>
                  <a:pt x="292" y="955"/>
                  <a:pt x="289" y="971"/>
                  <a:pt x="278" y="978"/>
                </a:cubicBezTo>
                <a:cubicBezTo>
                  <a:pt x="258" y="990"/>
                  <a:pt x="212" y="1000"/>
                  <a:pt x="212" y="1000"/>
                </a:cubicBezTo>
                <a:cubicBezTo>
                  <a:pt x="191" y="986"/>
                  <a:pt x="166" y="980"/>
                  <a:pt x="145" y="966"/>
                </a:cubicBezTo>
                <a:cubicBezTo>
                  <a:pt x="132" y="957"/>
                  <a:pt x="123" y="943"/>
                  <a:pt x="111" y="933"/>
                </a:cubicBezTo>
                <a:cubicBezTo>
                  <a:pt x="101" y="925"/>
                  <a:pt x="89" y="918"/>
                  <a:pt x="78" y="911"/>
                </a:cubicBezTo>
                <a:cubicBezTo>
                  <a:pt x="22" y="827"/>
                  <a:pt x="47" y="725"/>
                  <a:pt x="78" y="633"/>
                </a:cubicBezTo>
                <a:cubicBezTo>
                  <a:pt x="64" y="493"/>
                  <a:pt x="23" y="361"/>
                  <a:pt x="0" y="222"/>
                </a:cubicBezTo>
                <a:cubicBezTo>
                  <a:pt x="6" y="175"/>
                  <a:pt x="5" y="80"/>
                  <a:pt x="56" y="55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dash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56" name="Freeform 35"/>
          <p:cNvSpPr/>
          <p:nvPr/>
        </p:nvSpPr>
        <p:spPr>
          <a:xfrm>
            <a:off x="6360385" y="2779001"/>
            <a:ext cx="2035175" cy="2135187"/>
          </a:xfrm>
          <a:custGeom>
            <a:avLst/>
            <a:gdLst/>
            <a:ahLst/>
            <a:cxnLst>
              <a:cxn ang="0">
                <a:pos x="534987" y="158750"/>
              </a:cxn>
              <a:cxn ang="0">
                <a:pos x="958850" y="0"/>
              </a:cxn>
              <a:cxn ang="0">
                <a:pos x="1276350" y="88900"/>
              </a:cxn>
              <a:cxn ang="0">
                <a:pos x="1541462" y="317500"/>
              </a:cxn>
              <a:cxn ang="0">
                <a:pos x="1593850" y="352425"/>
              </a:cxn>
              <a:cxn ang="0">
                <a:pos x="1646238" y="371475"/>
              </a:cxn>
              <a:cxn ang="0">
                <a:pos x="1770063" y="530225"/>
              </a:cxn>
              <a:cxn ang="0">
                <a:pos x="1841500" y="652462"/>
              </a:cxn>
              <a:cxn ang="0">
                <a:pos x="1893888" y="706437"/>
              </a:cxn>
              <a:cxn ang="0">
                <a:pos x="2035175" y="987425"/>
              </a:cxn>
              <a:cxn ang="0">
                <a:pos x="1804988" y="1376362"/>
              </a:cxn>
              <a:cxn ang="0">
                <a:pos x="1541462" y="1570037"/>
              </a:cxn>
              <a:cxn ang="0">
                <a:pos x="1347787" y="1693862"/>
              </a:cxn>
              <a:cxn ang="0">
                <a:pos x="1117600" y="1817687"/>
              </a:cxn>
              <a:cxn ang="0">
                <a:pos x="676275" y="1993900"/>
              </a:cxn>
              <a:cxn ang="0">
                <a:pos x="217488" y="2135187"/>
              </a:cxn>
              <a:cxn ang="0">
                <a:pos x="76200" y="2116137"/>
              </a:cxn>
              <a:cxn ang="0">
                <a:pos x="58738" y="1887537"/>
              </a:cxn>
              <a:cxn ang="0">
                <a:pos x="147637" y="1728787"/>
              </a:cxn>
              <a:cxn ang="0">
                <a:pos x="217488" y="1570037"/>
              </a:cxn>
              <a:cxn ang="0">
                <a:pos x="130175" y="1058862"/>
              </a:cxn>
              <a:cxn ang="0">
                <a:pos x="341312" y="600075"/>
              </a:cxn>
              <a:cxn ang="0">
                <a:pos x="412750" y="511175"/>
              </a:cxn>
              <a:cxn ang="0">
                <a:pos x="482600" y="406400"/>
              </a:cxn>
              <a:cxn ang="0">
                <a:pos x="552450" y="247650"/>
              </a:cxn>
              <a:cxn ang="0">
                <a:pos x="534987" y="158750"/>
              </a:cxn>
            </a:cxnLst>
            <a:rect l="0" t="0" r="0" b="0"/>
            <a:pathLst>
              <a:path w="1282" h="1345">
                <a:moveTo>
                  <a:pt x="337" y="100"/>
                </a:moveTo>
                <a:cubicBezTo>
                  <a:pt x="413" y="27"/>
                  <a:pt x="505" y="14"/>
                  <a:pt x="604" y="0"/>
                </a:cubicBezTo>
                <a:cubicBezTo>
                  <a:pt x="682" y="9"/>
                  <a:pt x="740" y="14"/>
                  <a:pt x="804" y="56"/>
                </a:cubicBezTo>
                <a:cubicBezTo>
                  <a:pt x="846" y="118"/>
                  <a:pt x="899" y="177"/>
                  <a:pt x="971" y="200"/>
                </a:cubicBezTo>
                <a:cubicBezTo>
                  <a:pt x="982" y="207"/>
                  <a:pt x="992" y="216"/>
                  <a:pt x="1004" y="222"/>
                </a:cubicBezTo>
                <a:cubicBezTo>
                  <a:pt x="1014" y="227"/>
                  <a:pt x="1027" y="228"/>
                  <a:pt x="1037" y="234"/>
                </a:cubicBezTo>
                <a:cubicBezTo>
                  <a:pt x="1063" y="250"/>
                  <a:pt x="1113" y="332"/>
                  <a:pt x="1115" y="334"/>
                </a:cubicBezTo>
                <a:cubicBezTo>
                  <a:pt x="1132" y="358"/>
                  <a:pt x="1143" y="387"/>
                  <a:pt x="1160" y="411"/>
                </a:cubicBezTo>
                <a:cubicBezTo>
                  <a:pt x="1169" y="424"/>
                  <a:pt x="1183" y="433"/>
                  <a:pt x="1193" y="445"/>
                </a:cubicBezTo>
                <a:cubicBezTo>
                  <a:pt x="1224" y="483"/>
                  <a:pt x="1266" y="575"/>
                  <a:pt x="1282" y="622"/>
                </a:cubicBezTo>
                <a:cubicBezTo>
                  <a:pt x="1262" y="745"/>
                  <a:pt x="1230" y="788"/>
                  <a:pt x="1137" y="867"/>
                </a:cubicBezTo>
                <a:cubicBezTo>
                  <a:pt x="1085" y="911"/>
                  <a:pt x="1031" y="959"/>
                  <a:pt x="971" y="989"/>
                </a:cubicBezTo>
                <a:cubicBezTo>
                  <a:pt x="924" y="1012"/>
                  <a:pt x="900" y="1050"/>
                  <a:pt x="849" y="1067"/>
                </a:cubicBezTo>
                <a:cubicBezTo>
                  <a:pt x="806" y="1108"/>
                  <a:pt x="761" y="1130"/>
                  <a:pt x="704" y="1145"/>
                </a:cubicBezTo>
                <a:cubicBezTo>
                  <a:pt x="626" y="1204"/>
                  <a:pt x="519" y="1228"/>
                  <a:pt x="426" y="1256"/>
                </a:cubicBezTo>
                <a:cubicBezTo>
                  <a:pt x="331" y="1284"/>
                  <a:pt x="231" y="1312"/>
                  <a:pt x="137" y="1345"/>
                </a:cubicBezTo>
                <a:cubicBezTo>
                  <a:pt x="107" y="1341"/>
                  <a:pt x="76" y="1344"/>
                  <a:pt x="48" y="1333"/>
                </a:cubicBezTo>
                <a:cubicBezTo>
                  <a:pt x="8" y="1317"/>
                  <a:pt x="30" y="1235"/>
                  <a:pt x="37" y="1189"/>
                </a:cubicBezTo>
                <a:cubicBezTo>
                  <a:pt x="46" y="1127"/>
                  <a:pt x="65" y="1173"/>
                  <a:pt x="93" y="1089"/>
                </a:cubicBezTo>
                <a:cubicBezTo>
                  <a:pt x="105" y="1053"/>
                  <a:pt x="125" y="1025"/>
                  <a:pt x="137" y="989"/>
                </a:cubicBezTo>
                <a:cubicBezTo>
                  <a:pt x="147" y="889"/>
                  <a:pt x="211" y="710"/>
                  <a:pt x="82" y="667"/>
                </a:cubicBezTo>
                <a:cubicBezTo>
                  <a:pt x="0" y="545"/>
                  <a:pt x="138" y="455"/>
                  <a:pt x="215" y="378"/>
                </a:cubicBezTo>
                <a:cubicBezTo>
                  <a:pt x="232" y="361"/>
                  <a:pt x="246" y="341"/>
                  <a:pt x="260" y="322"/>
                </a:cubicBezTo>
                <a:cubicBezTo>
                  <a:pt x="276" y="301"/>
                  <a:pt x="304" y="256"/>
                  <a:pt x="304" y="256"/>
                </a:cubicBezTo>
                <a:cubicBezTo>
                  <a:pt x="314" y="225"/>
                  <a:pt x="348" y="189"/>
                  <a:pt x="348" y="156"/>
                </a:cubicBezTo>
                <a:cubicBezTo>
                  <a:pt x="348" y="137"/>
                  <a:pt x="341" y="119"/>
                  <a:pt x="337" y="100"/>
                </a:cubicBezTo>
                <a:close/>
              </a:path>
            </a:pathLst>
          </a:custGeom>
          <a:noFill/>
          <a:ln w="38100" cap="flat" cmpd="sng">
            <a:solidFill>
              <a:srgbClr val="FF9900"/>
            </a:solidFill>
            <a:prstDash val="dash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3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7" grpId="0" bldLvl="0" animBg="1"/>
      <p:bldP spid="133158" grpId="0" animBg="1"/>
      <p:bldP spid="13315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1645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65175" y="1398270"/>
            <a:ext cx="7538720" cy="406209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一个节点的子树的个数称为该</a:t>
            </a:r>
            <a:r>
              <a:rPr sz="2000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节点的度数</a:t>
            </a:r>
            <a:endParaRPr sz="2000" b="1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20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一棵</a:t>
            </a:r>
            <a:r>
              <a:rPr sz="2000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树的度数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是指该树中节点的最大度数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20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度数为零的节点称为</a:t>
            </a: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树叶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终端节点</a:t>
            </a:r>
            <a:endParaRPr sz="2000" b="1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20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度数不为零的节点称为分支节点</a:t>
            </a:r>
            <a:endParaRPr sz="2000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20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除根节点外的分支节点称为内部节点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674370" y="461010"/>
            <a:ext cx="10681335" cy="416560"/>
          </a:xfrm>
        </p:spPr>
        <p:txBody>
          <a:bodyPr>
            <a:normAutofit fontScale="90000"/>
          </a:bodyPr>
          <a:lstStyle/>
          <a:p>
            <a:r>
              <a:rPr sz="4000" b="1" dirty="0">
                <a:solidFill>
                  <a:srgbClr val="01E1E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</a:t>
            </a:r>
            <a:br>
              <a:rPr lang="zh-CN" altLang="en-US" sz="2000" dirty="0">
                <a:latin typeface="微软雅黑" panose="020B0503020204020204" pitchFamily="34" charset="-122"/>
                <a:cs typeface="微软雅黑" panose="020B0503020204020204" pitchFamily="34" charset="-122"/>
              </a:rPr>
            </a:br>
            <a:endParaRPr lang="zh-CN" altLang="en-US" sz="20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275522" y="2363390"/>
            <a:ext cx="4322763" cy="2786063"/>
            <a:chOff x="0" y="0"/>
            <a:chExt cx="2723" cy="1755"/>
          </a:xfrm>
        </p:grpSpPr>
        <p:sp>
          <p:nvSpPr>
            <p:cNvPr id="135171" name="Oval 3"/>
            <p:cNvSpPr/>
            <p:nvPr/>
          </p:nvSpPr>
          <p:spPr>
            <a:xfrm>
              <a:off x="1283" y="0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2" name="Oval 4"/>
            <p:cNvSpPr/>
            <p:nvPr/>
          </p:nvSpPr>
          <p:spPr>
            <a:xfrm>
              <a:off x="637" y="512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3" name="Oval 5"/>
            <p:cNvSpPr/>
            <p:nvPr/>
          </p:nvSpPr>
          <p:spPr>
            <a:xfrm>
              <a:off x="1283" y="512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4" name="Oval 6"/>
            <p:cNvSpPr/>
            <p:nvPr/>
          </p:nvSpPr>
          <p:spPr>
            <a:xfrm>
              <a:off x="2060" y="512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5" name="Oval 7"/>
            <p:cNvSpPr/>
            <p:nvPr/>
          </p:nvSpPr>
          <p:spPr>
            <a:xfrm>
              <a:off x="261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6" name="Oval 8"/>
            <p:cNvSpPr/>
            <p:nvPr/>
          </p:nvSpPr>
          <p:spPr>
            <a:xfrm>
              <a:off x="905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7" name="Oval 9"/>
            <p:cNvSpPr/>
            <p:nvPr/>
          </p:nvSpPr>
          <p:spPr>
            <a:xfrm>
              <a:off x="1283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8" name="Oval 10"/>
            <p:cNvSpPr/>
            <p:nvPr/>
          </p:nvSpPr>
          <p:spPr>
            <a:xfrm>
              <a:off x="1650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9" name="Oval 11"/>
            <p:cNvSpPr/>
            <p:nvPr/>
          </p:nvSpPr>
          <p:spPr>
            <a:xfrm>
              <a:off x="2060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0" name="Oval 12"/>
            <p:cNvSpPr/>
            <p:nvPr/>
          </p:nvSpPr>
          <p:spPr>
            <a:xfrm>
              <a:off x="2433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1" name="Oval 13"/>
            <p:cNvSpPr/>
            <p:nvPr/>
          </p:nvSpPr>
          <p:spPr>
            <a:xfrm>
              <a:off x="0" y="1463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2" name="Oval 14"/>
            <p:cNvSpPr/>
            <p:nvPr/>
          </p:nvSpPr>
          <p:spPr>
            <a:xfrm>
              <a:off x="511" y="1463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3" name="Oval 15"/>
            <p:cNvSpPr/>
            <p:nvPr/>
          </p:nvSpPr>
          <p:spPr>
            <a:xfrm>
              <a:off x="1634" y="1463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4" name="Line 16"/>
            <p:cNvSpPr/>
            <p:nvPr/>
          </p:nvSpPr>
          <p:spPr>
            <a:xfrm>
              <a:off x="1424" y="298"/>
              <a:ext cx="0" cy="21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5" name="Line 17"/>
            <p:cNvSpPr/>
            <p:nvPr/>
          </p:nvSpPr>
          <p:spPr>
            <a:xfrm flipH="1">
              <a:off x="1424" y="809"/>
              <a:ext cx="0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6" name="Line 18"/>
            <p:cNvSpPr/>
            <p:nvPr/>
          </p:nvSpPr>
          <p:spPr>
            <a:xfrm>
              <a:off x="2202" y="809"/>
              <a:ext cx="0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7" name="Line 19"/>
            <p:cNvSpPr/>
            <p:nvPr/>
          </p:nvSpPr>
          <p:spPr>
            <a:xfrm flipH="1">
              <a:off x="1846" y="765"/>
              <a:ext cx="256" cy="255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8" name="Line 20"/>
            <p:cNvSpPr/>
            <p:nvPr/>
          </p:nvSpPr>
          <p:spPr>
            <a:xfrm>
              <a:off x="2313" y="765"/>
              <a:ext cx="234" cy="233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9" name="Line 21"/>
            <p:cNvSpPr/>
            <p:nvPr/>
          </p:nvSpPr>
          <p:spPr>
            <a:xfrm>
              <a:off x="1524" y="198"/>
              <a:ext cx="567" cy="41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0" name="Line 22"/>
            <p:cNvSpPr/>
            <p:nvPr/>
          </p:nvSpPr>
          <p:spPr>
            <a:xfrm flipH="1">
              <a:off x="869" y="220"/>
              <a:ext cx="422" cy="345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1" name="Line 23"/>
            <p:cNvSpPr/>
            <p:nvPr/>
          </p:nvSpPr>
          <p:spPr>
            <a:xfrm>
              <a:off x="835" y="787"/>
              <a:ext cx="167" cy="233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2" name="Line 24"/>
            <p:cNvSpPr/>
            <p:nvPr/>
          </p:nvSpPr>
          <p:spPr>
            <a:xfrm flipH="1">
              <a:off x="491" y="798"/>
              <a:ext cx="222" cy="22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3" name="Line 25"/>
            <p:cNvSpPr/>
            <p:nvPr/>
          </p:nvSpPr>
          <p:spPr>
            <a:xfrm flipH="1">
              <a:off x="191" y="1287"/>
              <a:ext cx="122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4" name="Line 26"/>
            <p:cNvSpPr/>
            <p:nvPr/>
          </p:nvSpPr>
          <p:spPr>
            <a:xfrm>
              <a:off x="491" y="1254"/>
              <a:ext cx="166" cy="22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5" name="Line 27"/>
            <p:cNvSpPr/>
            <p:nvPr/>
          </p:nvSpPr>
          <p:spPr>
            <a:xfrm>
              <a:off x="1791" y="1287"/>
              <a:ext cx="0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36221" name="Text Box 28"/>
          <p:cNvSpPr txBox="1"/>
          <p:nvPr/>
        </p:nvSpPr>
        <p:spPr>
          <a:xfrm>
            <a:off x="674530" y="1253232"/>
            <a:ext cx="185039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222" name="Text Box 29"/>
          <p:cNvSpPr txBox="1"/>
          <p:nvPr/>
        </p:nvSpPr>
        <p:spPr>
          <a:xfrm>
            <a:off x="3826441" y="1310615"/>
            <a:ext cx="350774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叶子：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223" name="Text Box 30"/>
          <p:cNvSpPr txBox="1"/>
          <p:nvPr/>
        </p:nvSpPr>
        <p:spPr>
          <a:xfrm>
            <a:off x="556101" y="2573913"/>
            <a:ext cx="2916555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的孩子：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的孩子：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224" name="Text Box 31"/>
          <p:cNvSpPr txBox="1"/>
          <p:nvPr/>
        </p:nvSpPr>
        <p:spPr>
          <a:xfrm>
            <a:off x="5079874" y="2025183"/>
            <a:ext cx="1976755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的双亲：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的双亲：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225" name="Text Box 32"/>
          <p:cNvSpPr txBox="1"/>
          <p:nvPr/>
        </p:nvSpPr>
        <p:spPr>
          <a:xfrm>
            <a:off x="6264453" y="2894379"/>
            <a:ext cx="248412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为兄弟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为兄弟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226" name="Text Box 33"/>
          <p:cNvSpPr txBox="1"/>
          <p:nvPr/>
        </p:nvSpPr>
        <p:spPr>
          <a:xfrm>
            <a:off x="704733" y="3683158"/>
            <a:ext cx="134810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6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6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6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6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36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36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21" grpId="0"/>
      <p:bldP spid="136222" grpId="0"/>
      <p:bldP spid="136223" grpId="0"/>
      <p:bldP spid="136224" grpId="0"/>
      <p:bldP spid="136225" grpId="0"/>
      <p:bldP spid="1362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15315" y="473075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5315" y="1438910"/>
            <a:ext cx="7068820" cy="3681095"/>
          </a:xfrm>
        </p:spPr>
        <p:txBody>
          <a:bodyPr/>
          <a:lstStyle/>
          <a:p>
            <a:pPr lvl="0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一个节点系列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,k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……,k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,k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i+1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……,k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并满足</a:t>
            </a:r>
            <a:r>
              <a:rPr lang="en-US" altLang="zh-CN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en-US" altLang="zh-CN" sz="2000" baseline="-25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en-US" altLang="zh-CN" sz="2000" baseline="-25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i+1</a:t>
            </a:r>
            <a:r>
              <a:rPr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的父节点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，就称为一条从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路径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eaLnBrk="1" hangingPunct="1">
              <a:lnSpc>
                <a:spcPct val="150000"/>
              </a:lnSpc>
            </a:pPr>
            <a:r>
              <a:rPr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路径的长度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j-1,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即路径中的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边数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路径中前面的节点是后面节点的</a:t>
            </a:r>
            <a:r>
              <a:rPr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祖先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，后面节点是前面节点的</a:t>
            </a:r>
            <a:r>
              <a:rPr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子孙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 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5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节点的层数等于父节点的层数加一，根节点的层数定义为一。树中节点层数的最大值称为该</a:t>
            </a:r>
            <a:r>
              <a:rPr sz="2000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树的高度或深度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29894" y="473869"/>
            <a:ext cx="10681335" cy="416560"/>
          </a:xfrm>
        </p:spPr>
        <p:txBody>
          <a:bodyPr/>
          <a:lstStyle/>
          <a:p>
            <a:r>
              <a:rPr sz="4000" b="0" dirty="0">
                <a:solidFill>
                  <a:srgbClr val="01E1E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</a:t>
            </a:r>
            <a:br>
              <a:rPr lang="zh-CN" altLang="en-US" sz="2000" dirty="0">
                <a:latin typeface="微软雅黑" panose="020B0503020204020204" pitchFamily="34" charset="-122"/>
                <a:cs typeface="微软雅黑" panose="020B0503020204020204" pitchFamily="34" charset="-122"/>
              </a:rPr>
            </a:br>
            <a:endParaRPr lang="zh-CN" altLang="en-US" sz="20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693352" y="1461690"/>
            <a:ext cx="4322763" cy="2786063"/>
            <a:chOff x="0" y="0"/>
            <a:chExt cx="2723" cy="1755"/>
          </a:xfrm>
        </p:grpSpPr>
        <p:sp>
          <p:nvSpPr>
            <p:cNvPr id="135171" name="Oval 3"/>
            <p:cNvSpPr/>
            <p:nvPr/>
          </p:nvSpPr>
          <p:spPr>
            <a:xfrm>
              <a:off x="1283" y="0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2" name="Oval 4"/>
            <p:cNvSpPr/>
            <p:nvPr/>
          </p:nvSpPr>
          <p:spPr>
            <a:xfrm>
              <a:off x="637" y="512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3" name="Oval 5"/>
            <p:cNvSpPr/>
            <p:nvPr/>
          </p:nvSpPr>
          <p:spPr>
            <a:xfrm>
              <a:off x="1283" y="512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4" name="Oval 6"/>
            <p:cNvSpPr/>
            <p:nvPr/>
          </p:nvSpPr>
          <p:spPr>
            <a:xfrm>
              <a:off x="2060" y="512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5" name="Oval 7"/>
            <p:cNvSpPr/>
            <p:nvPr/>
          </p:nvSpPr>
          <p:spPr>
            <a:xfrm>
              <a:off x="261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6" name="Oval 8"/>
            <p:cNvSpPr/>
            <p:nvPr/>
          </p:nvSpPr>
          <p:spPr>
            <a:xfrm>
              <a:off x="905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7" name="Oval 9"/>
            <p:cNvSpPr/>
            <p:nvPr/>
          </p:nvSpPr>
          <p:spPr>
            <a:xfrm>
              <a:off x="1283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8" name="Oval 10"/>
            <p:cNvSpPr/>
            <p:nvPr/>
          </p:nvSpPr>
          <p:spPr>
            <a:xfrm>
              <a:off x="1650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79" name="Oval 11"/>
            <p:cNvSpPr/>
            <p:nvPr/>
          </p:nvSpPr>
          <p:spPr>
            <a:xfrm>
              <a:off x="2060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0" name="Oval 12"/>
            <p:cNvSpPr/>
            <p:nvPr/>
          </p:nvSpPr>
          <p:spPr>
            <a:xfrm>
              <a:off x="2433" y="997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1" name="Oval 13"/>
            <p:cNvSpPr/>
            <p:nvPr/>
          </p:nvSpPr>
          <p:spPr>
            <a:xfrm>
              <a:off x="0" y="1463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2" name="Oval 14"/>
            <p:cNvSpPr/>
            <p:nvPr/>
          </p:nvSpPr>
          <p:spPr>
            <a:xfrm>
              <a:off x="511" y="1463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3" name="Oval 15"/>
            <p:cNvSpPr/>
            <p:nvPr/>
          </p:nvSpPr>
          <p:spPr>
            <a:xfrm>
              <a:off x="1634" y="1463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184" name="Line 16"/>
            <p:cNvSpPr/>
            <p:nvPr/>
          </p:nvSpPr>
          <p:spPr>
            <a:xfrm>
              <a:off x="1424" y="298"/>
              <a:ext cx="0" cy="21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5" name="Line 17"/>
            <p:cNvSpPr/>
            <p:nvPr/>
          </p:nvSpPr>
          <p:spPr>
            <a:xfrm flipH="1">
              <a:off x="1424" y="809"/>
              <a:ext cx="0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6" name="Line 18"/>
            <p:cNvSpPr/>
            <p:nvPr/>
          </p:nvSpPr>
          <p:spPr>
            <a:xfrm>
              <a:off x="2202" y="809"/>
              <a:ext cx="0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7" name="Line 19"/>
            <p:cNvSpPr/>
            <p:nvPr/>
          </p:nvSpPr>
          <p:spPr>
            <a:xfrm flipH="1">
              <a:off x="1846" y="765"/>
              <a:ext cx="256" cy="255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8" name="Line 20"/>
            <p:cNvSpPr/>
            <p:nvPr/>
          </p:nvSpPr>
          <p:spPr>
            <a:xfrm>
              <a:off x="2313" y="765"/>
              <a:ext cx="234" cy="233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89" name="Line 21"/>
            <p:cNvSpPr/>
            <p:nvPr/>
          </p:nvSpPr>
          <p:spPr>
            <a:xfrm>
              <a:off x="1524" y="198"/>
              <a:ext cx="567" cy="41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0" name="Line 22"/>
            <p:cNvSpPr/>
            <p:nvPr/>
          </p:nvSpPr>
          <p:spPr>
            <a:xfrm flipH="1">
              <a:off x="869" y="220"/>
              <a:ext cx="422" cy="345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1" name="Line 23"/>
            <p:cNvSpPr/>
            <p:nvPr/>
          </p:nvSpPr>
          <p:spPr>
            <a:xfrm>
              <a:off x="835" y="787"/>
              <a:ext cx="167" cy="233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2" name="Line 24"/>
            <p:cNvSpPr/>
            <p:nvPr/>
          </p:nvSpPr>
          <p:spPr>
            <a:xfrm flipH="1">
              <a:off x="491" y="798"/>
              <a:ext cx="222" cy="22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3" name="Line 25"/>
            <p:cNvSpPr/>
            <p:nvPr/>
          </p:nvSpPr>
          <p:spPr>
            <a:xfrm flipH="1">
              <a:off x="191" y="1287"/>
              <a:ext cx="122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4" name="Line 26"/>
            <p:cNvSpPr/>
            <p:nvPr/>
          </p:nvSpPr>
          <p:spPr>
            <a:xfrm>
              <a:off x="491" y="1254"/>
              <a:ext cx="166" cy="22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5195" name="Line 27"/>
            <p:cNvSpPr/>
            <p:nvPr/>
          </p:nvSpPr>
          <p:spPr>
            <a:xfrm>
              <a:off x="1791" y="1287"/>
              <a:ext cx="0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36227" name="Text Box 34"/>
          <p:cNvSpPr txBox="1"/>
          <p:nvPr/>
        </p:nvSpPr>
        <p:spPr>
          <a:xfrm>
            <a:off x="585411" y="1971014"/>
            <a:ext cx="210439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的层次：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的层次：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228" name="Text Box 35"/>
          <p:cNvSpPr txBox="1"/>
          <p:nvPr/>
        </p:nvSpPr>
        <p:spPr>
          <a:xfrm>
            <a:off x="4564255" y="4960222"/>
            <a:ext cx="160210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树的深度：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229" name="Text Box 36"/>
          <p:cNvSpPr txBox="1"/>
          <p:nvPr/>
        </p:nvSpPr>
        <p:spPr>
          <a:xfrm>
            <a:off x="531209" y="4960036"/>
            <a:ext cx="2971165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为堂兄弟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的祖先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6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6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6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27" grpId="0"/>
      <p:bldP spid="136228" grpId="0"/>
      <p:bldP spid="1362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61035" y="401320"/>
            <a:ext cx="10515600" cy="965200"/>
          </a:xfrm>
        </p:spPr>
        <p:txBody>
          <a:bodyPr>
            <a:normAutofit/>
          </a:bodyPr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72135" y="1558290"/>
            <a:ext cx="8867775" cy="2648585"/>
          </a:xfrm>
        </p:spPr>
        <p:txBody>
          <a:bodyPr>
            <a:noAutofit/>
          </a:bodyPr>
          <a:lstStyle/>
          <a:p>
            <a:pPr lvl="0" eaLnBrk="1" hangingPunct="1">
              <a:lnSpc>
                <a:spcPct val="15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若树中每个节点的各个子树的排列为从左到右，不能交换，即兄弟之间是有序的，则该树称为</a:t>
            </a:r>
            <a:r>
              <a:rPr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有序树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m≥0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）棵互不相交的树的集合称为</a:t>
            </a:r>
            <a:r>
              <a:rPr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森林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eaLnBrk="1" hangingPunct="1"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树去掉根节点就成为森林，森林加上一个新的根节点就成为树。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48640" y="44196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48640" y="1532255"/>
            <a:ext cx="8148320" cy="3311525"/>
          </a:xfrm>
        </p:spPr>
        <p:txBody>
          <a:bodyPr/>
          <a:lstStyle/>
          <a:p>
            <a:pPr marL="0" lvl="1">
              <a:lnSpc>
                <a:spcPct val="24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树的逻辑结构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：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树中任何节点都可以有零个或多个直接后继节点（子节点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但至多只有一个直接前趋节点（父节点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</a:t>
            </a:r>
            <a:r>
              <a:rPr sz="2000" dirty="0" err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根节点没有前趋节点，叶节点没有后继节点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 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788</Words>
  <Application>WPS 演示</Application>
  <PresentationFormat>宽屏</PresentationFormat>
  <Paragraphs>165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Calibri Light</vt:lpstr>
      <vt:lpstr>Segoe Print</vt:lpstr>
      <vt:lpstr>方正兰亭粗黑_GBK</vt:lpstr>
      <vt:lpstr>1_华清远见PPT模板（宽屏）-华清远见教育集团</vt:lpstr>
      <vt:lpstr>Office 主题</vt:lpstr>
      <vt:lpstr>PowerPoint 演示文稿</vt:lpstr>
      <vt:lpstr>树 </vt:lpstr>
      <vt:lpstr>树 </vt:lpstr>
      <vt:lpstr>树 </vt:lpstr>
      <vt:lpstr>树 </vt:lpstr>
      <vt:lpstr>树 </vt:lpstr>
      <vt:lpstr>树 </vt:lpstr>
      <vt:lpstr>树</vt:lpstr>
      <vt:lpstr>树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flm</cp:lastModifiedBy>
  <cp:revision>1113</cp:revision>
  <cp:lastPrinted>2011-09-16T06:19:00Z</cp:lastPrinted>
  <dcterms:created xsi:type="dcterms:W3CDTF">2016-04-14T04:36:00Z</dcterms:created>
  <dcterms:modified xsi:type="dcterms:W3CDTF">2019-09-25T08:00:57Z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