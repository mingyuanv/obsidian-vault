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9"/>
  </p:handoutMasterIdLst>
  <p:sldIdLst>
    <p:sldId id="1031" r:id="rId4"/>
    <p:sldId id="894" r:id="rId6"/>
    <p:sldId id="902" r:id="rId7"/>
    <p:sldId id="903" r:id="rId8"/>
    <p:sldId id="904" r:id="rId9"/>
    <p:sldId id="905" r:id="rId10"/>
    <p:sldId id="906" r:id="rId11"/>
    <p:sldId id="908" r:id="rId12"/>
    <p:sldId id="907" r:id="rId13"/>
    <p:sldId id="909" r:id="rId14"/>
    <p:sldId id="910" r:id="rId15"/>
    <p:sldId id="911" r:id="rId16"/>
    <p:sldId id="912" r:id="rId17"/>
    <p:sldId id="1047" r:id="rId18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22"/>
        <p:guide pos="4006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23"/>
        <p:guide pos="23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二叉树的运算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8480" y="1572260"/>
            <a:ext cx="7787640" cy="323723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沿某条搜索路径周游二叉树，对树中的每一个节点访问一次且仅访问一次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</a:pP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二叉树是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非线性结构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，每个结点有两个后继，则存在如何遍历即按什么样的搜索路径进行遍历的问题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79964" y="50006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67715" y="1489710"/>
            <a:ext cx="7383145" cy="3103880"/>
          </a:xfrm>
        </p:spPr>
        <p:txBody>
          <a:bodyPr/>
          <a:lstStyle/>
          <a:p>
            <a:pPr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由于二叉树的递归性质，遍历算法也是递归的。三种基本的遍历算法如下 ：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  <a:p>
            <a:pPr lvl="0"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先访问树根，再访问左子树，最后访问右子树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先访问左子树，再访问树根，最后访问右子树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eaLnBrk="1" hangingPunct="1">
              <a:lnSpc>
                <a:spcPct val="18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先访问左子树，再访问右子树，最后访问树根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64197" y="270303"/>
            <a:ext cx="10681335" cy="416560"/>
          </a:xfrm>
        </p:spPr>
        <p:txBody>
          <a:bodyPr/>
          <a:lstStyle/>
          <a:p>
            <a:r>
              <a:rPr lang="zh-CN" altLang="en-US" sz="4000" b="0" dirty="0">
                <a:solidFill>
                  <a:srgbClr val="01E1EF"/>
                </a:solidFill>
              </a:rPr>
              <a:t>二叉树遍历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148482" name="Group 3"/>
          <p:cNvGrpSpPr/>
          <p:nvPr/>
        </p:nvGrpSpPr>
        <p:grpSpPr>
          <a:xfrm>
            <a:off x="2145665" y="1623855"/>
            <a:ext cx="3657600" cy="4343400"/>
            <a:chOff x="0" y="0"/>
            <a:chExt cx="2304" cy="2736"/>
          </a:xfrm>
        </p:grpSpPr>
        <p:sp>
          <p:nvSpPr>
            <p:cNvPr id="148483" name="Oval 3"/>
            <p:cNvSpPr/>
            <p:nvPr/>
          </p:nvSpPr>
          <p:spPr>
            <a:xfrm>
              <a:off x="768" y="0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4" name="Oval 4"/>
            <p:cNvSpPr/>
            <p:nvPr/>
          </p:nvSpPr>
          <p:spPr>
            <a:xfrm>
              <a:off x="0" y="5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5" name="Oval 5"/>
            <p:cNvSpPr/>
            <p:nvPr/>
          </p:nvSpPr>
          <p:spPr>
            <a:xfrm>
              <a:off x="432" y="11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6" name="Oval 6"/>
            <p:cNvSpPr/>
            <p:nvPr/>
          </p:nvSpPr>
          <p:spPr>
            <a:xfrm>
              <a:off x="144" y="17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7" name="Oval 7"/>
            <p:cNvSpPr/>
            <p:nvPr/>
          </p:nvSpPr>
          <p:spPr>
            <a:xfrm>
              <a:off x="1536" y="5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8" name="Oval 8"/>
            <p:cNvSpPr/>
            <p:nvPr/>
          </p:nvSpPr>
          <p:spPr>
            <a:xfrm>
              <a:off x="1968" y="11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9" name="Oval 9"/>
            <p:cNvSpPr/>
            <p:nvPr/>
          </p:nvSpPr>
          <p:spPr>
            <a:xfrm>
              <a:off x="1536" y="1728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0" name="Oval 10"/>
            <p:cNvSpPr/>
            <p:nvPr/>
          </p:nvSpPr>
          <p:spPr>
            <a:xfrm>
              <a:off x="1200" y="23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1" name="Oval 11"/>
            <p:cNvSpPr/>
            <p:nvPr/>
          </p:nvSpPr>
          <p:spPr>
            <a:xfrm>
              <a:off x="1872" y="23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2" name="Line 12"/>
            <p:cNvSpPr/>
            <p:nvPr/>
          </p:nvSpPr>
          <p:spPr>
            <a:xfrm flipH="1">
              <a:off x="192" y="192"/>
              <a:ext cx="576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3" name="Line 13"/>
            <p:cNvSpPr/>
            <p:nvPr/>
          </p:nvSpPr>
          <p:spPr>
            <a:xfrm>
              <a:off x="336" y="768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4" name="Line 14"/>
            <p:cNvSpPr/>
            <p:nvPr/>
          </p:nvSpPr>
          <p:spPr>
            <a:xfrm flipH="1">
              <a:off x="336" y="1344"/>
              <a:ext cx="96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5" name="Line 15"/>
            <p:cNvSpPr/>
            <p:nvPr/>
          </p:nvSpPr>
          <p:spPr>
            <a:xfrm>
              <a:off x="1104" y="192"/>
              <a:ext cx="624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6" name="Line 16"/>
            <p:cNvSpPr/>
            <p:nvPr/>
          </p:nvSpPr>
          <p:spPr>
            <a:xfrm>
              <a:off x="1872" y="768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7" name="Line 17"/>
            <p:cNvSpPr/>
            <p:nvPr/>
          </p:nvSpPr>
          <p:spPr>
            <a:xfrm flipH="1">
              <a:off x="1728" y="1344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8" name="Line 18"/>
            <p:cNvSpPr/>
            <p:nvPr/>
          </p:nvSpPr>
          <p:spPr>
            <a:xfrm flipH="1">
              <a:off x="1344" y="1920"/>
              <a:ext cx="192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9" name="Line 19"/>
            <p:cNvSpPr/>
            <p:nvPr/>
          </p:nvSpPr>
          <p:spPr>
            <a:xfrm>
              <a:off x="1872" y="1920"/>
              <a:ext cx="192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49525" name="Line 20"/>
          <p:cNvSpPr/>
          <p:nvPr/>
        </p:nvSpPr>
        <p:spPr>
          <a:xfrm>
            <a:off x="3542665" y="681673"/>
            <a:ext cx="0" cy="8382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6" name="Line 21"/>
          <p:cNvSpPr/>
          <p:nvPr/>
        </p:nvSpPr>
        <p:spPr>
          <a:xfrm flipH="1">
            <a:off x="2323465" y="1519873"/>
            <a:ext cx="1219200" cy="7620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7" name="Freeform 22"/>
          <p:cNvSpPr/>
          <p:nvPr/>
        </p:nvSpPr>
        <p:spPr>
          <a:xfrm>
            <a:off x="1967865" y="2281873"/>
            <a:ext cx="355600" cy="762000"/>
          </a:xfrm>
          <a:custGeom>
            <a:avLst/>
            <a:gdLst/>
            <a:ahLst/>
            <a:cxnLst>
              <a:cxn ang="0">
                <a:pos x="355600" y="0"/>
              </a:cxn>
              <a:cxn ang="0">
                <a:pos x="50800" y="381000"/>
              </a:cxn>
              <a:cxn ang="0">
                <a:pos x="50800" y="762000"/>
              </a:cxn>
            </a:cxnLst>
            <a:rect l="0" t="0" r="0" b="0"/>
            <a:pathLst>
              <a:path w="224" h="480">
                <a:moveTo>
                  <a:pt x="224" y="0"/>
                </a:moveTo>
                <a:cubicBezTo>
                  <a:pt x="144" y="80"/>
                  <a:pt x="64" y="160"/>
                  <a:pt x="32" y="240"/>
                </a:cubicBezTo>
                <a:cubicBezTo>
                  <a:pt x="0" y="320"/>
                  <a:pt x="16" y="400"/>
                  <a:pt x="32" y="48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28" name="Line 23"/>
          <p:cNvSpPr/>
          <p:nvPr/>
        </p:nvSpPr>
        <p:spPr>
          <a:xfrm flipV="1">
            <a:off x="1790065" y="31200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9" name="Freeform 24"/>
          <p:cNvSpPr/>
          <p:nvPr/>
        </p:nvSpPr>
        <p:spPr>
          <a:xfrm>
            <a:off x="2171065" y="3120073"/>
            <a:ext cx="533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600" y="152400"/>
              </a:cxn>
              <a:cxn ang="0">
                <a:pos x="533400" y="0"/>
              </a:cxn>
            </a:cxnLst>
            <a:rect l="0" t="0" r="0" b="0"/>
            <a:pathLst>
              <a:path w="336" h="96">
                <a:moveTo>
                  <a:pt x="0" y="0"/>
                </a:moveTo>
                <a:cubicBezTo>
                  <a:pt x="44" y="48"/>
                  <a:pt x="88" y="96"/>
                  <a:pt x="144" y="96"/>
                </a:cubicBezTo>
                <a:cubicBezTo>
                  <a:pt x="200" y="96"/>
                  <a:pt x="268" y="48"/>
                  <a:pt x="336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0" name="Line 25"/>
          <p:cNvSpPr/>
          <p:nvPr/>
        </p:nvSpPr>
        <p:spPr>
          <a:xfrm>
            <a:off x="2704465" y="3120073"/>
            <a:ext cx="228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1" name="Freeform 26"/>
          <p:cNvSpPr/>
          <p:nvPr/>
        </p:nvSpPr>
        <p:spPr>
          <a:xfrm>
            <a:off x="2666365" y="3424873"/>
            <a:ext cx="266700" cy="381000"/>
          </a:xfrm>
          <a:custGeom>
            <a:avLst/>
            <a:gdLst/>
            <a:ahLst/>
            <a:cxnLst>
              <a:cxn ang="0">
                <a:pos x="266700" y="0"/>
              </a:cxn>
              <a:cxn ang="0">
                <a:pos x="38100" y="228600"/>
              </a:cxn>
              <a:cxn ang="0">
                <a:pos x="38100" y="381000"/>
              </a:cxn>
            </a:cxnLst>
            <a:rect l="0" t="0" r="0" b="0"/>
            <a:pathLst>
              <a:path w="168" h="240">
                <a:moveTo>
                  <a:pt x="168" y="0"/>
                </a:moveTo>
                <a:cubicBezTo>
                  <a:pt x="108" y="52"/>
                  <a:pt x="48" y="104"/>
                  <a:pt x="24" y="144"/>
                </a:cubicBezTo>
                <a:cubicBezTo>
                  <a:pt x="0" y="184"/>
                  <a:pt x="12" y="212"/>
                  <a:pt x="24" y="24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2" name="Line 27"/>
          <p:cNvSpPr/>
          <p:nvPr/>
        </p:nvSpPr>
        <p:spPr>
          <a:xfrm flipH="1">
            <a:off x="2552065" y="3729673"/>
            <a:ext cx="152400" cy="609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3" name="Freeform 28"/>
          <p:cNvSpPr/>
          <p:nvPr/>
        </p:nvSpPr>
        <p:spPr>
          <a:xfrm>
            <a:off x="2145665" y="4339273"/>
            <a:ext cx="406400" cy="762000"/>
          </a:xfrm>
          <a:custGeom>
            <a:avLst/>
            <a:gdLst/>
            <a:ahLst/>
            <a:cxnLst>
              <a:cxn ang="0">
                <a:pos x="406400" y="0"/>
              </a:cxn>
              <a:cxn ang="0">
                <a:pos x="25400" y="304800"/>
              </a:cxn>
              <a:cxn ang="0">
                <a:pos x="254000" y="762000"/>
              </a:cxn>
            </a:cxnLst>
            <a:rect l="0" t="0" r="0" b="0"/>
            <a:pathLst>
              <a:path w="256" h="480">
                <a:moveTo>
                  <a:pt x="256" y="0"/>
                </a:moveTo>
                <a:cubicBezTo>
                  <a:pt x="144" y="56"/>
                  <a:pt x="32" y="112"/>
                  <a:pt x="16" y="192"/>
                </a:cubicBezTo>
                <a:cubicBezTo>
                  <a:pt x="0" y="272"/>
                  <a:pt x="80" y="376"/>
                  <a:pt x="160" y="48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4" name="Line 29"/>
          <p:cNvSpPr/>
          <p:nvPr/>
        </p:nvSpPr>
        <p:spPr>
          <a:xfrm flipH="1">
            <a:off x="2018665" y="5101273"/>
            <a:ext cx="3810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5" name="Line 30"/>
          <p:cNvSpPr/>
          <p:nvPr/>
        </p:nvSpPr>
        <p:spPr>
          <a:xfrm flipV="1">
            <a:off x="2171065" y="51774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6" name="Freeform 31"/>
          <p:cNvSpPr/>
          <p:nvPr/>
        </p:nvSpPr>
        <p:spPr>
          <a:xfrm>
            <a:off x="2552065" y="5101273"/>
            <a:ext cx="3810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81000" y="0"/>
              </a:cxn>
            </a:cxnLst>
            <a:rect l="0" t="0" r="0" b="0"/>
            <a:pathLst>
              <a:path w="240" h="104">
                <a:moveTo>
                  <a:pt x="0" y="48"/>
                </a:moveTo>
                <a:cubicBezTo>
                  <a:pt x="28" y="76"/>
                  <a:pt x="56" y="104"/>
                  <a:pt x="96" y="96"/>
                </a:cubicBezTo>
                <a:cubicBezTo>
                  <a:pt x="136" y="88"/>
                  <a:pt x="216" y="16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7" name="Line 32"/>
          <p:cNvSpPr/>
          <p:nvPr/>
        </p:nvSpPr>
        <p:spPr>
          <a:xfrm>
            <a:off x="2933065" y="5101273"/>
            <a:ext cx="2286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8" name="Line 33"/>
          <p:cNvSpPr/>
          <p:nvPr/>
        </p:nvSpPr>
        <p:spPr>
          <a:xfrm flipH="1" flipV="1">
            <a:off x="3009265" y="4948873"/>
            <a:ext cx="304800" cy="4572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9" name="Freeform 34"/>
          <p:cNvSpPr/>
          <p:nvPr/>
        </p:nvSpPr>
        <p:spPr>
          <a:xfrm>
            <a:off x="2933065" y="4377373"/>
            <a:ext cx="228600" cy="571500"/>
          </a:xfrm>
          <a:custGeom>
            <a:avLst/>
            <a:gdLst/>
            <a:ahLst/>
            <a:cxnLst>
              <a:cxn ang="0">
                <a:pos x="76200" y="571500"/>
              </a:cxn>
              <a:cxn ang="0">
                <a:pos x="228600" y="266700"/>
              </a:cxn>
              <a:cxn ang="0">
                <a:pos x="76200" y="38100"/>
              </a:cxn>
              <a:cxn ang="0">
                <a:pos x="0" y="38100"/>
              </a:cxn>
            </a:cxnLst>
            <a:rect l="0" t="0" r="0" b="0"/>
            <a:pathLst>
              <a:path w="144" h="360">
                <a:moveTo>
                  <a:pt x="48" y="360"/>
                </a:moveTo>
                <a:cubicBezTo>
                  <a:pt x="96" y="292"/>
                  <a:pt x="144" y="224"/>
                  <a:pt x="144" y="168"/>
                </a:cubicBezTo>
                <a:cubicBezTo>
                  <a:pt x="144" y="112"/>
                  <a:pt x="72" y="48"/>
                  <a:pt x="48" y="24"/>
                </a:cubicBezTo>
                <a:cubicBezTo>
                  <a:pt x="24" y="0"/>
                  <a:pt x="12" y="12"/>
                  <a:pt x="0" y="24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0" name="Line 35"/>
          <p:cNvSpPr/>
          <p:nvPr/>
        </p:nvSpPr>
        <p:spPr>
          <a:xfrm flipV="1">
            <a:off x="2933065" y="4110673"/>
            <a:ext cx="76200" cy="3048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1" name="Freeform 36"/>
          <p:cNvSpPr/>
          <p:nvPr/>
        </p:nvSpPr>
        <p:spPr>
          <a:xfrm>
            <a:off x="3009265" y="4034473"/>
            <a:ext cx="3810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81000" y="0"/>
              </a:cxn>
            </a:cxnLst>
            <a:rect l="0" t="0" r="0" b="0"/>
            <a:pathLst>
              <a:path w="240" h="104">
                <a:moveTo>
                  <a:pt x="0" y="48"/>
                </a:moveTo>
                <a:cubicBezTo>
                  <a:pt x="28" y="76"/>
                  <a:pt x="56" y="104"/>
                  <a:pt x="96" y="96"/>
                </a:cubicBezTo>
                <a:cubicBezTo>
                  <a:pt x="136" y="88"/>
                  <a:pt x="216" y="16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2" name="Line 37"/>
          <p:cNvSpPr/>
          <p:nvPr/>
        </p:nvSpPr>
        <p:spPr>
          <a:xfrm>
            <a:off x="3390265" y="4034473"/>
            <a:ext cx="2286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3" name="Line 38"/>
          <p:cNvSpPr/>
          <p:nvPr/>
        </p:nvSpPr>
        <p:spPr>
          <a:xfrm flipH="1" flipV="1">
            <a:off x="3466465" y="3882073"/>
            <a:ext cx="3048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4" name="Freeform 39"/>
          <p:cNvSpPr/>
          <p:nvPr/>
        </p:nvSpPr>
        <p:spPr>
          <a:xfrm>
            <a:off x="3314065" y="3348673"/>
            <a:ext cx="254000" cy="533400"/>
          </a:xfrm>
          <a:custGeom>
            <a:avLst/>
            <a:gdLst/>
            <a:ahLst/>
            <a:cxnLst>
              <a:cxn ang="0">
                <a:pos x="152400" y="5334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60" h="336">
                <a:moveTo>
                  <a:pt x="96" y="336"/>
                </a:moveTo>
                <a:cubicBezTo>
                  <a:pt x="128" y="316"/>
                  <a:pt x="160" y="296"/>
                  <a:pt x="144" y="240"/>
                </a:cubicBezTo>
                <a:cubicBezTo>
                  <a:pt x="128" y="184"/>
                  <a:pt x="64" y="92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5" name="Line 40"/>
          <p:cNvSpPr/>
          <p:nvPr/>
        </p:nvSpPr>
        <p:spPr>
          <a:xfrm flipH="1" flipV="1">
            <a:off x="2780665" y="2586673"/>
            <a:ext cx="533400" cy="762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6" name="Line 41"/>
          <p:cNvSpPr/>
          <p:nvPr/>
        </p:nvSpPr>
        <p:spPr>
          <a:xfrm flipV="1">
            <a:off x="2780665" y="2205673"/>
            <a:ext cx="533400" cy="3810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7" name="Freeform 42"/>
          <p:cNvSpPr/>
          <p:nvPr/>
        </p:nvSpPr>
        <p:spPr>
          <a:xfrm>
            <a:off x="3314065" y="2205673"/>
            <a:ext cx="685800" cy="228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4800" y="228600"/>
              </a:cxn>
              <a:cxn ang="0">
                <a:pos x="685800" y="0"/>
              </a:cxn>
            </a:cxnLst>
            <a:rect l="0" t="0" r="0" b="0"/>
            <a:pathLst>
              <a:path w="432" h="144">
                <a:moveTo>
                  <a:pt x="0" y="0"/>
                </a:moveTo>
                <a:cubicBezTo>
                  <a:pt x="60" y="72"/>
                  <a:pt x="120" y="144"/>
                  <a:pt x="192" y="144"/>
                </a:cubicBezTo>
                <a:cubicBezTo>
                  <a:pt x="264" y="144"/>
                  <a:pt x="348" y="72"/>
                  <a:pt x="432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8" name="Line 43"/>
          <p:cNvSpPr/>
          <p:nvPr/>
        </p:nvSpPr>
        <p:spPr>
          <a:xfrm>
            <a:off x="3999865" y="2205673"/>
            <a:ext cx="609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9" name="Freeform 44"/>
          <p:cNvSpPr/>
          <p:nvPr/>
        </p:nvSpPr>
        <p:spPr>
          <a:xfrm>
            <a:off x="4457065" y="2510473"/>
            <a:ext cx="152400" cy="685800"/>
          </a:xfrm>
          <a:custGeom>
            <a:avLst/>
            <a:gdLst/>
            <a:ahLst/>
            <a:cxnLst>
              <a:cxn ang="0">
                <a:pos x="152400" y="0"/>
              </a:cxn>
              <a:cxn ang="0">
                <a:pos x="0" y="304800"/>
              </a:cxn>
              <a:cxn ang="0">
                <a:pos x="152400" y="685800"/>
              </a:cxn>
            </a:cxnLst>
            <a:rect l="0" t="0" r="0" b="0"/>
            <a:pathLst>
              <a:path w="96" h="432">
                <a:moveTo>
                  <a:pt x="96" y="0"/>
                </a:moveTo>
                <a:cubicBezTo>
                  <a:pt x="48" y="60"/>
                  <a:pt x="0" y="120"/>
                  <a:pt x="0" y="192"/>
                </a:cubicBezTo>
                <a:cubicBezTo>
                  <a:pt x="0" y="264"/>
                  <a:pt x="48" y="348"/>
                  <a:pt x="96" y="432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0" name="Line 45"/>
          <p:cNvSpPr/>
          <p:nvPr/>
        </p:nvSpPr>
        <p:spPr>
          <a:xfrm flipH="1">
            <a:off x="4304665" y="3196273"/>
            <a:ext cx="3048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1" name="Line 46"/>
          <p:cNvSpPr/>
          <p:nvPr/>
        </p:nvSpPr>
        <p:spPr>
          <a:xfrm flipV="1">
            <a:off x="4380865" y="32724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2" name="Freeform 47"/>
          <p:cNvSpPr/>
          <p:nvPr/>
        </p:nvSpPr>
        <p:spPr>
          <a:xfrm>
            <a:off x="4761865" y="3196273"/>
            <a:ext cx="3048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04800" y="0"/>
              </a:cxn>
            </a:cxnLst>
            <a:rect l="0" t="0" r="0" b="0"/>
            <a:pathLst>
              <a:path w="192" h="104">
                <a:moveTo>
                  <a:pt x="0" y="48"/>
                </a:moveTo>
                <a:cubicBezTo>
                  <a:pt x="32" y="76"/>
                  <a:pt x="64" y="104"/>
                  <a:pt x="96" y="96"/>
                </a:cubicBezTo>
                <a:cubicBezTo>
                  <a:pt x="128" y="88"/>
                  <a:pt x="176" y="16"/>
                  <a:pt x="192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3" name="Line 48"/>
          <p:cNvSpPr/>
          <p:nvPr/>
        </p:nvSpPr>
        <p:spPr>
          <a:xfrm>
            <a:off x="5066665" y="3196273"/>
            <a:ext cx="228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4" name="Line 49"/>
          <p:cNvSpPr/>
          <p:nvPr/>
        </p:nvSpPr>
        <p:spPr>
          <a:xfrm flipH="1">
            <a:off x="4761865" y="3501073"/>
            <a:ext cx="533400" cy="7620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5" name="Freeform 50"/>
          <p:cNvSpPr/>
          <p:nvPr/>
        </p:nvSpPr>
        <p:spPr>
          <a:xfrm>
            <a:off x="4380865" y="4263073"/>
            <a:ext cx="381000" cy="381000"/>
          </a:xfrm>
          <a:custGeom>
            <a:avLst/>
            <a:gdLst/>
            <a:ahLst/>
            <a:cxnLst>
              <a:cxn ang="0">
                <a:pos x="381000" y="0"/>
              </a:cxn>
              <a:cxn ang="0">
                <a:pos x="76200" y="76200"/>
              </a:cxn>
              <a:cxn ang="0">
                <a:pos x="0" y="381000"/>
              </a:cxn>
            </a:cxnLst>
            <a:rect l="0" t="0" r="0" b="0"/>
            <a:pathLst>
              <a:path w="240" h="240">
                <a:moveTo>
                  <a:pt x="240" y="0"/>
                </a:moveTo>
                <a:cubicBezTo>
                  <a:pt x="164" y="4"/>
                  <a:pt x="88" y="8"/>
                  <a:pt x="48" y="48"/>
                </a:cubicBezTo>
                <a:cubicBezTo>
                  <a:pt x="8" y="88"/>
                  <a:pt x="4" y="164"/>
                  <a:pt x="0" y="24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6" name="Line 51"/>
          <p:cNvSpPr/>
          <p:nvPr/>
        </p:nvSpPr>
        <p:spPr>
          <a:xfrm flipH="1">
            <a:off x="4152265" y="4644073"/>
            <a:ext cx="228600" cy="609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7" name="Freeform 52"/>
          <p:cNvSpPr/>
          <p:nvPr/>
        </p:nvSpPr>
        <p:spPr>
          <a:xfrm>
            <a:off x="3834765" y="5253673"/>
            <a:ext cx="317500" cy="838200"/>
          </a:xfrm>
          <a:custGeom>
            <a:avLst/>
            <a:gdLst/>
            <a:ahLst/>
            <a:cxnLst>
              <a:cxn ang="0">
                <a:pos x="317500" y="0"/>
              </a:cxn>
              <a:cxn ang="0">
                <a:pos x="12700" y="304800"/>
              </a:cxn>
              <a:cxn ang="0">
                <a:pos x="241300" y="838200"/>
              </a:cxn>
            </a:cxnLst>
            <a:rect l="0" t="0" r="0" b="0"/>
            <a:pathLst>
              <a:path w="200" h="528">
                <a:moveTo>
                  <a:pt x="200" y="0"/>
                </a:moveTo>
                <a:cubicBezTo>
                  <a:pt x="108" y="52"/>
                  <a:pt x="16" y="104"/>
                  <a:pt x="8" y="192"/>
                </a:cubicBezTo>
                <a:cubicBezTo>
                  <a:pt x="0" y="280"/>
                  <a:pt x="76" y="404"/>
                  <a:pt x="152" y="528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8" name="Line 53"/>
          <p:cNvSpPr/>
          <p:nvPr/>
        </p:nvSpPr>
        <p:spPr>
          <a:xfrm flipH="1">
            <a:off x="3771265" y="6091873"/>
            <a:ext cx="3048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9" name="Line 54"/>
          <p:cNvSpPr/>
          <p:nvPr/>
        </p:nvSpPr>
        <p:spPr>
          <a:xfrm flipV="1">
            <a:off x="3923665" y="6091873"/>
            <a:ext cx="381000" cy="5334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0" name="Line 55"/>
          <p:cNvSpPr/>
          <p:nvPr/>
        </p:nvSpPr>
        <p:spPr>
          <a:xfrm>
            <a:off x="4533265" y="6091873"/>
            <a:ext cx="3810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1" name="Freeform 56"/>
          <p:cNvSpPr/>
          <p:nvPr/>
        </p:nvSpPr>
        <p:spPr>
          <a:xfrm>
            <a:off x="4304665" y="6091873"/>
            <a:ext cx="228600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200" y="76200"/>
              </a:cxn>
              <a:cxn ang="0">
                <a:pos x="228600" y="0"/>
              </a:cxn>
            </a:cxnLst>
            <a:rect l="0" t="0" r="0" b="0"/>
            <a:pathLst>
              <a:path w="144" h="48">
                <a:moveTo>
                  <a:pt x="0" y="0"/>
                </a:moveTo>
                <a:cubicBezTo>
                  <a:pt x="12" y="24"/>
                  <a:pt x="24" y="48"/>
                  <a:pt x="48" y="48"/>
                </a:cubicBezTo>
                <a:cubicBezTo>
                  <a:pt x="72" y="48"/>
                  <a:pt x="108" y="24"/>
                  <a:pt x="144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2" name="Line 57"/>
          <p:cNvSpPr/>
          <p:nvPr/>
        </p:nvSpPr>
        <p:spPr>
          <a:xfrm flipH="1" flipV="1">
            <a:off x="4685665" y="60156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3" name="Freeform 58"/>
          <p:cNvSpPr/>
          <p:nvPr/>
        </p:nvSpPr>
        <p:spPr>
          <a:xfrm>
            <a:off x="4609465" y="5253673"/>
            <a:ext cx="165100" cy="762000"/>
          </a:xfrm>
          <a:custGeom>
            <a:avLst/>
            <a:gdLst/>
            <a:ahLst/>
            <a:cxnLst>
              <a:cxn ang="0">
                <a:pos x="76200" y="762000"/>
              </a:cxn>
              <a:cxn ang="0">
                <a:pos x="152400" y="457200"/>
              </a:cxn>
              <a:cxn ang="0">
                <a:pos x="0" y="0"/>
              </a:cxn>
            </a:cxnLst>
            <a:rect l="0" t="0" r="0" b="0"/>
            <a:pathLst>
              <a:path w="104" h="480">
                <a:moveTo>
                  <a:pt x="48" y="480"/>
                </a:moveTo>
                <a:cubicBezTo>
                  <a:pt x="76" y="424"/>
                  <a:pt x="104" y="368"/>
                  <a:pt x="96" y="288"/>
                </a:cubicBezTo>
                <a:cubicBezTo>
                  <a:pt x="88" y="208"/>
                  <a:pt x="44" y="104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4" name="Line 59"/>
          <p:cNvSpPr/>
          <p:nvPr/>
        </p:nvSpPr>
        <p:spPr>
          <a:xfrm flipV="1">
            <a:off x="4609465" y="5025073"/>
            <a:ext cx="76200" cy="2286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5" name="Freeform 60"/>
          <p:cNvSpPr/>
          <p:nvPr/>
        </p:nvSpPr>
        <p:spPr>
          <a:xfrm>
            <a:off x="4685665" y="5025073"/>
            <a:ext cx="381000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600" y="76200"/>
              </a:cxn>
              <a:cxn ang="0">
                <a:pos x="381000" y="0"/>
              </a:cxn>
            </a:cxnLst>
            <a:rect l="0" t="0" r="0" b="0"/>
            <a:pathLst>
              <a:path w="240" h="48">
                <a:moveTo>
                  <a:pt x="0" y="0"/>
                </a:moveTo>
                <a:cubicBezTo>
                  <a:pt x="52" y="24"/>
                  <a:pt x="104" y="48"/>
                  <a:pt x="144" y="48"/>
                </a:cubicBezTo>
                <a:cubicBezTo>
                  <a:pt x="184" y="48"/>
                  <a:pt x="212" y="24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6" name="Line 61"/>
          <p:cNvSpPr/>
          <p:nvPr/>
        </p:nvSpPr>
        <p:spPr>
          <a:xfrm>
            <a:off x="5066665" y="5025073"/>
            <a:ext cx="152400" cy="228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7" name="Freeform 62"/>
          <p:cNvSpPr/>
          <p:nvPr/>
        </p:nvSpPr>
        <p:spPr>
          <a:xfrm>
            <a:off x="4977765" y="5253673"/>
            <a:ext cx="317500" cy="838200"/>
          </a:xfrm>
          <a:custGeom>
            <a:avLst/>
            <a:gdLst/>
            <a:ahLst/>
            <a:cxnLst>
              <a:cxn ang="0">
                <a:pos x="241300" y="0"/>
              </a:cxn>
              <a:cxn ang="0">
                <a:pos x="12700" y="381000"/>
              </a:cxn>
              <a:cxn ang="0">
                <a:pos x="317500" y="838200"/>
              </a:cxn>
            </a:cxnLst>
            <a:rect l="0" t="0" r="0" b="0"/>
            <a:pathLst>
              <a:path w="200" h="528">
                <a:moveTo>
                  <a:pt x="152" y="0"/>
                </a:moveTo>
                <a:cubicBezTo>
                  <a:pt x="76" y="76"/>
                  <a:pt x="0" y="152"/>
                  <a:pt x="8" y="240"/>
                </a:cubicBezTo>
                <a:cubicBezTo>
                  <a:pt x="16" y="328"/>
                  <a:pt x="108" y="428"/>
                  <a:pt x="200" y="528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8" name="Line 63"/>
          <p:cNvSpPr/>
          <p:nvPr/>
        </p:nvSpPr>
        <p:spPr>
          <a:xfrm flipH="1">
            <a:off x="5219065" y="6091873"/>
            <a:ext cx="76200" cy="3048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9" name="Line 64"/>
          <p:cNvSpPr/>
          <p:nvPr/>
        </p:nvSpPr>
        <p:spPr>
          <a:xfrm flipV="1">
            <a:off x="5295265" y="6015673"/>
            <a:ext cx="1524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0" name="Line 65"/>
          <p:cNvSpPr/>
          <p:nvPr/>
        </p:nvSpPr>
        <p:spPr>
          <a:xfrm>
            <a:off x="5447665" y="6015673"/>
            <a:ext cx="3810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1" name="Line 66"/>
          <p:cNvSpPr/>
          <p:nvPr/>
        </p:nvSpPr>
        <p:spPr>
          <a:xfrm flipH="1" flipV="1">
            <a:off x="5676265" y="59394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2" name="Freeform 67"/>
          <p:cNvSpPr/>
          <p:nvPr/>
        </p:nvSpPr>
        <p:spPr>
          <a:xfrm>
            <a:off x="5676265" y="5253673"/>
            <a:ext cx="228600" cy="762000"/>
          </a:xfrm>
          <a:custGeom>
            <a:avLst/>
            <a:gdLst/>
            <a:ahLst/>
            <a:cxnLst>
              <a:cxn ang="0">
                <a:pos x="0" y="7620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44" h="480">
                <a:moveTo>
                  <a:pt x="0" y="480"/>
                </a:moveTo>
                <a:cubicBezTo>
                  <a:pt x="72" y="400"/>
                  <a:pt x="144" y="320"/>
                  <a:pt x="144" y="240"/>
                </a:cubicBezTo>
                <a:cubicBezTo>
                  <a:pt x="144" y="160"/>
                  <a:pt x="72" y="80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3" name="Line 68"/>
          <p:cNvSpPr/>
          <p:nvPr/>
        </p:nvSpPr>
        <p:spPr>
          <a:xfrm flipH="1" flipV="1">
            <a:off x="5295265" y="4567873"/>
            <a:ext cx="381000" cy="6858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4" name="Freeform 69"/>
          <p:cNvSpPr/>
          <p:nvPr/>
        </p:nvSpPr>
        <p:spPr>
          <a:xfrm>
            <a:off x="5142865" y="4339273"/>
            <a:ext cx="177800" cy="228600"/>
          </a:xfrm>
          <a:custGeom>
            <a:avLst/>
            <a:gdLst/>
            <a:ahLst/>
            <a:cxnLst>
              <a:cxn ang="0">
                <a:pos x="152400" y="228600"/>
              </a:cxn>
              <a:cxn ang="0">
                <a:pos x="152400" y="152400"/>
              </a:cxn>
              <a:cxn ang="0">
                <a:pos x="0" y="0"/>
              </a:cxn>
            </a:cxnLst>
            <a:rect l="0" t="0" r="0" b="0"/>
            <a:pathLst>
              <a:path w="112" h="144">
                <a:moveTo>
                  <a:pt x="96" y="144"/>
                </a:moveTo>
                <a:cubicBezTo>
                  <a:pt x="104" y="132"/>
                  <a:pt x="112" y="120"/>
                  <a:pt x="96" y="96"/>
                </a:cubicBezTo>
                <a:cubicBezTo>
                  <a:pt x="80" y="72"/>
                  <a:pt x="40" y="36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5" name="Line 70"/>
          <p:cNvSpPr/>
          <p:nvPr/>
        </p:nvSpPr>
        <p:spPr>
          <a:xfrm flipV="1">
            <a:off x="5142865" y="4034473"/>
            <a:ext cx="228600" cy="3048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6" name="Freeform 71"/>
          <p:cNvSpPr/>
          <p:nvPr/>
        </p:nvSpPr>
        <p:spPr>
          <a:xfrm>
            <a:off x="5371465" y="4034473"/>
            <a:ext cx="4572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2400" y="152400"/>
              </a:cxn>
              <a:cxn ang="0">
                <a:pos x="457200" y="0"/>
              </a:cxn>
            </a:cxnLst>
            <a:rect l="0" t="0" r="0" b="0"/>
            <a:pathLst>
              <a:path w="288" h="96">
                <a:moveTo>
                  <a:pt x="0" y="0"/>
                </a:moveTo>
                <a:cubicBezTo>
                  <a:pt x="24" y="48"/>
                  <a:pt x="48" y="96"/>
                  <a:pt x="96" y="96"/>
                </a:cubicBezTo>
                <a:cubicBezTo>
                  <a:pt x="144" y="96"/>
                  <a:pt x="216" y="48"/>
                  <a:pt x="288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7" name="Line 72"/>
          <p:cNvSpPr/>
          <p:nvPr/>
        </p:nvSpPr>
        <p:spPr>
          <a:xfrm>
            <a:off x="5828665" y="4034473"/>
            <a:ext cx="3810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8" name="Line 73"/>
          <p:cNvSpPr/>
          <p:nvPr/>
        </p:nvSpPr>
        <p:spPr>
          <a:xfrm flipH="1" flipV="1">
            <a:off x="5904865" y="38820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9" name="Freeform 74"/>
          <p:cNvSpPr/>
          <p:nvPr/>
        </p:nvSpPr>
        <p:spPr>
          <a:xfrm>
            <a:off x="5752465" y="3348673"/>
            <a:ext cx="254000" cy="533400"/>
          </a:xfrm>
          <a:custGeom>
            <a:avLst/>
            <a:gdLst/>
            <a:ahLst/>
            <a:cxnLst>
              <a:cxn ang="0">
                <a:pos x="152400" y="5334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60" h="336">
                <a:moveTo>
                  <a:pt x="96" y="336"/>
                </a:moveTo>
                <a:cubicBezTo>
                  <a:pt x="128" y="316"/>
                  <a:pt x="160" y="296"/>
                  <a:pt x="144" y="240"/>
                </a:cubicBezTo>
                <a:cubicBezTo>
                  <a:pt x="128" y="184"/>
                  <a:pt x="64" y="92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0" name="Line 75"/>
          <p:cNvSpPr/>
          <p:nvPr/>
        </p:nvSpPr>
        <p:spPr>
          <a:xfrm flipH="1" flipV="1">
            <a:off x="5371465" y="2815273"/>
            <a:ext cx="381000" cy="5334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1" name="Freeform 76"/>
          <p:cNvSpPr/>
          <p:nvPr/>
        </p:nvSpPr>
        <p:spPr>
          <a:xfrm>
            <a:off x="5142865" y="2434273"/>
            <a:ext cx="266700" cy="381000"/>
          </a:xfrm>
          <a:custGeom>
            <a:avLst/>
            <a:gdLst/>
            <a:ahLst/>
            <a:cxnLst>
              <a:cxn ang="0">
                <a:pos x="228600" y="381000"/>
              </a:cxn>
              <a:cxn ang="0">
                <a:pos x="228600" y="152400"/>
              </a:cxn>
              <a:cxn ang="0">
                <a:pos x="0" y="0"/>
              </a:cxn>
            </a:cxnLst>
            <a:rect l="0" t="0" r="0" b="0"/>
            <a:pathLst>
              <a:path w="168" h="240">
                <a:moveTo>
                  <a:pt x="144" y="240"/>
                </a:moveTo>
                <a:cubicBezTo>
                  <a:pt x="156" y="188"/>
                  <a:pt x="168" y="136"/>
                  <a:pt x="144" y="96"/>
                </a:cubicBezTo>
                <a:cubicBezTo>
                  <a:pt x="120" y="56"/>
                  <a:pt x="60" y="28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2" name="Line 77"/>
          <p:cNvSpPr/>
          <p:nvPr/>
        </p:nvSpPr>
        <p:spPr>
          <a:xfrm flipH="1" flipV="1">
            <a:off x="4076065" y="1824673"/>
            <a:ext cx="1066800" cy="6096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3" name="Freeform 78"/>
          <p:cNvSpPr/>
          <p:nvPr/>
        </p:nvSpPr>
        <p:spPr>
          <a:xfrm>
            <a:off x="3847465" y="1443673"/>
            <a:ext cx="266700" cy="381000"/>
          </a:xfrm>
          <a:custGeom>
            <a:avLst/>
            <a:gdLst/>
            <a:ahLst/>
            <a:cxnLst>
              <a:cxn ang="0">
                <a:pos x="228600" y="381000"/>
              </a:cxn>
              <a:cxn ang="0">
                <a:pos x="228600" y="152400"/>
              </a:cxn>
              <a:cxn ang="0">
                <a:pos x="0" y="0"/>
              </a:cxn>
            </a:cxnLst>
            <a:rect l="0" t="0" r="0" b="0"/>
            <a:pathLst>
              <a:path w="168" h="240">
                <a:moveTo>
                  <a:pt x="144" y="240"/>
                </a:moveTo>
                <a:cubicBezTo>
                  <a:pt x="156" y="188"/>
                  <a:pt x="168" y="136"/>
                  <a:pt x="144" y="96"/>
                </a:cubicBezTo>
                <a:cubicBezTo>
                  <a:pt x="120" y="56"/>
                  <a:pt x="60" y="28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4" name="Line 79"/>
          <p:cNvSpPr/>
          <p:nvPr/>
        </p:nvSpPr>
        <p:spPr>
          <a:xfrm flipV="1">
            <a:off x="3847465" y="681673"/>
            <a:ext cx="0" cy="762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6" name="Text Box 81"/>
          <p:cNvSpPr txBox="1"/>
          <p:nvPr/>
        </p:nvSpPr>
        <p:spPr>
          <a:xfrm>
            <a:off x="4495165" y="346065"/>
            <a:ext cx="2590800" cy="4616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先序序列：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587" name="Text Box 82"/>
          <p:cNvSpPr txBox="1"/>
          <p:nvPr/>
        </p:nvSpPr>
        <p:spPr>
          <a:xfrm>
            <a:off x="4799965" y="1544865"/>
            <a:ext cx="2590800" cy="5232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楷体_GB2312"/>
                <a:ea typeface="隶书" panose="02010509060101010101" pitchFamily="49" charset="-122"/>
              </a:rPr>
              <a:t>中序序列：</a:t>
            </a:r>
            <a:endParaRPr lang="zh-CN" altLang="en-US" sz="2800" dirty="0">
              <a:latin typeface="楷体_GB2312"/>
              <a:ea typeface="隶书" panose="02010509060101010101" pitchFamily="49" charset="-122"/>
            </a:endParaRPr>
          </a:p>
        </p:txBody>
      </p:sp>
      <p:sp>
        <p:nvSpPr>
          <p:cNvPr id="149588" name="Text Box 83"/>
          <p:cNvSpPr txBox="1"/>
          <p:nvPr/>
        </p:nvSpPr>
        <p:spPr>
          <a:xfrm>
            <a:off x="6019165" y="2624635"/>
            <a:ext cx="2590800" cy="5232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后序序列：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589" name="Text Box 84"/>
          <p:cNvSpPr txBox="1"/>
          <p:nvPr/>
        </p:nvSpPr>
        <p:spPr>
          <a:xfrm>
            <a:off x="4648587" y="916569"/>
            <a:ext cx="4114800" cy="583565"/>
          </a:xfrm>
          <a:prstGeom prst="rect">
            <a:avLst/>
          </a:prstGeom>
          <a:solidFill>
            <a:srgbClr val="FFFF99"/>
          </a:solidFill>
          <a:ln w="12700" cap="sq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 D </a:t>
            </a:r>
            <a:r>
              <a:rPr lang="en-US" altLang="zh-CN" sz="32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F G H K</a:t>
            </a:r>
            <a:endParaRPr lang="en-US" altLang="zh-CN" sz="32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90" name="Text Box 85"/>
          <p:cNvSpPr txBox="1"/>
          <p:nvPr/>
        </p:nvSpPr>
        <p:spPr>
          <a:xfrm>
            <a:off x="5555424" y="2015932"/>
            <a:ext cx="4114800" cy="583565"/>
          </a:xfrm>
          <a:prstGeom prst="rect">
            <a:avLst/>
          </a:prstGeom>
          <a:solidFill>
            <a:srgbClr val="FFFF99"/>
          </a:solidFill>
          <a:ln w="12700" cap="sq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D C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H G K F</a:t>
            </a:r>
            <a:endParaRPr lang="en-US" altLang="zh-CN" sz="32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91" name="Text Box 86"/>
          <p:cNvSpPr txBox="1"/>
          <p:nvPr/>
        </p:nvSpPr>
        <p:spPr>
          <a:xfrm>
            <a:off x="6285865" y="3209290"/>
            <a:ext cx="4114800" cy="583565"/>
          </a:xfrm>
          <a:prstGeom prst="rect">
            <a:avLst/>
          </a:prstGeom>
          <a:solidFill>
            <a:srgbClr val="FFFF99"/>
          </a:solidFill>
          <a:ln w="12700" cap="sq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C B </a:t>
            </a:r>
            <a:r>
              <a:rPr lang="en-US" altLang="zh-CN" sz="32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K G F E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9592" name="Picture 87" descr="3D Diamond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08" y="3316820"/>
            <a:ext cx="381000" cy="381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9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9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10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4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4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4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4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4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4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14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4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4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9000"/>
                            </p:stCondLst>
                            <p:childTnLst>
                              <p:par>
                                <p:cTn id="1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4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1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1500"/>
                            </p:stCondLst>
                            <p:childTnLst>
                              <p:par>
                                <p:cTn id="1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1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1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4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3500"/>
                            </p:stCondLst>
                            <p:childTnLst>
                              <p:par>
                                <p:cTn id="1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4000"/>
                            </p:stCondLst>
                            <p:childTnLst>
                              <p:par>
                                <p:cTn id="1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4500"/>
                            </p:stCondLst>
                            <p:childTnLst>
                              <p:par>
                                <p:cTn id="2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4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5000"/>
                            </p:stCondLst>
                            <p:childTnLst>
                              <p:par>
                                <p:cTn id="2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5500"/>
                            </p:stCondLst>
                            <p:childTnLst>
                              <p:par>
                                <p:cTn id="2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4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6000"/>
                            </p:stCondLst>
                            <p:childTnLst>
                              <p:par>
                                <p:cTn id="2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14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6500"/>
                            </p:stCondLst>
                            <p:childTnLst>
                              <p:par>
                                <p:cTn id="2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14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7000"/>
                            </p:stCondLst>
                            <p:childTnLst>
                              <p:par>
                                <p:cTn id="2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4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7500"/>
                            </p:stCondLst>
                            <p:childTnLst>
                              <p:par>
                                <p:cTn id="2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4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8000"/>
                            </p:stCondLst>
                            <p:childTnLst>
                              <p:par>
                                <p:cTn id="2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8500"/>
                            </p:stCondLst>
                            <p:childTnLst>
                              <p:par>
                                <p:cTn id="2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9000"/>
                            </p:stCondLst>
                            <p:childTnLst>
                              <p:par>
                                <p:cTn id="2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9500"/>
                            </p:stCondLst>
                            <p:childTnLst>
                              <p:par>
                                <p:cTn id="2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4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30000"/>
                            </p:stCondLst>
                            <p:childTnLst>
                              <p:par>
                                <p:cTn id="2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14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4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14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14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14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14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4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86" grpId="0" build="p"/>
      <p:bldP spid="149587" grpId="0" build="p"/>
      <p:bldP spid="149588" grpId="0" build="p"/>
      <p:bldP spid="149589" grpId="0" bldLvl="0" animBg="1"/>
      <p:bldP spid="149590" grpId="0" bldLvl="0" animBg="1"/>
      <p:bldP spid="14959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sz="2400" b="1" dirty="0">
                <a:solidFill>
                  <a:schemeClr val="bg1"/>
                </a:solidFill>
                <a:sym typeface="+mn-ea"/>
              </a:rPr>
              <a:t>先序遍历算法</a:t>
            </a: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若二叉树为空树，则空操作；否则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访问根结点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先序遍历左子树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先序遍历右子树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70000"/>
              </a:lnSpc>
            </a:pP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8000" y="51371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91731" y="1342250"/>
            <a:ext cx="10725785" cy="448437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spcBef>
                <a:spcPts val="600"/>
              </a:spcBef>
            </a:pP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先序遍历算法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PREORDER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*r)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if ( r = = NULL ) return 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空树返回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 “ %c ”,r-&gt;data );  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先访问当前结点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再访问该结点的左子树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最后访问该结点右子树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1155" y="451485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-166053" y="1289051"/>
            <a:ext cx="10725785" cy="4484370"/>
          </a:xfrm>
        </p:spPr>
        <p:txBody>
          <a:bodyPr/>
          <a:lstStyle/>
          <a:p>
            <a:pPr lvl="1" indent="0" eaLnBrk="1" hangingPunct="1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PREORDER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*r)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indent="0" eaLnBrk="1" hangingPunct="1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4" indent="0" eaLnBrk="1" hangingPunct="1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( r = = NULL ) return 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4" indent="0" eaLnBrk="1" hangingPunct="1"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 " %c ",r-&gt;data );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4" indent="0" eaLnBrk="1" hangingPunct="1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PREORDER 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4" indent="0" eaLnBrk="1" hangingPunct="1"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PREORDER 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1553" name="页脚占位符 4"/>
          <p:cNvSpPr txBox="1">
            <a:spLocks noGrp="1"/>
          </p:cNvSpPr>
          <p:nvPr/>
        </p:nvSpPr>
        <p:spPr>
          <a:xfrm>
            <a:off x="4742815" y="6325870"/>
            <a:ext cx="3505200" cy="3651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/>
            <a:r>
              <a:rPr lang="en-US" altLang="zh-CN" sz="1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lang="en-US" altLang="zh-CN" sz="1400" dirty="0">
              <a:solidFill>
                <a:schemeClr val="tx2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20240" y="3611245"/>
            <a:ext cx="1143000" cy="1236663"/>
            <a:chOff x="0" y="0"/>
            <a:chExt cx="720" cy="779"/>
          </a:xfrm>
        </p:grpSpPr>
        <p:sp>
          <p:nvSpPr>
            <p:cNvPr id="151556" name="Line 4"/>
            <p:cNvSpPr/>
            <p:nvPr/>
          </p:nvSpPr>
          <p:spPr>
            <a:xfrm>
              <a:off x="288" y="240"/>
              <a:ext cx="0" cy="336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1557" name="Text Box 5"/>
            <p:cNvSpPr txBox="1"/>
            <p:nvPr/>
          </p:nvSpPr>
          <p:spPr>
            <a:xfrm>
              <a:off x="0" y="0"/>
              <a:ext cx="62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主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558" name="Text Box 6"/>
            <p:cNvSpPr txBox="1"/>
            <p:nvPr/>
          </p:nvSpPr>
          <p:spPr>
            <a:xfrm>
              <a:off x="48" y="528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Pre( T )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584" name="Line 7"/>
          <p:cNvSpPr/>
          <p:nvPr/>
        </p:nvSpPr>
        <p:spPr>
          <a:xfrm>
            <a:off x="2377440" y="4906645"/>
            <a:ext cx="0" cy="60960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2585" name="Text Box 8"/>
          <p:cNvSpPr txBox="1"/>
          <p:nvPr/>
        </p:nvSpPr>
        <p:spPr>
          <a:xfrm>
            <a:off x="9464040" y="3916045"/>
            <a:ext cx="762000" cy="3987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0"/>
          <p:cNvGrpSpPr/>
          <p:nvPr/>
        </p:nvGrpSpPr>
        <p:grpSpPr>
          <a:xfrm>
            <a:off x="8854440" y="3458845"/>
            <a:ext cx="533400" cy="838200"/>
            <a:chOff x="0" y="0"/>
            <a:chExt cx="336" cy="528"/>
          </a:xfrm>
        </p:grpSpPr>
        <p:sp>
          <p:nvSpPr>
            <p:cNvPr id="151562" name="Line 10"/>
            <p:cNvSpPr/>
            <p:nvPr/>
          </p:nvSpPr>
          <p:spPr>
            <a:xfrm>
              <a:off x="0" y="480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63" name="Line 11"/>
            <p:cNvSpPr/>
            <p:nvPr/>
          </p:nvSpPr>
          <p:spPr>
            <a:xfrm>
              <a:off x="192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64" name="Line 12"/>
            <p:cNvSpPr/>
            <p:nvPr/>
          </p:nvSpPr>
          <p:spPr>
            <a:xfrm>
              <a:off x="192" y="5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65" name="Line 13"/>
            <p:cNvSpPr/>
            <p:nvPr/>
          </p:nvSpPr>
          <p:spPr>
            <a:xfrm flipV="1">
              <a:off x="192" y="0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52591" name="Text Box 14"/>
          <p:cNvSpPr txBox="1"/>
          <p:nvPr/>
        </p:nvSpPr>
        <p:spPr>
          <a:xfrm>
            <a:off x="9464040" y="4830445"/>
            <a:ext cx="762000" cy="3987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8854440" y="4373245"/>
            <a:ext cx="533400" cy="838200"/>
            <a:chOff x="0" y="0"/>
            <a:chExt cx="336" cy="528"/>
          </a:xfrm>
        </p:grpSpPr>
        <p:sp>
          <p:nvSpPr>
            <p:cNvPr id="151568" name="Line 16"/>
            <p:cNvSpPr/>
            <p:nvPr/>
          </p:nvSpPr>
          <p:spPr>
            <a:xfrm>
              <a:off x="0" y="144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69" name="Line 17"/>
            <p:cNvSpPr/>
            <p:nvPr/>
          </p:nvSpPr>
          <p:spPr>
            <a:xfrm>
              <a:off x="192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70" name="Line 18"/>
            <p:cNvSpPr/>
            <p:nvPr/>
          </p:nvSpPr>
          <p:spPr>
            <a:xfrm>
              <a:off x="192" y="5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71" name="Line 19"/>
            <p:cNvSpPr/>
            <p:nvPr/>
          </p:nvSpPr>
          <p:spPr>
            <a:xfrm flipV="1">
              <a:off x="192" y="0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" name="Group 21"/>
          <p:cNvGrpSpPr/>
          <p:nvPr/>
        </p:nvGrpSpPr>
        <p:grpSpPr>
          <a:xfrm>
            <a:off x="4815840" y="4678045"/>
            <a:ext cx="609600" cy="1752600"/>
            <a:chOff x="0" y="0"/>
            <a:chExt cx="384" cy="1104"/>
          </a:xfrm>
        </p:grpSpPr>
        <p:sp>
          <p:nvSpPr>
            <p:cNvPr id="151573" name="Line 21"/>
            <p:cNvSpPr/>
            <p:nvPr/>
          </p:nvSpPr>
          <p:spPr>
            <a:xfrm>
              <a:off x="0" y="96"/>
              <a:ext cx="24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74" name="Line 22"/>
            <p:cNvSpPr/>
            <p:nvPr/>
          </p:nvSpPr>
          <p:spPr>
            <a:xfrm>
              <a:off x="240" y="0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75" name="Line 23"/>
            <p:cNvSpPr/>
            <p:nvPr/>
          </p:nvSpPr>
          <p:spPr>
            <a:xfrm>
              <a:off x="240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76" name="Line 24"/>
            <p:cNvSpPr/>
            <p:nvPr/>
          </p:nvSpPr>
          <p:spPr>
            <a:xfrm>
              <a:off x="240" y="1104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9" name="Group 26"/>
          <p:cNvGrpSpPr/>
          <p:nvPr/>
        </p:nvGrpSpPr>
        <p:grpSpPr>
          <a:xfrm>
            <a:off x="5501640" y="5897245"/>
            <a:ext cx="1371600" cy="398463"/>
            <a:chOff x="0" y="0"/>
            <a:chExt cx="864" cy="251"/>
          </a:xfrm>
        </p:grpSpPr>
        <p:sp>
          <p:nvSpPr>
            <p:cNvPr id="151578" name="Text Box 26"/>
            <p:cNvSpPr txBox="1"/>
            <p:nvPr/>
          </p:nvSpPr>
          <p:spPr>
            <a:xfrm>
              <a:off x="0" y="0"/>
              <a:ext cx="864" cy="251"/>
            </a:xfrm>
            <a:prstGeom prst="rect">
              <a:avLst/>
            </a:prstGeom>
            <a:solidFill>
              <a:srgbClr val="99FFCC"/>
            </a:solidFill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pre(T    R);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579" name="Line 27"/>
            <p:cNvSpPr/>
            <p:nvPr/>
          </p:nvSpPr>
          <p:spPr>
            <a:xfrm>
              <a:off x="432" y="14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2605" name="Text Box 28"/>
          <p:cNvSpPr txBox="1"/>
          <p:nvPr/>
        </p:nvSpPr>
        <p:spPr>
          <a:xfrm>
            <a:off x="7406640" y="5516245"/>
            <a:ext cx="762000" cy="3987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Group 30"/>
          <p:cNvGrpSpPr/>
          <p:nvPr/>
        </p:nvGrpSpPr>
        <p:grpSpPr>
          <a:xfrm>
            <a:off x="6797040" y="5059045"/>
            <a:ext cx="533400" cy="838200"/>
            <a:chOff x="0" y="0"/>
            <a:chExt cx="336" cy="528"/>
          </a:xfrm>
        </p:grpSpPr>
        <p:sp>
          <p:nvSpPr>
            <p:cNvPr id="151582" name="Line 30"/>
            <p:cNvSpPr/>
            <p:nvPr/>
          </p:nvSpPr>
          <p:spPr>
            <a:xfrm>
              <a:off x="0" y="480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83" name="Line 31"/>
            <p:cNvSpPr/>
            <p:nvPr/>
          </p:nvSpPr>
          <p:spPr>
            <a:xfrm>
              <a:off x="192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84" name="Line 32"/>
            <p:cNvSpPr/>
            <p:nvPr/>
          </p:nvSpPr>
          <p:spPr>
            <a:xfrm>
              <a:off x="192" y="5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85" name="Line 33"/>
            <p:cNvSpPr/>
            <p:nvPr/>
          </p:nvSpPr>
          <p:spPr>
            <a:xfrm flipV="1">
              <a:off x="192" y="0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52611" name="Text Box 34"/>
          <p:cNvSpPr txBox="1"/>
          <p:nvPr/>
        </p:nvSpPr>
        <p:spPr>
          <a:xfrm>
            <a:off x="7406640" y="6430645"/>
            <a:ext cx="762000" cy="3987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" name="Group 36"/>
          <p:cNvGrpSpPr/>
          <p:nvPr/>
        </p:nvGrpSpPr>
        <p:grpSpPr>
          <a:xfrm>
            <a:off x="6797040" y="5973445"/>
            <a:ext cx="533400" cy="838200"/>
            <a:chOff x="0" y="0"/>
            <a:chExt cx="336" cy="528"/>
          </a:xfrm>
        </p:grpSpPr>
        <p:sp>
          <p:nvSpPr>
            <p:cNvPr id="151588" name="Line 36"/>
            <p:cNvSpPr/>
            <p:nvPr/>
          </p:nvSpPr>
          <p:spPr>
            <a:xfrm>
              <a:off x="0" y="144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89" name="Line 37"/>
            <p:cNvSpPr/>
            <p:nvPr/>
          </p:nvSpPr>
          <p:spPr>
            <a:xfrm>
              <a:off x="192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0" name="Line 38"/>
            <p:cNvSpPr/>
            <p:nvPr/>
          </p:nvSpPr>
          <p:spPr>
            <a:xfrm>
              <a:off x="192" y="5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1" name="Line 39"/>
            <p:cNvSpPr/>
            <p:nvPr/>
          </p:nvSpPr>
          <p:spPr>
            <a:xfrm flipV="1">
              <a:off x="192" y="0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2" name="Group 41"/>
          <p:cNvGrpSpPr/>
          <p:nvPr/>
        </p:nvGrpSpPr>
        <p:grpSpPr>
          <a:xfrm>
            <a:off x="2910840" y="3306445"/>
            <a:ext cx="609600" cy="1752600"/>
            <a:chOff x="0" y="0"/>
            <a:chExt cx="384" cy="1104"/>
          </a:xfrm>
        </p:grpSpPr>
        <p:sp>
          <p:nvSpPr>
            <p:cNvPr id="151593" name="Line 41"/>
            <p:cNvSpPr/>
            <p:nvPr/>
          </p:nvSpPr>
          <p:spPr>
            <a:xfrm>
              <a:off x="0" y="864"/>
              <a:ext cx="24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4" name="Line 42"/>
            <p:cNvSpPr/>
            <p:nvPr/>
          </p:nvSpPr>
          <p:spPr>
            <a:xfrm>
              <a:off x="240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5" name="Line 43"/>
            <p:cNvSpPr/>
            <p:nvPr/>
          </p:nvSpPr>
          <p:spPr>
            <a:xfrm>
              <a:off x="240" y="1104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6" name="Line 44"/>
            <p:cNvSpPr/>
            <p:nvPr/>
          </p:nvSpPr>
          <p:spPr>
            <a:xfrm flipV="1">
              <a:off x="240" y="0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3" name="Group 46"/>
          <p:cNvGrpSpPr/>
          <p:nvPr/>
        </p:nvGrpSpPr>
        <p:grpSpPr>
          <a:xfrm>
            <a:off x="6720840" y="3077845"/>
            <a:ext cx="762000" cy="1752600"/>
            <a:chOff x="0" y="0"/>
            <a:chExt cx="480" cy="1104"/>
          </a:xfrm>
        </p:grpSpPr>
        <p:sp>
          <p:nvSpPr>
            <p:cNvPr id="151598" name="Line 46"/>
            <p:cNvSpPr/>
            <p:nvPr/>
          </p:nvSpPr>
          <p:spPr>
            <a:xfrm>
              <a:off x="336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599" name="Line 47"/>
            <p:cNvSpPr/>
            <p:nvPr/>
          </p:nvSpPr>
          <p:spPr>
            <a:xfrm>
              <a:off x="336" y="1104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0" name="Line 48"/>
            <p:cNvSpPr/>
            <p:nvPr/>
          </p:nvSpPr>
          <p:spPr>
            <a:xfrm>
              <a:off x="0" y="816"/>
              <a:ext cx="33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1" name="Line 49"/>
            <p:cNvSpPr/>
            <p:nvPr/>
          </p:nvSpPr>
          <p:spPr>
            <a:xfrm flipV="1">
              <a:off x="336" y="0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4" name="Group 51"/>
          <p:cNvGrpSpPr/>
          <p:nvPr/>
        </p:nvGrpSpPr>
        <p:grpSpPr>
          <a:xfrm>
            <a:off x="6720840" y="2163445"/>
            <a:ext cx="762000" cy="1828800"/>
            <a:chOff x="0" y="0"/>
            <a:chExt cx="480" cy="1152"/>
          </a:xfrm>
        </p:grpSpPr>
        <p:sp>
          <p:nvSpPr>
            <p:cNvPr id="151603" name="Line 51"/>
            <p:cNvSpPr/>
            <p:nvPr/>
          </p:nvSpPr>
          <p:spPr>
            <a:xfrm>
              <a:off x="192" y="336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4" name="Line 52"/>
            <p:cNvSpPr/>
            <p:nvPr/>
          </p:nvSpPr>
          <p:spPr>
            <a:xfrm>
              <a:off x="336" y="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5" name="Line 53"/>
            <p:cNvSpPr/>
            <p:nvPr/>
          </p:nvSpPr>
          <p:spPr>
            <a:xfrm>
              <a:off x="336" y="5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6" name="Line 54"/>
            <p:cNvSpPr/>
            <p:nvPr/>
          </p:nvSpPr>
          <p:spPr>
            <a:xfrm flipV="1">
              <a:off x="336" y="0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7" name="Line 55"/>
            <p:cNvSpPr/>
            <p:nvPr/>
          </p:nvSpPr>
          <p:spPr>
            <a:xfrm>
              <a:off x="0" y="1152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608" name="Line 56"/>
            <p:cNvSpPr/>
            <p:nvPr/>
          </p:nvSpPr>
          <p:spPr>
            <a:xfrm flipV="1">
              <a:off x="192" y="336"/>
              <a:ext cx="0" cy="816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5" name="Group 58"/>
          <p:cNvGrpSpPr/>
          <p:nvPr/>
        </p:nvGrpSpPr>
        <p:grpSpPr>
          <a:xfrm>
            <a:off x="7559040" y="4373245"/>
            <a:ext cx="1371600" cy="396875"/>
            <a:chOff x="0" y="0"/>
            <a:chExt cx="864" cy="250"/>
          </a:xfrm>
        </p:grpSpPr>
        <p:sp>
          <p:nvSpPr>
            <p:cNvPr id="151610" name="Text Box 58"/>
            <p:cNvSpPr txBox="1"/>
            <p:nvPr/>
          </p:nvSpPr>
          <p:spPr>
            <a:xfrm>
              <a:off x="0" y="0"/>
              <a:ext cx="864" cy="250"/>
            </a:xfrm>
            <a:prstGeom prst="rect">
              <a:avLst/>
            </a:prstGeom>
            <a:solidFill>
              <a:srgbClr val="CCFF99"/>
            </a:solidFill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pre(T    R);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1611" name="Line 59"/>
            <p:cNvSpPr/>
            <p:nvPr/>
          </p:nvSpPr>
          <p:spPr>
            <a:xfrm>
              <a:off x="432" y="14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1612" name="Oval 60"/>
          <p:cNvSpPr/>
          <p:nvPr/>
        </p:nvSpPr>
        <p:spPr>
          <a:xfrm>
            <a:off x="9083040" y="410845"/>
            <a:ext cx="533400" cy="4572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613" name="Oval 61"/>
          <p:cNvSpPr/>
          <p:nvPr/>
        </p:nvSpPr>
        <p:spPr>
          <a:xfrm>
            <a:off x="9921240" y="1249045"/>
            <a:ext cx="533400" cy="457200"/>
          </a:xfrm>
          <a:prstGeom prst="ellipse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614" name="Oval 62"/>
          <p:cNvSpPr/>
          <p:nvPr/>
        </p:nvSpPr>
        <p:spPr>
          <a:xfrm>
            <a:off x="8244840" y="1249045"/>
            <a:ext cx="533400" cy="4572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615" name="Oval 63"/>
          <p:cNvSpPr/>
          <p:nvPr/>
        </p:nvSpPr>
        <p:spPr>
          <a:xfrm>
            <a:off x="9159240" y="2315845"/>
            <a:ext cx="533400" cy="4572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1616" name="AutoShape 64"/>
          <p:cNvCxnSpPr>
            <a:stCxn id="151612" idx="3"/>
            <a:endCxn id="151614" idx="7"/>
          </p:cNvCxnSpPr>
          <p:nvPr/>
        </p:nvCxnSpPr>
        <p:spPr>
          <a:xfrm flipH="1">
            <a:off x="8699818" y="801370"/>
            <a:ext cx="461010" cy="5143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17" name="AutoShape 65"/>
          <p:cNvCxnSpPr>
            <a:stCxn id="151612" idx="5"/>
            <a:endCxn id="151613" idx="1"/>
          </p:cNvCxnSpPr>
          <p:nvPr/>
        </p:nvCxnSpPr>
        <p:spPr>
          <a:xfrm>
            <a:off x="9538018" y="801370"/>
            <a:ext cx="461010" cy="5143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18" name="AutoShape 66"/>
          <p:cNvCxnSpPr>
            <a:stCxn id="151614" idx="5"/>
            <a:endCxn id="151615" idx="1"/>
          </p:cNvCxnSpPr>
          <p:nvPr/>
        </p:nvCxnSpPr>
        <p:spPr>
          <a:xfrm>
            <a:off x="8699818" y="1639570"/>
            <a:ext cx="537210" cy="7429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" name="Group 68"/>
          <p:cNvGrpSpPr/>
          <p:nvPr/>
        </p:nvGrpSpPr>
        <p:grpSpPr>
          <a:xfrm>
            <a:off x="5425440" y="1233170"/>
            <a:ext cx="3352800" cy="2913063"/>
            <a:chOff x="0" y="0"/>
            <a:chExt cx="2112" cy="1835"/>
          </a:xfrm>
        </p:grpSpPr>
        <p:grpSp>
          <p:nvGrpSpPr>
            <p:cNvPr id="151620" name="Group 69"/>
            <p:cNvGrpSpPr/>
            <p:nvPr/>
          </p:nvGrpSpPr>
          <p:grpSpPr>
            <a:xfrm>
              <a:off x="0" y="1056"/>
              <a:ext cx="864" cy="779"/>
              <a:chOff x="0" y="0"/>
              <a:chExt cx="864" cy="779"/>
            </a:xfrm>
          </p:grpSpPr>
          <p:sp>
            <p:nvSpPr>
              <p:cNvPr id="151621" name="Text Box 69"/>
              <p:cNvSpPr txBox="1"/>
              <p:nvPr/>
            </p:nvSpPr>
            <p:spPr>
              <a:xfrm>
                <a:off x="0" y="0"/>
                <a:ext cx="240" cy="29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22" name="Line 70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51623" name="Oval 71"/>
              <p:cNvSpPr/>
              <p:nvPr/>
            </p:nvSpPr>
            <p:spPr>
              <a:xfrm>
                <a:off x="384" y="48"/>
                <a:ext cx="192" cy="192"/>
              </a:xfrm>
              <a:prstGeom prst="ellipse">
                <a:avLst/>
              </a:prstGeom>
              <a:solidFill>
                <a:srgbClr val="CCFF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24" name="Text Box 72"/>
              <p:cNvSpPr txBox="1"/>
              <p:nvPr/>
            </p:nvSpPr>
            <p:spPr>
              <a:xfrm>
                <a:off x="0" y="288"/>
                <a:ext cx="864" cy="251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printf(B);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25" name="Text Box 73"/>
              <p:cNvSpPr txBox="1"/>
              <p:nvPr/>
            </p:nvSpPr>
            <p:spPr>
              <a:xfrm>
                <a:off x="0" y="528"/>
                <a:ext cx="864" cy="251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pre(T    L);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26" name="Line 74"/>
              <p:cNvSpPr/>
              <p:nvPr/>
            </p:nvSpPr>
            <p:spPr>
              <a:xfrm>
                <a:off x="432" y="67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27" name="Oval 75"/>
            <p:cNvSpPr/>
            <p:nvPr/>
          </p:nvSpPr>
          <p:spPr>
            <a:xfrm>
              <a:off x="1776" y="0"/>
              <a:ext cx="336" cy="288"/>
            </a:xfrm>
            <a:prstGeom prst="ellipse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77"/>
          <p:cNvGrpSpPr/>
          <p:nvPr/>
        </p:nvGrpSpPr>
        <p:grpSpPr>
          <a:xfrm>
            <a:off x="3520440" y="410845"/>
            <a:ext cx="6096000" cy="4208463"/>
            <a:chOff x="0" y="0"/>
            <a:chExt cx="3840" cy="2651"/>
          </a:xfrm>
        </p:grpSpPr>
        <p:grpSp>
          <p:nvGrpSpPr>
            <p:cNvPr id="151629" name="Group 78"/>
            <p:cNvGrpSpPr/>
            <p:nvPr/>
          </p:nvGrpSpPr>
          <p:grpSpPr>
            <a:xfrm>
              <a:off x="0" y="1872"/>
              <a:ext cx="864" cy="779"/>
              <a:chOff x="0" y="0"/>
              <a:chExt cx="864" cy="779"/>
            </a:xfrm>
          </p:grpSpPr>
          <p:sp>
            <p:nvSpPr>
              <p:cNvPr id="151630" name="Text Box 78"/>
              <p:cNvSpPr txBox="1"/>
              <p:nvPr/>
            </p:nvSpPr>
            <p:spPr>
              <a:xfrm>
                <a:off x="0" y="0"/>
                <a:ext cx="240" cy="29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31" name="Line 79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51632" name="Oval 80"/>
              <p:cNvSpPr/>
              <p:nvPr/>
            </p:nvSpPr>
            <p:spPr>
              <a:xfrm>
                <a:off x="384" y="48"/>
                <a:ext cx="192" cy="192"/>
              </a:xfrm>
              <a:prstGeom prst="ellipse">
                <a:avLst/>
              </a:prstGeom>
              <a:solidFill>
                <a:srgbClr val="CCFF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33" name="Text Box 81"/>
              <p:cNvSpPr txBox="1"/>
              <p:nvPr/>
            </p:nvSpPr>
            <p:spPr>
              <a:xfrm>
                <a:off x="0" y="288"/>
                <a:ext cx="864" cy="251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printf(A);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34" name="Text Box 82"/>
              <p:cNvSpPr txBox="1"/>
              <p:nvPr/>
            </p:nvSpPr>
            <p:spPr>
              <a:xfrm>
                <a:off x="0" y="528"/>
                <a:ext cx="864" cy="251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pre(T    L);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35" name="Line 83"/>
              <p:cNvSpPr/>
              <p:nvPr/>
            </p:nvSpPr>
            <p:spPr>
              <a:xfrm>
                <a:off x="432" y="67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36" name="Oval 84"/>
            <p:cNvSpPr/>
            <p:nvPr/>
          </p:nvSpPr>
          <p:spPr>
            <a:xfrm>
              <a:off x="3504" y="0"/>
              <a:ext cx="336" cy="288"/>
            </a:xfrm>
            <a:prstGeom prst="ellipse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86"/>
          <p:cNvGrpSpPr/>
          <p:nvPr/>
        </p:nvGrpSpPr>
        <p:grpSpPr>
          <a:xfrm>
            <a:off x="7559040" y="2315845"/>
            <a:ext cx="2133600" cy="2506663"/>
            <a:chOff x="0" y="0"/>
            <a:chExt cx="1344" cy="1579"/>
          </a:xfrm>
        </p:grpSpPr>
        <p:grpSp>
          <p:nvGrpSpPr>
            <p:cNvPr id="151638" name="Group 87"/>
            <p:cNvGrpSpPr/>
            <p:nvPr/>
          </p:nvGrpSpPr>
          <p:grpSpPr>
            <a:xfrm>
              <a:off x="0" y="528"/>
              <a:ext cx="864" cy="1051"/>
              <a:chOff x="0" y="0"/>
              <a:chExt cx="864" cy="1051"/>
            </a:xfrm>
          </p:grpSpPr>
          <p:sp>
            <p:nvSpPr>
              <p:cNvPr id="151639" name="Text Box 87"/>
              <p:cNvSpPr txBox="1"/>
              <p:nvPr/>
            </p:nvSpPr>
            <p:spPr>
              <a:xfrm>
                <a:off x="0" y="0"/>
                <a:ext cx="240" cy="29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40" name="Line 88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51641" name="Oval 89"/>
              <p:cNvSpPr/>
              <p:nvPr/>
            </p:nvSpPr>
            <p:spPr>
              <a:xfrm>
                <a:off x="432" y="48"/>
                <a:ext cx="192" cy="19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42" name="Text Box 90"/>
              <p:cNvSpPr txBox="1"/>
              <p:nvPr/>
            </p:nvSpPr>
            <p:spPr>
              <a:xfrm>
                <a:off x="0" y="288"/>
                <a:ext cx="864" cy="29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printf(D);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43" name="Text Box 91"/>
              <p:cNvSpPr txBox="1"/>
              <p:nvPr/>
            </p:nvSpPr>
            <p:spPr>
              <a:xfrm>
                <a:off x="0" y="528"/>
                <a:ext cx="864" cy="523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pre(T    L);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44" name="Line 92"/>
              <p:cNvSpPr/>
              <p:nvPr/>
            </p:nvSpPr>
            <p:spPr>
              <a:xfrm>
                <a:off x="432" y="672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45" name="Oval 93"/>
            <p:cNvSpPr/>
            <p:nvPr/>
          </p:nvSpPr>
          <p:spPr>
            <a:xfrm>
              <a:off x="1008" y="0"/>
              <a:ext cx="336" cy="28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95"/>
          <p:cNvGrpSpPr/>
          <p:nvPr/>
        </p:nvGrpSpPr>
        <p:grpSpPr>
          <a:xfrm>
            <a:off x="5501640" y="1225233"/>
            <a:ext cx="4953000" cy="4741863"/>
            <a:chOff x="0" y="0"/>
            <a:chExt cx="3120" cy="2987"/>
          </a:xfrm>
        </p:grpSpPr>
        <p:grpSp>
          <p:nvGrpSpPr>
            <p:cNvPr id="151647" name="Group 96"/>
            <p:cNvGrpSpPr/>
            <p:nvPr/>
          </p:nvGrpSpPr>
          <p:grpSpPr>
            <a:xfrm>
              <a:off x="0" y="2208"/>
              <a:ext cx="864" cy="779"/>
              <a:chOff x="0" y="0"/>
              <a:chExt cx="864" cy="779"/>
            </a:xfrm>
          </p:grpSpPr>
          <p:sp>
            <p:nvSpPr>
              <p:cNvPr id="151648" name="Text Box 96"/>
              <p:cNvSpPr txBox="1"/>
              <p:nvPr/>
            </p:nvSpPr>
            <p:spPr>
              <a:xfrm>
                <a:off x="0" y="0"/>
                <a:ext cx="240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49" name="Line 97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51650" name="Oval 98"/>
              <p:cNvSpPr/>
              <p:nvPr/>
            </p:nvSpPr>
            <p:spPr>
              <a:xfrm>
                <a:off x="432" y="48"/>
                <a:ext cx="192" cy="192"/>
              </a:xfrm>
              <a:prstGeom prst="ellipse">
                <a:avLst/>
              </a:prstGeom>
              <a:solidFill>
                <a:srgbClr val="FFFFCC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51" name="Text Box 99"/>
              <p:cNvSpPr txBox="1"/>
              <p:nvPr/>
            </p:nvSpPr>
            <p:spPr>
              <a:xfrm>
                <a:off x="0" y="288"/>
                <a:ext cx="864" cy="251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printf(C);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52" name="Text Box 100"/>
              <p:cNvSpPr txBox="1"/>
              <p:nvPr/>
            </p:nvSpPr>
            <p:spPr>
              <a:xfrm>
                <a:off x="0" y="528"/>
                <a:ext cx="864" cy="251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pre(T    L);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53" name="Line 101"/>
              <p:cNvSpPr/>
              <p:nvPr/>
            </p:nvSpPr>
            <p:spPr>
              <a:xfrm>
                <a:off x="432" y="67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54" name="Oval 102"/>
            <p:cNvSpPr/>
            <p:nvPr/>
          </p:nvSpPr>
          <p:spPr>
            <a:xfrm>
              <a:off x="2784" y="0"/>
              <a:ext cx="336" cy="288"/>
            </a:xfrm>
            <a:prstGeom prst="ellipse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104"/>
          <p:cNvGrpSpPr/>
          <p:nvPr/>
        </p:nvGrpSpPr>
        <p:grpSpPr>
          <a:xfrm>
            <a:off x="4815840" y="715645"/>
            <a:ext cx="4038600" cy="3886200"/>
            <a:chOff x="0" y="0"/>
            <a:chExt cx="2544" cy="2448"/>
          </a:xfrm>
        </p:grpSpPr>
        <p:grpSp>
          <p:nvGrpSpPr>
            <p:cNvPr id="151656" name="Group 105"/>
            <p:cNvGrpSpPr/>
            <p:nvPr/>
          </p:nvGrpSpPr>
          <p:grpSpPr>
            <a:xfrm>
              <a:off x="0" y="1344"/>
              <a:ext cx="384" cy="1104"/>
              <a:chOff x="0" y="0"/>
              <a:chExt cx="384" cy="1104"/>
            </a:xfrm>
          </p:grpSpPr>
          <p:sp>
            <p:nvSpPr>
              <p:cNvPr id="151657" name="Line 105"/>
              <p:cNvSpPr/>
              <p:nvPr/>
            </p:nvSpPr>
            <p:spPr>
              <a:xfrm>
                <a:off x="240" y="0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1658" name="Line 106"/>
              <p:cNvSpPr/>
              <p:nvPr/>
            </p:nvSpPr>
            <p:spPr>
              <a:xfrm>
                <a:off x="240" y="1104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1659" name="Line 107"/>
              <p:cNvSpPr/>
              <p:nvPr/>
            </p:nvSpPr>
            <p:spPr>
              <a:xfrm>
                <a:off x="0" y="1008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1660" name="Line 108"/>
              <p:cNvSpPr/>
              <p:nvPr/>
            </p:nvSpPr>
            <p:spPr>
              <a:xfrm flipV="1">
                <a:off x="240" y="0"/>
                <a:ext cx="0" cy="1104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51661" name="AutoShape 109"/>
            <p:cNvSpPr/>
            <p:nvPr/>
          </p:nvSpPr>
          <p:spPr>
            <a:xfrm rot="-3001265">
              <a:off x="2376" y="120"/>
              <a:ext cx="288" cy="48"/>
            </a:xfrm>
            <a:prstGeom prst="leftArrow">
              <a:avLst>
                <a:gd name="adj1" fmla="val 50000"/>
                <a:gd name="adj2" fmla="val 150000"/>
              </a:avLst>
            </a:prstGeom>
            <a:solidFill>
              <a:srgbClr val="FF3300"/>
            </a:solid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687" name="Text Box 110"/>
          <p:cNvSpPr txBox="1"/>
          <p:nvPr/>
        </p:nvSpPr>
        <p:spPr>
          <a:xfrm>
            <a:off x="7559040" y="2620645"/>
            <a:ext cx="762000" cy="39878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" name="Group 112"/>
          <p:cNvGrpSpPr/>
          <p:nvPr/>
        </p:nvGrpSpPr>
        <p:grpSpPr>
          <a:xfrm>
            <a:off x="6644640" y="1325245"/>
            <a:ext cx="1982788" cy="1300163"/>
            <a:chOff x="0" y="0"/>
            <a:chExt cx="1249" cy="819"/>
          </a:xfrm>
        </p:grpSpPr>
        <p:grpSp>
          <p:nvGrpSpPr>
            <p:cNvPr id="151664" name="Group 113"/>
            <p:cNvGrpSpPr/>
            <p:nvPr/>
          </p:nvGrpSpPr>
          <p:grpSpPr>
            <a:xfrm>
              <a:off x="579" y="529"/>
              <a:ext cx="670" cy="290"/>
              <a:chOff x="0" y="1"/>
              <a:chExt cx="670" cy="290"/>
            </a:xfrm>
          </p:grpSpPr>
          <p:sp>
            <p:nvSpPr>
              <p:cNvPr id="151665" name="Text Box 113"/>
              <p:cNvSpPr txBox="1"/>
              <p:nvPr/>
            </p:nvSpPr>
            <p:spPr>
              <a:xfrm>
                <a:off x="0" y="1"/>
                <a:ext cx="240" cy="29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66" name="Text Box 114"/>
              <p:cNvSpPr txBox="1"/>
              <p:nvPr/>
            </p:nvSpPr>
            <p:spPr>
              <a:xfrm rot="-5308317">
                <a:off x="405" y="-24"/>
                <a:ext cx="240" cy="29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67" name="Line 115"/>
              <p:cNvSpPr/>
              <p:nvPr/>
            </p:nvSpPr>
            <p:spPr>
              <a:xfrm>
                <a:off x="192" y="145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68" name="Text Box 116"/>
            <p:cNvSpPr txBox="1"/>
            <p:nvPr/>
          </p:nvSpPr>
          <p:spPr>
            <a:xfrm>
              <a:off x="0" y="0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左是空返回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Group 118"/>
          <p:cNvGrpSpPr/>
          <p:nvPr/>
        </p:nvGrpSpPr>
        <p:grpSpPr>
          <a:xfrm>
            <a:off x="5425440" y="1706245"/>
            <a:ext cx="3657600" cy="2836863"/>
            <a:chOff x="0" y="0"/>
            <a:chExt cx="2304" cy="1787"/>
          </a:xfrm>
        </p:grpSpPr>
        <p:grpSp>
          <p:nvGrpSpPr>
            <p:cNvPr id="151670" name="Group 119"/>
            <p:cNvGrpSpPr/>
            <p:nvPr/>
          </p:nvGrpSpPr>
          <p:grpSpPr>
            <a:xfrm>
              <a:off x="0" y="1536"/>
              <a:ext cx="864" cy="251"/>
              <a:chOff x="0" y="0"/>
              <a:chExt cx="864" cy="251"/>
            </a:xfrm>
          </p:grpSpPr>
          <p:sp>
            <p:nvSpPr>
              <p:cNvPr id="151671" name="Text Box 119"/>
              <p:cNvSpPr txBox="1"/>
              <p:nvPr/>
            </p:nvSpPr>
            <p:spPr>
              <a:xfrm>
                <a:off x="0" y="0"/>
                <a:ext cx="864" cy="251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pre(T    R);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72" name="Line 120"/>
              <p:cNvSpPr/>
              <p:nvPr/>
            </p:nvSpPr>
            <p:spPr>
              <a:xfrm>
                <a:off x="432" y="14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73" name="AutoShape 121"/>
            <p:cNvSpPr/>
            <p:nvPr/>
          </p:nvSpPr>
          <p:spPr>
            <a:xfrm rot="3494401">
              <a:off x="2112" y="144"/>
              <a:ext cx="336" cy="48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Group 123"/>
          <p:cNvGrpSpPr/>
          <p:nvPr/>
        </p:nvGrpSpPr>
        <p:grpSpPr>
          <a:xfrm>
            <a:off x="8625840" y="2773045"/>
            <a:ext cx="1830388" cy="1146175"/>
            <a:chOff x="0" y="0"/>
            <a:chExt cx="1153" cy="722"/>
          </a:xfrm>
        </p:grpSpPr>
        <p:grpSp>
          <p:nvGrpSpPr>
            <p:cNvPr id="151675" name="Group 124"/>
            <p:cNvGrpSpPr/>
            <p:nvPr/>
          </p:nvGrpSpPr>
          <p:grpSpPr>
            <a:xfrm>
              <a:off x="528" y="432"/>
              <a:ext cx="625" cy="290"/>
              <a:chOff x="0" y="0"/>
              <a:chExt cx="625" cy="290"/>
            </a:xfrm>
          </p:grpSpPr>
          <p:sp>
            <p:nvSpPr>
              <p:cNvPr id="151676" name="Text Box 124"/>
              <p:cNvSpPr txBox="1"/>
              <p:nvPr/>
            </p:nvSpPr>
            <p:spPr>
              <a:xfrm>
                <a:off x="0" y="0"/>
                <a:ext cx="240" cy="29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77" name="Text Box 125"/>
              <p:cNvSpPr txBox="1"/>
              <p:nvPr/>
            </p:nvSpPr>
            <p:spPr>
              <a:xfrm rot="-5308317">
                <a:off x="360" y="-24"/>
                <a:ext cx="240" cy="29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78" name="Line 126"/>
              <p:cNvSpPr/>
              <p:nvPr/>
            </p:nvSpPr>
            <p:spPr>
              <a:xfrm>
                <a:off x="192" y="9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79" name="Text Box 127"/>
            <p:cNvSpPr txBox="1"/>
            <p:nvPr/>
          </p:nvSpPr>
          <p:spPr>
            <a:xfrm>
              <a:off x="0" y="0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左是空返回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129"/>
          <p:cNvGrpSpPr/>
          <p:nvPr/>
        </p:nvGrpSpPr>
        <p:grpSpPr>
          <a:xfrm>
            <a:off x="8626200" y="3091539"/>
            <a:ext cx="1830388" cy="1755775"/>
            <a:chOff x="0" y="0"/>
            <a:chExt cx="1153" cy="1106"/>
          </a:xfrm>
        </p:grpSpPr>
        <p:grpSp>
          <p:nvGrpSpPr>
            <p:cNvPr id="151681" name="Group 130"/>
            <p:cNvGrpSpPr/>
            <p:nvPr/>
          </p:nvGrpSpPr>
          <p:grpSpPr>
            <a:xfrm>
              <a:off x="528" y="816"/>
              <a:ext cx="625" cy="290"/>
              <a:chOff x="0" y="0"/>
              <a:chExt cx="625" cy="290"/>
            </a:xfrm>
          </p:grpSpPr>
          <p:sp>
            <p:nvSpPr>
              <p:cNvPr id="151682" name="Text Box 130"/>
              <p:cNvSpPr txBox="1"/>
              <p:nvPr/>
            </p:nvSpPr>
            <p:spPr>
              <a:xfrm>
                <a:off x="0" y="0"/>
                <a:ext cx="240" cy="290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83" name="Text Box 131"/>
              <p:cNvSpPr txBox="1"/>
              <p:nvPr/>
            </p:nvSpPr>
            <p:spPr>
              <a:xfrm rot="-5308317">
                <a:off x="360" y="-24"/>
                <a:ext cx="240" cy="290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84" name="Line 132"/>
              <p:cNvSpPr/>
              <p:nvPr/>
            </p:nvSpPr>
            <p:spPr>
              <a:xfrm>
                <a:off x="192" y="9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85" name="Text Box 133"/>
            <p:cNvSpPr txBox="1"/>
            <p:nvPr/>
          </p:nvSpPr>
          <p:spPr>
            <a:xfrm>
              <a:off x="0" y="0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右是空返回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135"/>
          <p:cNvGrpSpPr/>
          <p:nvPr/>
        </p:nvGrpSpPr>
        <p:grpSpPr>
          <a:xfrm>
            <a:off x="7406640" y="1706245"/>
            <a:ext cx="3352800" cy="3749675"/>
            <a:chOff x="0" y="0"/>
            <a:chExt cx="2112" cy="2362"/>
          </a:xfrm>
        </p:grpSpPr>
        <p:grpSp>
          <p:nvGrpSpPr>
            <p:cNvPr id="151687" name="Group 136"/>
            <p:cNvGrpSpPr/>
            <p:nvPr/>
          </p:nvGrpSpPr>
          <p:grpSpPr>
            <a:xfrm>
              <a:off x="0" y="2112"/>
              <a:ext cx="624" cy="250"/>
              <a:chOff x="0" y="0"/>
              <a:chExt cx="624" cy="250"/>
            </a:xfrm>
          </p:grpSpPr>
          <p:sp>
            <p:nvSpPr>
              <p:cNvPr id="151688" name="Text Box 136"/>
              <p:cNvSpPr txBox="1"/>
              <p:nvPr/>
            </p:nvSpPr>
            <p:spPr>
              <a:xfrm>
                <a:off x="0" y="0"/>
                <a:ext cx="240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89" name="Text Box 137"/>
              <p:cNvSpPr txBox="1"/>
              <p:nvPr/>
            </p:nvSpPr>
            <p:spPr>
              <a:xfrm rot="-5308317">
                <a:off x="360" y="-24"/>
                <a:ext cx="240" cy="288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90" name="Line 138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91" name="Text Box 139"/>
            <p:cNvSpPr txBox="1"/>
            <p:nvPr/>
          </p:nvSpPr>
          <p:spPr>
            <a:xfrm>
              <a:off x="1152" y="0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左是空返回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2817" name="Group 141"/>
          <p:cNvGrpSpPr/>
          <p:nvPr/>
        </p:nvGrpSpPr>
        <p:grpSpPr>
          <a:xfrm>
            <a:off x="7406640" y="2011045"/>
            <a:ext cx="3352800" cy="4359275"/>
            <a:chOff x="0" y="0"/>
            <a:chExt cx="2112" cy="2746"/>
          </a:xfrm>
        </p:grpSpPr>
        <p:grpSp>
          <p:nvGrpSpPr>
            <p:cNvPr id="151693" name="Group 142"/>
            <p:cNvGrpSpPr/>
            <p:nvPr/>
          </p:nvGrpSpPr>
          <p:grpSpPr>
            <a:xfrm>
              <a:off x="0" y="2496"/>
              <a:ext cx="624" cy="250"/>
              <a:chOff x="0" y="0"/>
              <a:chExt cx="624" cy="250"/>
            </a:xfrm>
          </p:grpSpPr>
          <p:sp>
            <p:nvSpPr>
              <p:cNvPr id="151694" name="Text Box 142"/>
              <p:cNvSpPr txBox="1"/>
              <p:nvPr/>
            </p:nvSpPr>
            <p:spPr>
              <a:xfrm>
                <a:off x="0" y="0"/>
                <a:ext cx="240" cy="250"/>
              </a:xfrm>
              <a:prstGeom prst="rect">
                <a:avLst/>
              </a:prstGeom>
              <a:solidFill>
                <a:srgbClr val="99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95" name="Text Box 143"/>
              <p:cNvSpPr txBox="1"/>
              <p:nvPr/>
            </p:nvSpPr>
            <p:spPr>
              <a:xfrm rot="-5308317">
                <a:off x="360" y="-24"/>
                <a:ext cx="240" cy="288"/>
              </a:xfrm>
              <a:prstGeom prst="rect">
                <a:avLst/>
              </a:prstGeom>
              <a:solidFill>
                <a:srgbClr val="99FFCC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696" name="Line 144"/>
              <p:cNvSpPr/>
              <p:nvPr/>
            </p:nvSpPr>
            <p:spPr>
              <a:xfrm>
                <a:off x="192" y="14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151697" name="Text Box 145"/>
            <p:cNvSpPr txBox="1"/>
            <p:nvPr/>
          </p:nvSpPr>
          <p:spPr>
            <a:xfrm>
              <a:off x="1152" y="0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右是空返回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2821" name="Group 147"/>
          <p:cNvGrpSpPr/>
          <p:nvPr/>
        </p:nvGrpSpPr>
        <p:grpSpPr>
          <a:xfrm>
            <a:off x="3520440" y="715645"/>
            <a:ext cx="6400800" cy="4284663"/>
            <a:chOff x="0" y="0"/>
            <a:chExt cx="4032" cy="2699"/>
          </a:xfrm>
        </p:grpSpPr>
        <p:grpSp>
          <p:nvGrpSpPr>
            <p:cNvPr id="151699" name="Group 148"/>
            <p:cNvGrpSpPr/>
            <p:nvPr/>
          </p:nvGrpSpPr>
          <p:grpSpPr>
            <a:xfrm>
              <a:off x="0" y="0"/>
              <a:ext cx="4032" cy="2699"/>
              <a:chOff x="0" y="0"/>
              <a:chExt cx="4032" cy="2699"/>
            </a:xfrm>
          </p:grpSpPr>
          <p:grpSp>
            <p:nvGrpSpPr>
              <p:cNvPr id="151700" name="Group 149"/>
              <p:cNvGrpSpPr/>
              <p:nvPr/>
            </p:nvGrpSpPr>
            <p:grpSpPr>
              <a:xfrm>
                <a:off x="0" y="2448"/>
                <a:ext cx="864" cy="251"/>
                <a:chOff x="0" y="0"/>
                <a:chExt cx="864" cy="251"/>
              </a:xfrm>
            </p:grpSpPr>
            <p:sp>
              <p:nvSpPr>
                <p:cNvPr id="151701" name="Text Box 149"/>
                <p:cNvSpPr txBox="1"/>
                <p:nvPr/>
              </p:nvSpPr>
              <p:spPr>
                <a:xfrm>
                  <a:off x="0" y="0"/>
                  <a:ext cx="864" cy="251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pre(T    R);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1702" name="Line 150"/>
                <p:cNvSpPr/>
                <p:nvPr/>
              </p:nvSpPr>
              <p:spPr>
                <a:xfrm>
                  <a:off x="432" y="144"/>
                  <a:ext cx="144" cy="0"/>
                </a:xfrm>
                <a:prstGeom prst="line">
                  <a:avLst/>
                </a:prstGeom>
                <a:ln w="9525">
                  <a:noFill/>
                </a:ln>
              </p:spPr>
            </p:sp>
          </p:grpSp>
          <p:sp>
            <p:nvSpPr>
              <p:cNvPr id="151703" name="AutoShape 151"/>
              <p:cNvSpPr/>
              <p:nvPr/>
            </p:nvSpPr>
            <p:spPr>
              <a:xfrm rot="2761019">
                <a:off x="3840" y="144"/>
                <a:ext cx="336" cy="48"/>
              </a:xfrm>
              <a:prstGeom prst="rightArrow">
                <a:avLst>
                  <a:gd name="adj1" fmla="val 50000"/>
                  <a:gd name="adj2" fmla="val 175000"/>
                </a:avLst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1704" name="Line 152"/>
            <p:cNvSpPr/>
            <p:nvPr/>
          </p:nvSpPr>
          <p:spPr>
            <a:xfrm>
              <a:off x="432" y="25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52731" name="Text Box 154"/>
          <p:cNvSpPr txBox="1"/>
          <p:nvPr/>
        </p:nvSpPr>
        <p:spPr>
          <a:xfrm>
            <a:off x="1844040" y="5656104"/>
            <a:ext cx="324675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先序序列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  B   D  C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5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5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62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62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62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62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5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0" dur="500"/>
                                        <p:tgtEl>
                                          <p:spTgt spid="152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5" grpId="0" bldLvl="0" animBg="1"/>
      <p:bldP spid="152591" grpId="0" bldLvl="0" animBg="1"/>
      <p:bldP spid="152605" grpId="0" bldLvl="0" animBg="1"/>
      <p:bldP spid="152611" grpId="0" bldLvl="0" animBg="1"/>
      <p:bldP spid="152687" grpId="0" bldLvl="0" animBg="1"/>
      <p:bldP spid="1527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sz="2400" b="1" dirty="0">
                <a:solidFill>
                  <a:schemeClr val="bg1"/>
                </a:solidFill>
                <a:sym typeface="+mn-ea"/>
              </a:rPr>
              <a:t>中序遍历算法</a:t>
            </a: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若二叉树为空树，则空操作；否则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中序遍历左子树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访问根结点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7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中序遍历右子树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70000"/>
              </a:lnSpc>
            </a:pP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28185" y="1479833"/>
            <a:ext cx="7920880" cy="5049872"/>
          </a:xfrm>
        </p:spPr>
        <p:txBody>
          <a:bodyPr/>
          <a:lstStyle/>
          <a:p>
            <a:pPr lvl="1" eaLnBrk="1" hangingPunct="1">
              <a:lnSpc>
                <a:spcPct val="16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中序遍历算法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INORDER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*r)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if ( r = = NULL ) return ;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空树返回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先访问该结点的左子树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 “ %c ”,r-&gt;data );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再访问当前结点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最后访问该结点右子树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</a:pPr>
            <a:endParaRPr lang="en-US" altLang="zh-CN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4972" y="1336040"/>
            <a:ext cx="6192688" cy="4186401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sz="2400" b="1" dirty="0">
                <a:solidFill>
                  <a:schemeClr val="bg1"/>
                </a:solidFill>
                <a:sym typeface="+mn-ea"/>
              </a:rPr>
              <a:t>后序遍历算法</a:t>
            </a:r>
            <a:endParaRPr lang="zh-CN" altLang="en-US" sz="2400" b="1" dirty="0">
              <a:solidFill>
                <a:schemeClr val="bg1"/>
              </a:solidFill>
              <a:sym typeface="+mn-ea"/>
            </a:endParaRPr>
          </a:p>
          <a:p>
            <a:pPr lvl="1" eaLnBrk="1" hangingPunct="1">
              <a:lnSpc>
                <a:spcPct val="16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若二叉树为空树，则空操作；否则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6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后序遍历左子树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6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后序遍历右子树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60000"/>
              </a:lnSpc>
            </a:pP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访问根结点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60000"/>
              </a:lnSpc>
            </a:pPr>
            <a:endParaRPr lang="zh-CN" altLang="en-US" sz="2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102" y="1263650"/>
            <a:ext cx="8280920" cy="4330417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后序遍历算法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POSTORDER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*r)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if ( r = = NULL ) return ;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空树返回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POSTORDER(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先访问该结点的左子树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POSTORDER( r-&gt;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);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再访问该结点右子树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 “ %c ”,r-&gt;data );       //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最后访问当前结点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sz="4400" b="0" dirty="0">
                <a:solidFill>
                  <a:srgbClr val="01E1EF"/>
                </a:solidFill>
              </a:rPr>
            </a:b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4205" y="1557020"/>
            <a:ext cx="7980680" cy="3051175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遍历的路径相同，均为从根节点出发，逆时针沿二叉树的外缘移动，每个节点均经过三次。按不同的次序访问可得不同的访问系列，每个节点有它的逻辑前趋（父节点）和逻辑后继（子节点），也有它的遍历前趋和遍历后继（要指明遍历方式）。 </a:t>
            </a: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二叉树的遍历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565" y="1186815"/>
            <a:ext cx="10725785" cy="448437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按编号遍历算法 ：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NOORDER  ( </a:t>
            </a:r>
            <a:r>
              <a:rPr lang="en-US" altLang="zh-CN" sz="1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*r) 		/*</a:t>
            </a:r>
            <a:r>
              <a:rPr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按编号顺序遍历算法*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x-none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x-none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front,  rear;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x-none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</a:t>
            </a:r>
            <a:r>
              <a:rPr lang="en-US" altLang="zh-CN" sz="1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*Q[N];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( r == NULL ) return ; 		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空树返回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(rear=1;rear&lt;N; rear++) Q[rear] = NULL ;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front = rear = 1;  Q[rear] = r;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 ( Q[front] != NULL ) {	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以下部分算法由学生完成设计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en-US" altLang="x-non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访问当前出队节点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en-US" altLang="x-non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若左孩子存在则左孩子入队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</a:t>
            </a:r>
            <a:endParaRPr lang="en-US" altLang="x-non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若有孩子存在则右孩子入队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endParaRPr lang="en-US" altLang="x-non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front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向后移动</a:t>
            </a: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 }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buNone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1948</Words>
  <Application>WPS 演示</Application>
  <PresentationFormat>宽屏</PresentationFormat>
  <Paragraphs>264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楷体_GB2312</vt:lpstr>
      <vt:lpstr>新宋体</vt:lpstr>
      <vt:lpstr>隶书</vt:lpstr>
      <vt:lpstr>Arial Unicode MS</vt:lpstr>
      <vt:lpstr>Segoe Print</vt:lpstr>
      <vt:lpstr>1_华清远见PPT模板（宽屏）-华清远见教育集团</vt:lpstr>
      <vt:lpstr>Office 主题</vt:lpstr>
      <vt:lpstr>PowerPoint 演示文稿</vt:lpstr>
      <vt:lpstr>二叉树的遍历 </vt:lpstr>
      <vt:lpstr>二叉树的遍历 </vt:lpstr>
      <vt:lpstr>二叉树遍历 </vt:lpstr>
      <vt:lpstr>二叉树的遍历 </vt:lpstr>
      <vt:lpstr>二叉树的遍历 </vt:lpstr>
      <vt:lpstr>二叉树的遍历 </vt:lpstr>
      <vt:lpstr>二叉树的遍历 </vt:lpstr>
      <vt:lpstr>二叉树的遍历 </vt:lpstr>
      <vt:lpstr>二叉树的遍历 </vt:lpstr>
      <vt:lpstr>二叉树的遍历 </vt:lpstr>
      <vt:lpstr>二叉树的遍历 </vt:lpstr>
      <vt:lpstr>二叉树的遍历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1107</cp:revision>
  <cp:lastPrinted>2011-09-16T06:19:00Z</cp:lastPrinted>
  <dcterms:created xsi:type="dcterms:W3CDTF">2016-04-14T04:36:00Z</dcterms:created>
  <dcterms:modified xsi:type="dcterms:W3CDTF">2019-09-25T08:00:17Z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