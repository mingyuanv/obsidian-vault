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17"/>
  </p:handoutMasterIdLst>
  <p:sldIdLst>
    <p:sldId id="1031" r:id="rId4"/>
    <p:sldId id="878" r:id="rId6"/>
    <p:sldId id="887" r:id="rId7"/>
    <p:sldId id="1243" r:id="rId8"/>
    <p:sldId id="888" r:id="rId9"/>
    <p:sldId id="1212" r:id="rId10"/>
    <p:sldId id="889" r:id="rId11"/>
    <p:sldId id="890" r:id="rId12"/>
    <p:sldId id="891" r:id="rId13"/>
    <p:sldId id="892" r:id="rId14"/>
    <p:sldId id="893" r:id="rId15"/>
    <p:sldId id="1242" r:id="rId16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222"/>
        <p:guide pos="4006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223"/>
        <p:guide pos="23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audio" Target="../media/audio2.wav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1633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51815" y="48006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2915" y="1517015"/>
            <a:ext cx="8657590" cy="3340735"/>
          </a:xfrm>
        </p:spPr>
        <p:txBody>
          <a:bodyPr/>
          <a:lstStyle/>
          <a:p>
            <a:pPr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二叉树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n≥0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）个节点的有限集合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或者是空集（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＝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或者是由一个根节点以及两棵互不相交的、分别称为左子树和右子树的二叉树组成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严格区分左孩子和右孩子，即使只有一个子节点也要区分左右。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-1662430" y="501650"/>
            <a:ext cx="10433685" cy="4484370"/>
          </a:xfrm>
        </p:spPr>
        <p:txBody>
          <a:bodyPr/>
          <a:lstStyle/>
          <a:p>
            <a:endParaRPr lang="zh-CN" altLang="en-US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					         1</a:t>
            </a:r>
            <a:endParaRPr lang="en-US" altLang="zh-CN" sz="2000" dirty="0">
              <a:solidFill>
                <a:schemeClr val="bg1"/>
              </a:solidFill>
            </a:endParaRPr>
          </a:p>
          <a:p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			         2			                       3			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		</a:t>
            </a:r>
            <a:endParaRPr lang="en-US" altLang="zh-CN" sz="2000" dirty="0">
              <a:solidFill>
                <a:schemeClr val="bg1"/>
              </a:solidFill>
            </a:endParaRPr>
          </a:p>
          <a:p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		             4		    5	              6		7	</a:t>
            </a:r>
            <a:endParaRPr lang="en-US" altLang="zh-CN" sz="2000" dirty="0">
              <a:solidFill>
                <a:schemeClr val="bg1"/>
              </a:solidFill>
            </a:endParaRPr>
          </a:p>
          <a:p>
            <a:endParaRPr lang="en-US" altLang="zh-CN" sz="2000" dirty="0">
              <a:solidFill>
                <a:schemeClr val="bg1"/>
              </a:solidFill>
            </a:endParaRPr>
          </a:p>
          <a:p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		     8	      9           10  11	12	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grpSp>
        <p:nvGrpSpPr>
          <p:cNvPr id="138244" name="Group 5"/>
          <p:cNvGrpSpPr/>
          <p:nvPr/>
        </p:nvGrpSpPr>
        <p:grpSpPr>
          <a:xfrm>
            <a:off x="386160" y="1899989"/>
            <a:ext cx="6200428" cy="3058021"/>
            <a:chOff x="0" y="0"/>
            <a:chExt cx="20027" cy="20001"/>
          </a:xfrm>
        </p:grpSpPr>
        <p:sp>
          <p:nvSpPr>
            <p:cNvPr id="138245" name="Line 5"/>
            <p:cNvSpPr/>
            <p:nvPr/>
          </p:nvSpPr>
          <p:spPr>
            <a:xfrm flipH="1">
              <a:off x="4679" y="769"/>
              <a:ext cx="5963" cy="6161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46" name="Line 6"/>
            <p:cNvSpPr/>
            <p:nvPr/>
          </p:nvSpPr>
          <p:spPr>
            <a:xfrm flipH="1">
              <a:off x="425" y="13081"/>
              <a:ext cx="1709" cy="6161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47" name="Line 7"/>
            <p:cNvSpPr/>
            <p:nvPr/>
          </p:nvSpPr>
          <p:spPr>
            <a:xfrm>
              <a:off x="2127" y="13081"/>
              <a:ext cx="1687" cy="6151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48" name="Line 8"/>
            <p:cNvSpPr/>
            <p:nvPr/>
          </p:nvSpPr>
          <p:spPr>
            <a:xfrm>
              <a:off x="4679" y="6930"/>
              <a:ext cx="3411" cy="6151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49" name="Line 9"/>
            <p:cNvSpPr/>
            <p:nvPr/>
          </p:nvSpPr>
          <p:spPr>
            <a:xfrm flipH="1">
              <a:off x="6360" y="13081"/>
              <a:ext cx="1730" cy="692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50" name="Line 10"/>
            <p:cNvSpPr/>
            <p:nvPr/>
          </p:nvSpPr>
          <p:spPr>
            <a:xfrm>
              <a:off x="10635" y="769"/>
              <a:ext cx="5963" cy="6161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51" name="Line 11"/>
            <p:cNvSpPr/>
            <p:nvPr/>
          </p:nvSpPr>
          <p:spPr>
            <a:xfrm>
              <a:off x="8083" y="13081"/>
              <a:ext cx="1687" cy="6151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52" name="Line 12"/>
            <p:cNvSpPr/>
            <p:nvPr/>
          </p:nvSpPr>
          <p:spPr>
            <a:xfrm>
              <a:off x="16995" y="6920"/>
              <a:ext cx="2560" cy="6161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53" name="Line 13"/>
            <p:cNvSpPr/>
            <p:nvPr/>
          </p:nvSpPr>
          <p:spPr>
            <a:xfrm flipH="1">
              <a:off x="12337" y="13081"/>
              <a:ext cx="1709" cy="6161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54" name="Line 14"/>
            <p:cNvSpPr/>
            <p:nvPr/>
          </p:nvSpPr>
          <p:spPr>
            <a:xfrm flipH="1">
              <a:off x="2127" y="7443"/>
              <a:ext cx="2559" cy="616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55" name="Line 15"/>
            <p:cNvSpPr/>
            <p:nvPr/>
          </p:nvSpPr>
          <p:spPr>
            <a:xfrm flipH="1">
              <a:off x="14039" y="7443"/>
              <a:ext cx="2985" cy="616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8256" name="Oval 16"/>
            <p:cNvSpPr/>
            <p:nvPr/>
          </p:nvSpPr>
          <p:spPr>
            <a:xfrm>
              <a:off x="0" y="18453"/>
              <a:ext cx="1283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57" name="Oval 17"/>
            <p:cNvSpPr/>
            <p:nvPr/>
          </p:nvSpPr>
          <p:spPr>
            <a:xfrm>
              <a:off x="3403" y="18453"/>
              <a:ext cx="1284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58" name="Oval 18"/>
            <p:cNvSpPr/>
            <p:nvPr/>
          </p:nvSpPr>
          <p:spPr>
            <a:xfrm>
              <a:off x="5956" y="18453"/>
              <a:ext cx="1283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59" name="Oval 19"/>
            <p:cNvSpPr/>
            <p:nvPr/>
          </p:nvSpPr>
          <p:spPr>
            <a:xfrm>
              <a:off x="9359" y="18453"/>
              <a:ext cx="1284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60" name="Oval 20"/>
            <p:cNvSpPr/>
            <p:nvPr/>
          </p:nvSpPr>
          <p:spPr>
            <a:xfrm>
              <a:off x="11912" y="18453"/>
              <a:ext cx="1283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61" name="Oval 21"/>
            <p:cNvSpPr/>
            <p:nvPr/>
          </p:nvSpPr>
          <p:spPr>
            <a:xfrm>
              <a:off x="1276" y="12302"/>
              <a:ext cx="1284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62" name="Oval 22"/>
            <p:cNvSpPr/>
            <p:nvPr/>
          </p:nvSpPr>
          <p:spPr>
            <a:xfrm>
              <a:off x="7658" y="12302"/>
              <a:ext cx="1283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63" name="Oval 23"/>
            <p:cNvSpPr/>
            <p:nvPr/>
          </p:nvSpPr>
          <p:spPr>
            <a:xfrm>
              <a:off x="13188" y="12302"/>
              <a:ext cx="1283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64" name="Oval 24"/>
            <p:cNvSpPr/>
            <p:nvPr/>
          </p:nvSpPr>
          <p:spPr>
            <a:xfrm>
              <a:off x="18743" y="12302"/>
              <a:ext cx="1284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65" name="Oval 25"/>
            <p:cNvSpPr/>
            <p:nvPr/>
          </p:nvSpPr>
          <p:spPr>
            <a:xfrm>
              <a:off x="4254" y="6151"/>
              <a:ext cx="1284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66" name="Oval 26"/>
            <p:cNvSpPr/>
            <p:nvPr/>
          </p:nvSpPr>
          <p:spPr>
            <a:xfrm>
              <a:off x="16592" y="6151"/>
              <a:ext cx="1283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67" name="Oval 27"/>
            <p:cNvSpPr/>
            <p:nvPr/>
          </p:nvSpPr>
          <p:spPr>
            <a:xfrm>
              <a:off x="10210" y="0"/>
              <a:ext cx="1284" cy="154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二叉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970" y="721995"/>
            <a:ext cx="6334125" cy="5414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23925" y="511175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二叉树性质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92125" y="1475740"/>
            <a:ext cx="8184515" cy="352107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二叉树第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i≥1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）层上的节点最多为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000" b="1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i-1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20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深度为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k≥1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）的二叉树最多有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000" b="1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－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个节点。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20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894715" y="553720"/>
            <a:ext cx="10681335" cy="416560"/>
          </a:xfrm>
        </p:spPr>
        <p:txBody>
          <a:bodyPr>
            <a:normAutofit fontScale="90000"/>
          </a:bodyPr>
          <a:lstStyle/>
          <a:p>
            <a:r>
              <a:rPr lang="zh-CN" altLang="en-US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二叉树性质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894715" y="1503680"/>
            <a:ext cx="8011795" cy="320421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满二叉树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：深度为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k≥1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）时有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0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－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个节点的二叉树。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buNone/>
            </a:pP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完全二叉树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：只有最下面两层有度数小于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的节点，且最下面一层的叶节点集中在最左边的若干位置上。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buNone/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具有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个节点的完全二叉树的深度为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 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log2n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）＋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『log2(n+1)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8989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5" y="1240790"/>
            <a:ext cx="8531860" cy="4305300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顺序存储结构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：完全二叉树节点的编号方法是从上到下，从左到右，根节点为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号节点。设完全二叉树的节点数为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，某节点编号为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（不是根节点）时，有父节点，其编号为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i/2;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2*i≤n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时，有左孩子，其编号为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,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否则没有左孩子，本身是叶节点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2*i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＋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1≤n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时，有右孩子，其编号为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2*i+1 ,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否则没有右孩子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为奇数且不为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时，有左兄弟，其编号为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i-1,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否则没有左兄弟；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为偶数且小于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时，有右兄弟，其编号为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＋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1,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否则没有右兄弟；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24725" y="1446529"/>
            <a:ext cx="7848872" cy="4546441"/>
          </a:xfrm>
        </p:spPr>
        <p:txBody>
          <a:bodyPr/>
          <a:lstStyle/>
          <a:p>
            <a:pPr lvl="1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个节点的完全二叉树可以用有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n+1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个元素的数组进行顺序存储，节点号和数组下标一一对应，下标为零的元素不用。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8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利用以上特性，可以从下标获得节点的逻辑关系。不完全二叉树通过添加虚节点构成完全二叉树，然后用数组存储，这要浪费一些存储空间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8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50875" y="49657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</a:t>
            </a:r>
            <a:r>
              <a:rPr lang="en-US" altLang="zh-CN" sz="4400" b="0" dirty="0">
                <a:solidFill>
                  <a:srgbClr val="01E1EF"/>
                </a:solidFill>
              </a:rPr>
              <a:t>-</a:t>
            </a:r>
            <a:r>
              <a:rPr sz="4400" b="0" dirty="0">
                <a:solidFill>
                  <a:srgbClr val="01E1EF"/>
                </a:solidFill>
              </a:rPr>
              <a:t>顺序存储</a:t>
            </a:r>
            <a:br>
              <a:rPr lang="zh-CN" altLang="en-US" dirty="0"/>
            </a:br>
            <a:endParaRPr lang="zh-CN" altLang="en-US" dirty="0"/>
          </a:p>
        </p:txBody>
      </p:sp>
      <p:grpSp>
        <p:nvGrpSpPr>
          <p:cNvPr id="2" name="Group 3"/>
          <p:cNvGrpSpPr/>
          <p:nvPr/>
        </p:nvGrpSpPr>
        <p:grpSpPr>
          <a:xfrm>
            <a:off x="650559" y="2097088"/>
            <a:ext cx="1966913" cy="2540000"/>
            <a:chOff x="0" y="0"/>
            <a:chExt cx="1239" cy="1600"/>
          </a:xfrm>
        </p:grpSpPr>
        <p:sp>
          <p:nvSpPr>
            <p:cNvPr id="142339" name="Oval 4"/>
            <p:cNvSpPr/>
            <p:nvPr/>
          </p:nvSpPr>
          <p:spPr>
            <a:xfrm>
              <a:off x="588" y="0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40" name="Oval 5"/>
            <p:cNvSpPr/>
            <p:nvPr/>
          </p:nvSpPr>
          <p:spPr>
            <a:xfrm>
              <a:off x="285" y="390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41" name="Oval 6"/>
            <p:cNvSpPr/>
            <p:nvPr/>
          </p:nvSpPr>
          <p:spPr>
            <a:xfrm>
              <a:off x="910" y="400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42" name="Oval 7"/>
            <p:cNvSpPr/>
            <p:nvPr/>
          </p:nvSpPr>
          <p:spPr>
            <a:xfrm>
              <a:off x="0" y="841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43" name="Oval 8"/>
            <p:cNvSpPr/>
            <p:nvPr/>
          </p:nvSpPr>
          <p:spPr>
            <a:xfrm>
              <a:off x="604" y="841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44" name="Oval 9"/>
            <p:cNvSpPr/>
            <p:nvPr/>
          </p:nvSpPr>
          <p:spPr>
            <a:xfrm>
              <a:off x="354" y="1308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45" name="Oval 10"/>
            <p:cNvSpPr/>
            <p:nvPr/>
          </p:nvSpPr>
          <p:spPr>
            <a:xfrm>
              <a:off x="949" y="1308"/>
              <a:ext cx="290" cy="2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46" name="Line 11"/>
            <p:cNvSpPr/>
            <p:nvPr/>
          </p:nvSpPr>
          <p:spPr>
            <a:xfrm flipH="1">
              <a:off x="537" y="273"/>
              <a:ext cx="111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2347" name="Line 12"/>
            <p:cNvSpPr/>
            <p:nvPr/>
          </p:nvSpPr>
          <p:spPr>
            <a:xfrm flipH="1">
              <a:off x="225" y="673"/>
              <a:ext cx="146" cy="21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2348" name="Line 13"/>
            <p:cNvSpPr/>
            <p:nvPr/>
          </p:nvSpPr>
          <p:spPr>
            <a:xfrm>
              <a:off x="848" y="229"/>
              <a:ext cx="133" cy="188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2349" name="Line 14"/>
            <p:cNvSpPr/>
            <p:nvPr/>
          </p:nvSpPr>
          <p:spPr>
            <a:xfrm>
              <a:off x="503" y="651"/>
              <a:ext cx="178" cy="22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2350" name="Line 15"/>
            <p:cNvSpPr/>
            <p:nvPr/>
          </p:nvSpPr>
          <p:spPr>
            <a:xfrm>
              <a:off x="837" y="1073"/>
              <a:ext cx="189" cy="278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2351" name="Line 16"/>
            <p:cNvSpPr/>
            <p:nvPr/>
          </p:nvSpPr>
          <p:spPr>
            <a:xfrm flipH="1">
              <a:off x="581" y="1128"/>
              <a:ext cx="111" cy="200"/>
            </a:xfrm>
            <a:prstGeom prst="line">
              <a:avLst/>
            </a:prstGeom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" name="Group 17"/>
          <p:cNvGrpSpPr/>
          <p:nvPr/>
        </p:nvGrpSpPr>
        <p:grpSpPr>
          <a:xfrm>
            <a:off x="3430692" y="2592388"/>
            <a:ext cx="4151313" cy="711200"/>
            <a:chOff x="0" y="0"/>
            <a:chExt cx="2615" cy="448"/>
          </a:xfrm>
        </p:grpSpPr>
        <p:grpSp>
          <p:nvGrpSpPr>
            <p:cNvPr id="142353" name="Group 18"/>
            <p:cNvGrpSpPr/>
            <p:nvPr/>
          </p:nvGrpSpPr>
          <p:grpSpPr>
            <a:xfrm>
              <a:off x="0" y="193"/>
              <a:ext cx="2582" cy="255"/>
              <a:chOff x="0" y="2"/>
              <a:chExt cx="2582" cy="255"/>
            </a:xfrm>
          </p:grpSpPr>
          <p:sp>
            <p:nvSpPr>
              <p:cNvPr id="142354" name="Rectangle 19"/>
              <p:cNvSpPr/>
              <p:nvPr/>
            </p:nvSpPr>
            <p:spPr>
              <a:xfrm>
                <a:off x="0" y="2"/>
                <a:ext cx="2582" cy="251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    b    c    d    e    0    0    0    0    f    g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2355" name="Line 20"/>
              <p:cNvSpPr/>
              <p:nvPr/>
            </p:nvSpPr>
            <p:spPr>
              <a:xfrm>
                <a:off x="211" y="2"/>
                <a:ext cx="0" cy="255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2356" name="Line 21"/>
              <p:cNvSpPr/>
              <p:nvPr/>
            </p:nvSpPr>
            <p:spPr>
              <a:xfrm>
                <a:off x="448" y="2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2357" name="Line 22"/>
              <p:cNvSpPr/>
              <p:nvPr/>
            </p:nvSpPr>
            <p:spPr>
              <a:xfrm>
                <a:off x="685" y="2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2358" name="Line 23"/>
              <p:cNvSpPr/>
              <p:nvPr/>
            </p:nvSpPr>
            <p:spPr>
              <a:xfrm>
                <a:off x="922" y="2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2359" name="Line 24"/>
              <p:cNvSpPr/>
              <p:nvPr/>
            </p:nvSpPr>
            <p:spPr>
              <a:xfrm>
                <a:off x="1159" y="2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2360" name="Line 25"/>
              <p:cNvSpPr/>
              <p:nvPr/>
            </p:nvSpPr>
            <p:spPr>
              <a:xfrm>
                <a:off x="1396" y="2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2361" name="Line 26"/>
              <p:cNvSpPr/>
              <p:nvPr/>
            </p:nvSpPr>
            <p:spPr>
              <a:xfrm>
                <a:off x="1633" y="2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2362" name="Line 27"/>
              <p:cNvSpPr/>
              <p:nvPr/>
            </p:nvSpPr>
            <p:spPr>
              <a:xfrm>
                <a:off x="1870" y="2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2363" name="Line 28"/>
              <p:cNvSpPr/>
              <p:nvPr/>
            </p:nvSpPr>
            <p:spPr>
              <a:xfrm>
                <a:off x="2107" y="2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2364" name="Line 29"/>
              <p:cNvSpPr/>
              <p:nvPr/>
            </p:nvSpPr>
            <p:spPr>
              <a:xfrm>
                <a:off x="2345" y="2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42365" name="Text Box 30"/>
            <p:cNvSpPr txBox="1"/>
            <p:nvPr/>
          </p:nvSpPr>
          <p:spPr>
            <a:xfrm>
              <a:off x="19" y="0"/>
              <a:ext cx="25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1   2    3    4    5    6    7    8    9   10  11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31"/>
          <p:cNvGrpSpPr/>
          <p:nvPr/>
        </p:nvGrpSpPr>
        <p:grpSpPr>
          <a:xfrm>
            <a:off x="309246" y="3446463"/>
            <a:ext cx="3009900" cy="1163637"/>
            <a:chOff x="0" y="0"/>
            <a:chExt cx="1896" cy="733"/>
          </a:xfrm>
        </p:grpSpPr>
        <p:sp>
          <p:nvSpPr>
            <p:cNvPr id="142367" name="Oval 32"/>
            <p:cNvSpPr/>
            <p:nvPr/>
          </p:nvSpPr>
          <p:spPr>
            <a:xfrm>
              <a:off x="1244" y="15"/>
              <a:ext cx="267" cy="266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68" name="Oval 33"/>
            <p:cNvSpPr/>
            <p:nvPr/>
          </p:nvSpPr>
          <p:spPr>
            <a:xfrm>
              <a:off x="1629" y="0"/>
              <a:ext cx="267" cy="266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69" name="Oval 34"/>
            <p:cNvSpPr/>
            <p:nvPr/>
          </p:nvSpPr>
          <p:spPr>
            <a:xfrm>
              <a:off x="0" y="467"/>
              <a:ext cx="267" cy="266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370" name="Oval 35"/>
            <p:cNvSpPr/>
            <p:nvPr/>
          </p:nvSpPr>
          <p:spPr>
            <a:xfrm>
              <a:off x="328" y="455"/>
              <a:ext cx="267" cy="266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396" name="AutoShape 36"/>
          <p:cNvSpPr/>
          <p:nvPr/>
        </p:nvSpPr>
        <p:spPr>
          <a:xfrm>
            <a:off x="4417730" y="3798888"/>
            <a:ext cx="1905000" cy="838200"/>
          </a:xfrm>
          <a:prstGeom prst="cloudCallout">
            <a:avLst>
              <a:gd name="adj1" fmla="val 25750"/>
              <a:gd name="adj2" fmla="val -92426"/>
            </a:avLst>
          </a:prstGeom>
          <a:solidFill>
            <a:srgbClr val="FFFFEF"/>
          </a:solidFill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charset="-122"/>
              </a:rPr>
              <a:t>浪费空间</a:t>
            </a:r>
            <a:endParaRPr lang="zh-CN" altLang="en-US" sz="2000" dirty="0">
              <a:solidFill>
                <a:schemeClr val="tx1"/>
              </a:solidFill>
              <a:latin typeface="Tahoma" panose="020B060403050404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967" y="438009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</a:t>
            </a:r>
            <a:r>
              <a:rPr lang="en-US" altLang="zh-CN" sz="4400" b="0" dirty="0">
                <a:solidFill>
                  <a:srgbClr val="01E1EF"/>
                </a:solidFill>
              </a:rPr>
              <a:t>-</a:t>
            </a:r>
            <a:r>
              <a:rPr sz="4400" b="0" dirty="0">
                <a:solidFill>
                  <a:srgbClr val="01E1EF"/>
                </a:solidFill>
              </a:rPr>
              <a:t>链式存储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0558" y="1397923"/>
            <a:ext cx="10725785" cy="448437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typedef  int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;	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typedef  struct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node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	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data ; 	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struct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node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,*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; 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; 		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*root ; 	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二叉树由根节点指针决定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</a:t>
            </a:r>
            <a:br>
              <a:rPr lang="zh-CN" altLang="en-US" dirty="0"/>
            </a:br>
            <a:endParaRPr lang="zh-CN" altLang="en-US" dirty="0"/>
          </a:p>
        </p:txBody>
      </p:sp>
      <p:grpSp>
        <p:nvGrpSpPr>
          <p:cNvPr id="2" name="Group 3"/>
          <p:cNvGrpSpPr/>
          <p:nvPr/>
        </p:nvGrpSpPr>
        <p:grpSpPr>
          <a:xfrm>
            <a:off x="2679273" y="2206714"/>
            <a:ext cx="3529013" cy="3413125"/>
            <a:chOff x="0" y="0"/>
            <a:chExt cx="2223" cy="2150"/>
          </a:xfrm>
        </p:grpSpPr>
        <p:grpSp>
          <p:nvGrpSpPr>
            <p:cNvPr id="144387" name="Group 4"/>
            <p:cNvGrpSpPr/>
            <p:nvPr/>
          </p:nvGrpSpPr>
          <p:grpSpPr>
            <a:xfrm>
              <a:off x="749" y="0"/>
              <a:ext cx="778" cy="256"/>
              <a:chOff x="0" y="0"/>
              <a:chExt cx="778" cy="256"/>
            </a:xfrm>
          </p:grpSpPr>
          <p:sp>
            <p:nvSpPr>
              <p:cNvPr id="144388" name="Rectangle 4"/>
              <p:cNvSpPr/>
              <p:nvPr/>
            </p:nvSpPr>
            <p:spPr>
              <a:xfrm>
                <a:off x="0" y="0"/>
                <a:ext cx="778" cy="256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A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389" name="Line 5"/>
              <p:cNvSpPr/>
              <p:nvPr/>
            </p:nvSpPr>
            <p:spPr>
              <a:xfrm>
                <a:off x="234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390" name="Line 6"/>
              <p:cNvSpPr/>
              <p:nvPr/>
            </p:nvSpPr>
            <p:spPr>
              <a:xfrm>
                <a:off x="512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391" name="Group 8"/>
            <p:cNvGrpSpPr/>
            <p:nvPr/>
          </p:nvGrpSpPr>
          <p:grpSpPr>
            <a:xfrm>
              <a:off x="279" y="408"/>
              <a:ext cx="778" cy="256"/>
              <a:chOff x="0" y="0"/>
              <a:chExt cx="778" cy="256"/>
            </a:xfrm>
          </p:grpSpPr>
          <p:sp>
            <p:nvSpPr>
              <p:cNvPr id="144392" name="Rectangle 8"/>
              <p:cNvSpPr/>
              <p:nvPr/>
            </p:nvSpPr>
            <p:spPr>
              <a:xfrm>
                <a:off x="0" y="0"/>
                <a:ext cx="778" cy="256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393" name="Line 9"/>
              <p:cNvSpPr/>
              <p:nvPr/>
            </p:nvSpPr>
            <p:spPr>
              <a:xfrm>
                <a:off x="234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394" name="Line 10"/>
              <p:cNvSpPr/>
              <p:nvPr/>
            </p:nvSpPr>
            <p:spPr>
              <a:xfrm>
                <a:off x="512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395" name="Group 12"/>
            <p:cNvGrpSpPr/>
            <p:nvPr/>
          </p:nvGrpSpPr>
          <p:grpSpPr>
            <a:xfrm>
              <a:off x="0" y="908"/>
              <a:ext cx="778" cy="256"/>
              <a:chOff x="0" y="0"/>
              <a:chExt cx="778" cy="256"/>
            </a:xfrm>
          </p:grpSpPr>
          <p:sp>
            <p:nvSpPr>
              <p:cNvPr id="144396" name="Rectangle 12"/>
              <p:cNvSpPr/>
              <p:nvPr/>
            </p:nvSpPr>
            <p:spPr>
              <a:xfrm>
                <a:off x="0" y="0"/>
                <a:ext cx="778" cy="256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397" name="Line 13"/>
              <p:cNvSpPr/>
              <p:nvPr/>
            </p:nvSpPr>
            <p:spPr>
              <a:xfrm>
                <a:off x="234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398" name="Line 14"/>
              <p:cNvSpPr/>
              <p:nvPr/>
            </p:nvSpPr>
            <p:spPr>
              <a:xfrm>
                <a:off x="512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399" name="Group 16"/>
            <p:cNvGrpSpPr/>
            <p:nvPr/>
          </p:nvGrpSpPr>
          <p:grpSpPr>
            <a:xfrm>
              <a:off x="957" y="907"/>
              <a:ext cx="778" cy="256"/>
              <a:chOff x="0" y="0"/>
              <a:chExt cx="778" cy="256"/>
            </a:xfrm>
          </p:grpSpPr>
          <p:sp>
            <p:nvSpPr>
              <p:cNvPr id="144400" name="Rectangle 16"/>
              <p:cNvSpPr/>
              <p:nvPr/>
            </p:nvSpPr>
            <p:spPr>
              <a:xfrm>
                <a:off x="0" y="0"/>
                <a:ext cx="778" cy="256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D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401" name="Line 17"/>
              <p:cNvSpPr/>
              <p:nvPr/>
            </p:nvSpPr>
            <p:spPr>
              <a:xfrm>
                <a:off x="234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402" name="Line 18"/>
              <p:cNvSpPr/>
              <p:nvPr/>
            </p:nvSpPr>
            <p:spPr>
              <a:xfrm>
                <a:off x="512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403" name="Group 20"/>
            <p:cNvGrpSpPr/>
            <p:nvPr/>
          </p:nvGrpSpPr>
          <p:grpSpPr>
            <a:xfrm>
              <a:off x="512" y="1417"/>
              <a:ext cx="778" cy="256"/>
              <a:chOff x="0" y="0"/>
              <a:chExt cx="778" cy="256"/>
            </a:xfrm>
          </p:grpSpPr>
          <p:sp>
            <p:nvSpPr>
              <p:cNvPr id="144404" name="Rectangle 20"/>
              <p:cNvSpPr/>
              <p:nvPr/>
            </p:nvSpPr>
            <p:spPr>
              <a:xfrm>
                <a:off x="0" y="0"/>
                <a:ext cx="778" cy="256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E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405" name="Line 21"/>
              <p:cNvSpPr/>
              <p:nvPr/>
            </p:nvSpPr>
            <p:spPr>
              <a:xfrm>
                <a:off x="234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406" name="Line 22"/>
              <p:cNvSpPr/>
              <p:nvPr/>
            </p:nvSpPr>
            <p:spPr>
              <a:xfrm>
                <a:off x="516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407" name="Group 24"/>
            <p:cNvGrpSpPr/>
            <p:nvPr/>
          </p:nvGrpSpPr>
          <p:grpSpPr>
            <a:xfrm>
              <a:off x="1445" y="1407"/>
              <a:ext cx="778" cy="256"/>
              <a:chOff x="0" y="0"/>
              <a:chExt cx="778" cy="256"/>
            </a:xfrm>
          </p:grpSpPr>
          <p:sp>
            <p:nvSpPr>
              <p:cNvPr id="144408" name="Rectangle 24"/>
              <p:cNvSpPr/>
              <p:nvPr/>
            </p:nvSpPr>
            <p:spPr>
              <a:xfrm>
                <a:off x="0" y="0"/>
                <a:ext cx="778" cy="256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F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409" name="Line 25"/>
              <p:cNvSpPr/>
              <p:nvPr/>
            </p:nvSpPr>
            <p:spPr>
              <a:xfrm>
                <a:off x="234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410" name="Line 26"/>
              <p:cNvSpPr/>
              <p:nvPr/>
            </p:nvSpPr>
            <p:spPr>
              <a:xfrm>
                <a:off x="512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411" name="Group 28"/>
            <p:cNvGrpSpPr/>
            <p:nvPr/>
          </p:nvGrpSpPr>
          <p:grpSpPr>
            <a:xfrm>
              <a:off x="977" y="1894"/>
              <a:ext cx="778" cy="256"/>
              <a:chOff x="0" y="0"/>
              <a:chExt cx="778" cy="256"/>
            </a:xfrm>
          </p:grpSpPr>
          <p:sp>
            <p:nvSpPr>
              <p:cNvPr id="144412" name="Rectangle 28"/>
              <p:cNvSpPr/>
              <p:nvPr/>
            </p:nvSpPr>
            <p:spPr>
              <a:xfrm>
                <a:off x="0" y="0"/>
                <a:ext cx="778" cy="256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G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413" name="Line 29"/>
              <p:cNvSpPr/>
              <p:nvPr/>
            </p:nvSpPr>
            <p:spPr>
              <a:xfrm>
                <a:off x="234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414" name="Line 30"/>
              <p:cNvSpPr/>
              <p:nvPr/>
            </p:nvSpPr>
            <p:spPr>
              <a:xfrm>
                <a:off x="512" y="0"/>
                <a:ext cx="0" cy="25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1" name="Group 49"/>
          <p:cNvGrpSpPr/>
          <p:nvPr/>
        </p:nvGrpSpPr>
        <p:grpSpPr>
          <a:xfrm>
            <a:off x="789485" y="2127091"/>
            <a:ext cx="1622425" cy="2654300"/>
            <a:chOff x="0" y="0"/>
            <a:chExt cx="1022" cy="1672"/>
          </a:xfrm>
        </p:grpSpPr>
        <p:sp>
          <p:nvSpPr>
            <p:cNvPr id="144433" name="Oval 49"/>
            <p:cNvSpPr/>
            <p:nvPr/>
          </p:nvSpPr>
          <p:spPr>
            <a:xfrm>
              <a:off x="519" y="0"/>
              <a:ext cx="255" cy="224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34" name="Oval 50"/>
            <p:cNvSpPr/>
            <p:nvPr/>
          </p:nvSpPr>
          <p:spPr>
            <a:xfrm>
              <a:off x="271" y="352"/>
              <a:ext cx="255" cy="224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35" name="Oval 51"/>
            <p:cNvSpPr/>
            <p:nvPr/>
          </p:nvSpPr>
          <p:spPr>
            <a:xfrm>
              <a:off x="0" y="714"/>
              <a:ext cx="255" cy="224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36" name="Oval 52"/>
            <p:cNvSpPr/>
            <p:nvPr/>
          </p:nvSpPr>
          <p:spPr>
            <a:xfrm>
              <a:off x="512" y="714"/>
              <a:ext cx="255" cy="224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37" name="Oval 53"/>
            <p:cNvSpPr/>
            <p:nvPr/>
          </p:nvSpPr>
          <p:spPr>
            <a:xfrm>
              <a:off x="312" y="1036"/>
              <a:ext cx="255" cy="235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38" name="Oval 54"/>
            <p:cNvSpPr/>
            <p:nvPr/>
          </p:nvSpPr>
          <p:spPr>
            <a:xfrm>
              <a:off x="767" y="1036"/>
              <a:ext cx="255" cy="224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39" name="Oval 55"/>
            <p:cNvSpPr/>
            <p:nvPr/>
          </p:nvSpPr>
          <p:spPr>
            <a:xfrm>
              <a:off x="522" y="1448"/>
              <a:ext cx="255" cy="224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40" name="Line 56"/>
            <p:cNvSpPr/>
            <p:nvPr/>
          </p:nvSpPr>
          <p:spPr>
            <a:xfrm flipH="1">
              <a:off x="453" y="185"/>
              <a:ext cx="111" cy="19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41" name="Line 57"/>
            <p:cNvSpPr/>
            <p:nvPr/>
          </p:nvSpPr>
          <p:spPr>
            <a:xfrm flipH="1">
              <a:off x="208" y="551"/>
              <a:ext cx="122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42" name="Line 58"/>
            <p:cNvSpPr/>
            <p:nvPr/>
          </p:nvSpPr>
          <p:spPr>
            <a:xfrm>
              <a:off x="486" y="551"/>
              <a:ext cx="133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43" name="Line 59"/>
            <p:cNvSpPr/>
            <p:nvPr/>
          </p:nvSpPr>
          <p:spPr>
            <a:xfrm flipH="1">
              <a:off x="508" y="940"/>
              <a:ext cx="78" cy="145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44" name="Line 60"/>
            <p:cNvSpPr/>
            <p:nvPr/>
          </p:nvSpPr>
          <p:spPr>
            <a:xfrm>
              <a:off x="708" y="918"/>
              <a:ext cx="112" cy="145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45" name="Line 61"/>
            <p:cNvSpPr/>
            <p:nvPr/>
          </p:nvSpPr>
          <p:spPr>
            <a:xfrm>
              <a:off x="475" y="1262"/>
              <a:ext cx="133" cy="18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45440" name="Line 31"/>
          <p:cNvSpPr/>
          <p:nvPr/>
        </p:nvSpPr>
        <p:spPr>
          <a:xfrm flipH="1">
            <a:off x="3956893" y="2500947"/>
            <a:ext cx="361026" cy="40640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5441" name="Line 32"/>
          <p:cNvSpPr/>
          <p:nvPr/>
        </p:nvSpPr>
        <p:spPr>
          <a:xfrm flipH="1">
            <a:off x="3405595" y="3180566"/>
            <a:ext cx="176213" cy="47625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5442" name="Line 33"/>
          <p:cNvSpPr/>
          <p:nvPr/>
        </p:nvSpPr>
        <p:spPr>
          <a:xfrm>
            <a:off x="4100657" y="3190468"/>
            <a:ext cx="511175" cy="528637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5443" name="Line 34"/>
          <p:cNvSpPr/>
          <p:nvPr/>
        </p:nvSpPr>
        <p:spPr>
          <a:xfrm flipH="1">
            <a:off x="4169617" y="3948748"/>
            <a:ext cx="282575" cy="563562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5444" name="Line 35"/>
          <p:cNvSpPr/>
          <p:nvPr/>
        </p:nvSpPr>
        <p:spPr>
          <a:xfrm>
            <a:off x="5145931" y="3948748"/>
            <a:ext cx="317500" cy="563562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5445" name="Line 36"/>
          <p:cNvSpPr/>
          <p:nvPr/>
        </p:nvSpPr>
        <p:spPr>
          <a:xfrm>
            <a:off x="4460001" y="4775606"/>
            <a:ext cx="317500" cy="458788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10" name="Group 38"/>
          <p:cNvGrpSpPr/>
          <p:nvPr/>
        </p:nvGrpSpPr>
        <p:grpSpPr>
          <a:xfrm>
            <a:off x="4152155" y="1439223"/>
            <a:ext cx="334962" cy="704850"/>
            <a:chOff x="0" y="0"/>
            <a:chExt cx="211" cy="444"/>
          </a:xfrm>
        </p:grpSpPr>
        <p:sp>
          <p:nvSpPr>
            <p:cNvPr id="144422" name="Freeform 38"/>
            <p:cNvSpPr/>
            <p:nvPr/>
          </p:nvSpPr>
          <p:spPr>
            <a:xfrm>
              <a:off x="0" y="0"/>
              <a:ext cx="72" cy="222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68" y="106"/>
                </a:cxn>
                <a:cxn ang="0">
                  <a:pos x="0" y="222"/>
                </a:cxn>
              </a:cxnLst>
              <a:rect l="0" t="0" r="0" b="0"/>
              <a:pathLst>
                <a:path w="94" h="233">
                  <a:moveTo>
                    <a:pt x="33" y="0"/>
                  </a:moveTo>
                  <a:cubicBezTo>
                    <a:pt x="63" y="36"/>
                    <a:pt x="94" y="72"/>
                    <a:pt x="89" y="111"/>
                  </a:cubicBezTo>
                  <a:cubicBezTo>
                    <a:pt x="84" y="150"/>
                    <a:pt x="19" y="218"/>
                    <a:pt x="0" y="233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23" name="Line 39"/>
            <p:cNvSpPr/>
            <p:nvPr/>
          </p:nvSpPr>
          <p:spPr>
            <a:xfrm>
              <a:off x="11" y="222"/>
              <a:ext cx="200" cy="22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454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45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454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454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454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454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1145</Words>
  <Application>WPS 演示</Application>
  <PresentationFormat>宽屏</PresentationFormat>
  <Paragraphs>125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Tahoma</vt:lpstr>
      <vt:lpstr>Arial Unicode MS</vt:lpstr>
      <vt:lpstr>Calibri Light</vt:lpstr>
      <vt:lpstr>Segoe Print</vt:lpstr>
      <vt:lpstr>1_华清远见PPT模板（宽屏）-华清远见教育集团</vt:lpstr>
      <vt:lpstr>Office 主题</vt:lpstr>
      <vt:lpstr>PowerPoint 演示文稿</vt:lpstr>
      <vt:lpstr>二叉树 </vt:lpstr>
      <vt:lpstr>二叉树 </vt:lpstr>
      <vt:lpstr>PowerPoint 演示文稿</vt:lpstr>
      <vt:lpstr>二叉树性质</vt:lpstr>
      <vt:lpstr>二叉树性质</vt:lpstr>
      <vt:lpstr>二叉树 </vt:lpstr>
      <vt:lpstr>二叉树 </vt:lpstr>
      <vt:lpstr>二叉树-顺序存储 </vt:lpstr>
      <vt:lpstr>二叉树-链式存储 </vt:lpstr>
      <vt:lpstr>二叉树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flm</cp:lastModifiedBy>
  <cp:revision>1111</cp:revision>
  <cp:lastPrinted>2011-09-16T06:19:00Z</cp:lastPrinted>
  <dcterms:created xsi:type="dcterms:W3CDTF">2016-04-14T04:36:00Z</dcterms:created>
  <dcterms:modified xsi:type="dcterms:W3CDTF">2019-09-25T05:07:13Z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