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  <p:sldMasterId id="2147483688" r:id="rId4"/>
  </p:sldMasterIdLst>
  <p:notesMasterIdLst>
    <p:notesMasterId r:id="rId6"/>
  </p:notesMasterIdLst>
  <p:handoutMasterIdLst>
    <p:handoutMasterId r:id="rId14"/>
  </p:handoutMasterIdLst>
  <p:sldIdLst>
    <p:sldId id="1031" r:id="rId5"/>
    <p:sldId id="822" r:id="rId7"/>
    <p:sldId id="1047" r:id="rId8"/>
    <p:sldId id="823" r:id="rId9"/>
    <p:sldId id="824" r:id="rId10"/>
    <p:sldId id="825" r:id="rId11"/>
    <p:sldId id="845" r:id="rId12"/>
    <p:sldId id="1048" r:id="rId13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138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90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19200"/>
            <a:ext cx="5384800" cy="4910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384800" cy="4910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52400"/>
            <a:ext cx="2743200" cy="59769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8026400" cy="59769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3" Type="http://schemas.openxmlformats.org/officeDocument/2006/relationships/theme" Target="../theme/theme3.xml"/><Relationship Id="rId12" Type="http://schemas.openxmlformats.org/officeDocument/2006/relationships/image" Target="../media/image12.png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标题占位符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日期占位符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34400" y="6356350"/>
            <a:ext cx="3052233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40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8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865033" y="6356350"/>
            <a:ext cx="4673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  <a:defRPr sz="140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Arial" panose="020B0604020202020204" pitchFamily="34" charset="0"/>
              </a:rPr>
              <a:t>www.embedu.org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29" name="直接连接符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直接连接符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等腰三角形 9"/>
          <p:cNvSpPr>
            <a:spLocks noChangeAspect="1" noChangeArrowheads="1"/>
          </p:cNvSpPr>
          <p:nvPr/>
        </p:nvSpPr>
        <p:spPr bwMode="auto">
          <a:xfrm rot="5400000">
            <a:off x="558800" y="6467475"/>
            <a:ext cx="2540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>
            <a:lvl1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anose="05040102010807070707" pitchFamily="18" charset="2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 3" panose="05040102010807070707" pitchFamily="18" charset="2"/>
              <a:buNone/>
              <a:defRPr/>
            </a:pP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6632" name="Picture 9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144000" y="304800"/>
            <a:ext cx="2298700" cy="615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3" name="灯片编号占位符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7033" y="6356350"/>
            <a:ext cx="2641600" cy="365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Wingdings 3" panose="05040102010807070707" pitchFamily="18" charset="2"/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Char char="•"/>
            </a:pPr>
            <a:fld id="{9A0DB2DC-4C9A-4742-B13C-FB6460FD3503}" type="slidenum">
              <a:rPr lang="en-US" altLang="zh-CN" dirty="0">
                <a:cs typeface="Arial" panose="020B0604020202020204" pitchFamily="34" charset="0"/>
              </a:rPr>
            </a:fld>
            <a:endParaRPr lang="en-US" altLang="zh-CN" dirty="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634" name="文本占位符 12"/>
          <p:cNvSpPr>
            <a:spLocks noGrp="1"/>
          </p:cNvSpPr>
          <p:nvPr>
            <p:ph type="body"/>
          </p:nvPr>
        </p:nvSpPr>
        <p:spPr>
          <a:xfrm>
            <a:off x="609600" y="1219200"/>
            <a:ext cx="10972800" cy="49101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548005" indent="-273050" algn="l" rtl="0" eaLnBrk="0" fontAlgn="base" hangingPunct="0">
        <a:spcBef>
          <a:spcPts val="5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400">
          <a:solidFill>
            <a:schemeClr val="tx2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000">
          <a:solidFill>
            <a:schemeClr val="tx1"/>
          </a:solidFill>
          <a:latin typeface="+mn-lt"/>
          <a:ea typeface="+mn-ea"/>
        </a:defRPr>
      </a:lvl3pPr>
      <a:lvl4pPr marL="1097280" indent="-228600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5pPr>
      <a:lvl6pPr marL="18288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6pPr>
      <a:lvl7pPr marL="22860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7pPr>
      <a:lvl8pPr marL="27432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8pPr>
      <a:lvl9pPr marL="3200400" indent="-228600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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链式队列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50583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链式队列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296035"/>
            <a:ext cx="8768080" cy="4730750"/>
          </a:xfrm>
        </p:spPr>
        <p:txBody>
          <a:bodyPr/>
          <a:lstStyle/>
          <a:p>
            <a:pPr eaLnBrk="1" hangingPunct="1"/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插入操作在队尾进行，删除操作在队头进行，由队头指针和队尾指针控制队列的操作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 int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 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 struct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data ;	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struct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*next; 	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linklist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              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typedef  struct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linklist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front,  rear;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linkqueue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		</a:t>
            </a: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60000"/>
              </a:lnSpc>
              <a:buNone/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626745" y="615315"/>
            <a:ext cx="10681335" cy="416560"/>
          </a:xfrm>
        </p:spPr>
        <p:txBody>
          <a:bodyPr>
            <a:normAutofit fontScale="90000"/>
          </a:bodyPr>
          <a:lstStyle/>
          <a:p>
            <a:r>
              <a:rPr kumimoji="1" lang="zh-CN" altLang="en-US" sz="4400" b="0" noProof="0" dirty="0" smtClean="0">
                <a:ln>
                  <a:noFill/>
                </a:ln>
                <a:solidFill>
                  <a:srgbClr val="01E1EF"/>
                </a:solidFill>
                <a:effectLst/>
                <a:uLnTx/>
                <a:uFillTx/>
                <a:latin typeface="华文细黑" panose="02010600040101010101" pitchFamily="2" charset="-122"/>
                <a:ea typeface="微软雅黑" panose="020B0503020204020204" pitchFamily="34" charset="-122"/>
              </a:rPr>
              <a:t>链式队列</a:t>
            </a:r>
            <a:endParaRPr kumimoji="1" lang="zh-CN" altLang="en-US" sz="4400" b="0" noProof="0" dirty="0" smtClean="0">
              <a:ln>
                <a:noFill/>
              </a:ln>
              <a:solidFill>
                <a:srgbClr val="01E1EF"/>
              </a:solidFill>
              <a:effectLst/>
              <a:uLnTx/>
              <a:uFillTx/>
              <a:latin typeface="华文细黑" panose="02010600040101010101" pitchFamily="2" charset="-122"/>
              <a:ea typeface="微软雅黑" panose="020B0503020204020204" pitchFamily="34" charset="-122"/>
            </a:endParaRPr>
          </a:p>
        </p:txBody>
      </p:sp>
      <p:grpSp>
        <p:nvGrpSpPr>
          <p:cNvPr id="117764" name="Group 5"/>
          <p:cNvGrpSpPr/>
          <p:nvPr/>
        </p:nvGrpSpPr>
        <p:grpSpPr>
          <a:xfrm>
            <a:off x="921336" y="1994911"/>
            <a:ext cx="7053264" cy="1457327"/>
            <a:chOff x="-34" y="-56"/>
            <a:chExt cx="4443" cy="918"/>
          </a:xfrm>
        </p:grpSpPr>
        <p:sp>
          <p:nvSpPr>
            <p:cNvPr id="117765" name="Line 5"/>
            <p:cNvSpPr/>
            <p:nvPr/>
          </p:nvSpPr>
          <p:spPr>
            <a:xfrm>
              <a:off x="406" y="292"/>
              <a:ext cx="22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7766" name="Line 7"/>
            <p:cNvSpPr/>
            <p:nvPr/>
          </p:nvSpPr>
          <p:spPr>
            <a:xfrm>
              <a:off x="1693" y="212"/>
              <a:ext cx="0" cy="17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7767" name="Line 9"/>
            <p:cNvSpPr/>
            <p:nvPr/>
          </p:nvSpPr>
          <p:spPr>
            <a:xfrm>
              <a:off x="2518" y="217"/>
              <a:ext cx="0" cy="17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7768" name="Line 10"/>
            <p:cNvSpPr/>
            <p:nvPr/>
          </p:nvSpPr>
          <p:spPr>
            <a:xfrm>
              <a:off x="1067" y="290"/>
              <a:ext cx="35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7769" name="Line 11"/>
            <p:cNvSpPr/>
            <p:nvPr/>
          </p:nvSpPr>
          <p:spPr>
            <a:xfrm>
              <a:off x="1849" y="290"/>
              <a:ext cx="395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117770" name="Group 11"/>
            <p:cNvGrpSpPr/>
            <p:nvPr/>
          </p:nvGrpSpPr>
          <p:grpSpPr>
            <a:xfrm>
              <a:off x="621" y="170"/>
              <a:ext cx="577" cy="256"/>
              <a:chOff x="0" y="-53"/>
              <a:chExt cx="681" cy="367"/>
            </a:xfrm>
          </p:grpSpPr>
          <p:sp>
            <p:nvSpPr>
              <p:cNvPr id="117771" name="Rectangle 13" descr="宽上对角线"/>
              <p:cNvSpPr/>
              <p:nvPr/>
            </p:nvSpPr>
            <p:spPr>
              <a:xfrm>
                <a:off x="337" y="-53"/>
                <a:ext cx="344" cy="361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772" name="Rectangle 14" descr="浅色上对角线"/>
              <p:cNvSpPr/>
              <p:nvPr/>
            </p:nvSpPr>
            <p:spPr>
              <a:xfrm>
                <a:off x="0" y="-47"/>
                <a:ext cx="344" cy="361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7773" name="Text Box 15"/>
            <p:cNvSpPr txBox="1"/>
            <p:nvPr/>
          </p:nvSpPr>
          <p:spPr>
            <a:xfrm>
              <a:off x="610" y="-56"/>
              <a:ext cx="601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头结点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74" name="Line 17"/>
            <p:cNvSpPr/>
            <p:nvPr/>
          </p:nvSpPr>
          <p:spPr>
            <a:xfrm>
              <a:off x="2737" y="301"/>
              <a:ext cx="329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7775" name="Text Box 18"/>
            <p:cNvSpPr txBox="1"/>
            <p:nvPr/>
          </p:nvSpPr>
          <p:spPr>
            <a:xfrm>
              <a:off x="3039" y="141"/>
              <a:ext cx="41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…...</a:t>
              </a: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76" name="Line 19"/>
            <p:cNvSpPr/>
            <p:nvPr/>
          </p:nvSpPr>
          <p:spPr>
            <a:xfrm>
              <a:off x="3367" y="293"/>
              <a:ext cx="38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7777" name="Line 20"/>
            <p:cNvSpPr/>
            <p:nvPr/>
          </p:nvSpPr>
          <p:spPr>
            <a:xfrm>
              <a:off x="4036" y="208"/>
              <a:ext cx="0" cy="179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7778" name="Text Box 21"/>
            <p:cNvSpPr txBox="1"/>
            <p:nvPr/>
          </p:nvSpPr>
          <p:spPr>
            <a:xfrm>
              <a:off x="-34" y="167"/>
              <a:ext cx="495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front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79" name="Text Box 22"/>
            <p:cNvSpPr txBox="1"/>
            <p:nvPr/>
          </p:nvSpPr>
          <p:spPr>
            <a:xfrm>
              <a:off x="1408" y="-49"/>
              <a:ext cx="544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队头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80" name="Text Box 23"/>
            <p:cNvSpPr txBox="1"/>
            <p:nvPr/>
          </p:nvSpPr>
          <p:spPr>
            <a:xfrm>
              <a:off x="3817" y="-49"/>
              <a:ext cx="439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队尾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81" name="Line 24"/>
            <p:cNvSpPr/>
            <p:nvPr/>
          </p:nvSpPr>
          <p:spPr>
            <a:xfrm flipV="1">
              <a:off x="4036" y="477"/>
              <a:ext cx="0" cy="18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7782" name="Text Box 25"/>
            <p:cNvSpPr txBox="1"/>
            <p:nvPr/>
          </p:nvSpPr>
          <p:spPr>
            <a:xfrm>
              <a:off x="3991" y="610"/>
              <a:ext cx="418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rear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83" name="Rectangle 26"/>
            <p:cNvSpPr/>
            <p:nvPr/>
          </p:nvSpPr>
          <p:spPr>
            <a:xfrm>
              <a:off x="3775" y="173"/>
              <a:ext cx="565" cy="252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84" name="Rectangle 27"/>
            <p:cNvSpPr/>
            <p:nvPr/>
          </p:nvSpPr>
          <p:spPr>
            <a:xfrm>
              <a:off x="1420" y="167"/>
              <a:ext cx="565" cy="252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785" name="Rectangle 28"/>
            <p:cNvSpPr/>
            <p:nvPr/>
          </p:nvSpPr>
          <p:spPr>
            <a:xfrm>
              <a:off x="2239" y="173"/>
              <a:ext cx="565" cy="252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47438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</a:rPr>
              <a:t>队列</a:t>
            </a:r>
            <a:endParaRPr sz="4400" b="0" dirty="0">
              <a:solidFill>
                <a:srgbClr val="01E1EF"/>
              </a:solidFill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940753" y="2057400"/>
            <a:ext cx="3943349" cy="853300"/>
            <a:chOff x="0" y="0"/>
            <a:chExt cx="2484" cy="1300"/>
          </a:xfrm>
        </p:grpSpPr>
        <p:grpSp>
          <p:nvGrpSpPr>
            <p:cNvPr id="118788" name="Group 5"/>
            <p:cNvGrpSpPr/>
            <p:nvPr/>
          </p:nvGrpSpPr>
          <p:grpSpPr>
            <a:xfrm>
              <a:off x="635" y="38"/>
              <a:ext cx="681" cy="567"/>
              <a:chOff x="0" y="-154"/>
              <a:chExt cx="681" cy="567"/>
            </a:xfrm>
          </p:grpSpPr>
          <p:sp>
            <p:nvSpPr>
              <p:cNvPr id="118789" name="Rectangle 5" descr="宽上对角线"/>
              <p:cNvSpPr/>
              <p:nvPr/>
            </p:nvSpPr>
            <p:spPr>
              <a:xfrm>
                <a:off x="337" y="-150"/>
                <a:ext cx="344" cy="563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790" name="Rectangle 6" descr="浅色上对角线"/>
              <p:cNvSpPr/>
              <p:nvPr/>
            </p:nvSpPr>
            <p:spPr>
              <a:xfrm>
                <a:off x="0" y="-154"/>
                <a:ext cx="344" cy="563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8791" name="Text Box 7"/>
            <p:cNvSpPr txBox="1"/>
            <p:nvPr/>
          </p:nvSpPr>
          <p:spPr>
            <a:xfrm>
              <a:off x="549" y="601"/>
              <a:ext cx="495" cy="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front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92" name="Line 8"/>
            <p:cNvSpPr/>
            <p:nvPr/>
          </p:nvSpPr>
          <p:spPr>
            <a:xfrm flipV="1">
              <a:off x="2112" y="552"/>
              <a:ext cx="0" cy="26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793" name="Text Box 9"/>
            <p:cNvSpPr txBox="1"/>
            <p:nvPr/>
          </p:nvSpPr>
          <p:spPr>
            <a:xfrm>
              <a:off x="2066" y="690"/>
              <a:ext cx="418" cy="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rear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94" name="Line 10"/>
            <p:cNvSpPr/>
            <p:nvPr/>
          </p:nvSpPr>
          <p:spPr>
            <a:xfrm flipV="1">
              <a:off x="793" y="446"/>
              <a:ext cx="0" cy="244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795" name="Text Box 11"/>
            <p:cNvSpPr txBox="1"/>
            <p:nvPr/>
          </p:nvSpPr>
          <p:spPr>
            <a:xfrm>
              <a:off x="0" y="0"/>
              <a:ext cx="518" cy="60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入队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96" name="Rectangle 12"/>
            <p:cNvSpPr/>
            <p:nvPr/>
          </p:nvSpPr>
          <p:spPr>
            <a:xfrm>
              <a:off x="1661" y="42"/>
              <a:ext cx="666" cy="563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797" name="Line 13"/>
            <p:cNvSpPr/>
            <p:nvPr/>
          </p:nvSpPr>
          <p:spPr>
            <a:xfrm>
              <a:off x="1244" y="320"/>
              <a:ext cx="4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798" name="Line 14"/>
            <p:cNvSpPr/>
            <p:nvPr/>
          </p:nvSpPr>
          <p:spPr>
            <a:xfrm>
              <a:off x="1974" y="195"/>
              <a:ext cx="0" cy="25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799" name="Text Box 15"/>
            <p:cNvSpPr txBox="1"/>
            <p:nvPr/>
          </p:nvSpPr>
          <p:spPr>
            <a:xfrm>
              <a:off x="2022" y="46"/>
              <a:ext cx="236" cy="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^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00" name="Text Box 16"/>
            <p:cNvSpPr txBox="1"/>
            <p:nvPr/>
          </p:nvSpPr>
          <p:spPr>
            <a:xfrm>
              <a:off x="1697" y="12"/>
              <a:ext cx="198" cy="6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Group 18"/>
          <p:cNvGrpSpPr/>
          <p:nvPr/>
        </p:nvGrpSpPr>
        <p:grpSpPr>
          <a:xfrm>
            <a:off x="907733" y="3046024"/>
            <a:ext cx="5326063" cy="839669"/>
            <a:chOff x="-4" y="-3"/>
            <a:chExt cx="3355" cy="1275"/>
          </a:xfrm>
        </p:grpSpPr>
        <p:grpSp>
          <p:nvGrpSpPr>
            <p:cNvPr id="118802" name="Group 19"/>
            <p:cNvGrpSpPr/>
            <p:nvPr/>
          </p:nvGrpSpPr>
          <p:grpSpPr>
            <a:xfrm>
              <a:off x="646" y="37"/>
              <a:ext cx="681" cy="565"/>
              <a:chOff x="0" y="-153"/>
              <a:chExt cx="681" cy="565"/>
            </a:xfrm>
          </p:grpSpPr>
          <p:sp>
            <p:nvSpPr>
              <p:cNvPr id="118803" name="Rectangle 19" descr="宽上对角线"/>
              <p:cNvSpPr/>
              <p:nvPr/>
            </p:nvSpPr>
            <p:spPr>
              <a:xfrm>
                <a:off x="337" y="-149"/>
                <a:ext cx="344" cy="561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804" name="Rectangle 20" descr="浅色上对角线"/>
              <p:cNvSpPr/>
              <p:nvPr/>
            </p:nvSpPr>
            <p:spPr>
              <a:xfrm>
                <a:off x="0" y="-153"/>
                <a:ext cx="344" cy="561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8805" name="Text Box 21"/>
            <p:cNvSpPr txBox="1"/>
            <p:nvPr/>
          </p:nvSpPr>
          <p:spPr>
            <a:xfrm>
              <a:off x="749" y="662"/>
              <a:ext cx="495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front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06" name="Line 22"/>
            <p:cNvSpPr/>
            <p:nvPr/>
          </p:nvSpPr>
          <p:spPr>
            <a:xfrm flipV="1">
              <a:off x="2955" y="637"/>
              <a:ext cx="0" cy="26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807" name="Text Box 23"/>
            <p:cNvSpPr txBox="1"/>
            <p:nvPr/>
          </p:nvSpPr>
          <p:spPr>
            <a:xfrm>
              <a:off x="2900" y="666"/>
              <a:ext cx="451" cy="6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rear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08" name="Line 24"/>
            <p:cNvSpPr/>
            <p:nvPr/>
          </p:nvSpPr>
          <p:spPr>
            <a:xfrm flipV="1">
              <a:off x="793" y="553"/>
              <a:ext cx="0" cy="244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809" name="Text Box 25"/>
            <p:cNvSpPr txBox="1"/>
            <p:nvPr/>
          </p:nvSpPr>
          <p:spPr>
            <a:xfrm>
              <a:off x="-4" y="-3"/>
              <a:ext cx="525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入队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10" name="Rectangle 26"/>
            <p:cNvSpPr/>
            <p:nvPr/>
          </p:nvSpPr>
          <p:spPr>
            <a:xfrm>
              <a:off x="1661" y="41"/>
              <a:ext cx="666" cy="561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11" name="Line 27"/>
            <p:cNvSpPr/>
            <p:nvPr/>
          </p:nvSpPr>
          <p:spPr>
            <a:xfrm>
              <a:off x="1244" y="318"/>
              <a:ext cx="4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812" name="Line 28"/>
            <p:cNvSpPr/>
            <p:nvPr/>
          </p:nvSpPr>
          <p:spPr>
            <a:xfrm>
              <a:off x="1974" y="193"/>
              <a:ext cx="0" cy="25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813" name="Text Box 29"/>
            <p:cNvSpPr txBox="1"/>
            <p:nvPr/>
          </p:nvSpPr>
          <p:spPr>
            <a:xfrm>
              <a:off x="1697" y="12"/>
              <a:ext cx="198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14" name="Rectangle 30"/>
            <p:cNvSpPr/>
            <p:nvPr/>
          </p:nvSpPr>
          <p:spPr>
            <a:xfrm>
              <a:off x="2646" y="48"/>
              <a:ext cx="666" cy="561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15" name="Line 31"/>
            <p:cNvSpPr/>
            <p:nvPr/>
          </p:nvSpPr>
          <p:spPr>
            <a:xfrm>
              <a:off x="2959" y="200"/>
              <a:ext cx="0" cy="25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816" name="Text Box 32"/>
            <p:cNvSpPr txBox="1"/>
            <p:nvPr/>
          </p:nvSpPr>
          <p:spPr>
            <a:xfrm>
              <a:off x="3007" y="53"/>
              <a:ext cx="236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^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17" name="Text Box 33"/>
            <p:cNvSpPr txBox="1"/>
            <p:nvPr/>
          </p:nvSpPr>
          <p:spPr>
            <a:xfrm>
              <a:off x="2680" y="19"/>
              <a:ext cx="202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18" name="Line 34"/>
            <p:cNvSpPr/>
            <p:nvPr/>
          </p:nvSpPr>
          <p:spPr>
            <a:xfrm>
              <a:off x="2229" y="325"/>
              <a:ext cx="42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" name="Group 36"/>
          <p:cNvGrpSpPr/>
          <p:nvPr/>
        </p:nvGrpSpPr>
        <p:grpSpPr>
          <a:xfrm>
            <a:off x="914400" y="3962400"/>
            <a:ext cx="5257800" cy="912111"/>
            <a:chOff x="0" y="0"/>
            <a:chExt cx="3312" cy="1385"/>
          </a:xfrm>
        </p:grpSpPr>
        <p:grpSp>
          <p:nvGrpSpPr>
            <p:cNvPr id="118820" name="Group 37"/>
            <p:cNvGrpSpPr/>
            <p:nvPr/>
          </p:nvGrpSpPr>
          <p:grpSpPr>
            <a:xfrm>
              <a:off x="646" y="37"/>
              <a:ext cx="681" cy="565"/>
              <a:chOff x="0" y="-153"/>
              <a:chExt cx="681" cy="565"/>
            </a:xfrm>
          </p:grpSpPr>
          <p:sp>
            <p:nvSpPr>
              <p:cNvPr id="118821" name="Rectangle 37" descr="宽上对角线"/>
              <p:cNvSpPr/>
              <p:nvPr/>
            </p:nvSpPr>
            <p:spPr>
              <a:xfrm>
                <a:off x="337" y="-149"/>
                <a:ext cx="344" cy="561"/>
              </a:xfrm>
              <a:prstGeom prst="rect">
                <a:avLst/>
              </a:prstGeom>
              <a:noFill/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822" name="Rectangle 38" descr="浅色上对角线"/>
              <p:cNvSpPr/>
              <p:nvPr/>
            </p:nvSpPr>
            <p:spPr>
              <a:xfrm>
                <a:off x="0" y="-153"/>
                <a:ext cx="344" cy="561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>
                <a:spAutoFit/>
              </a:bodyPr>
              <a:lstStyle/>
              <a:p>
                <a:pPr algn="ctr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None/>
                </a:pP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8823" name="Text Box 39"/>
            <p:cNvSpPr txBox="1"/>
            <p:nvPr/>
          </p:nvSpPr>
          <p:spPr>
            <a:xfrm>
              <a:off x="749" y="688"/>
              <a:ext cx="495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front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24" name="Line 40"/>
            <p:cNvSpPr/>
            <p:nvPr/>
          </p:nvSpPr>
          <p:spPr>
            <a:xfrm flipV="1">
              <a:off x="2955" y="639"/>
              <a:ext cx="0" cy="26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825" name="Text Box 41"/>
            <p:cNvSpPr txBox="1"/>
            <p:nvPr/>
          </p:nvSpPr>
          <p:spPr>
            <a:xfrm>
              <a:off x="2805" y="777"/>
              <a:ext cx="418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rear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26" name="Line 42"/>
            <p:cNvSpPr/>
            <p:nvPr/>
          </p:nvSpPr>
          <p:spPr>
            <a:xfrm flipV="1">
              <a:off x="793" y="553"/>
              <a:ext cx="0" cy="244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18827" name="Text Box 43"/>
            <p:cNvSpPr txBox="1"/>
            <p:nvPr/>
          </p:nvSpPr>
          <p:spPr>
            <a:xfrm>
              <a:off x="0" y="0"/>
              <a:ext cx="518" cy="6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出队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28" name="Rectangle 44"/>
            <p:cNvSpPr/>
            <p:nvPr/>
          </p:nvSpPr>
          <p:spPr>
            <a:xfrm>
              <a:off x="1661" y="41"/>
              <a:ext cx="666" cy="561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29" name="Line 45"/>
            <p:cNvSpPr/>
            <p:nvPr/>
          </p:nvSpPr>
          <p:spPr>
            <a:xfrm>
              <a:off x="1974" y="193"/>
              <a:ext cx="0" cy="25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830" name="Text Box 46"/>
            <p:cNvSpPr txBox="1"/>
            <p:nvPr/>
          </p:nvSpPr>
          <p:spPr>
            <a:xfrm>
              <a:off x="1697" y="12"/>
              <a:ext cx="198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31" name="Rectangle 47"/>
            <p:cNvSpPr/>
            <p:nvPr/>
          </p:nvSpPr>
          <p:spPr>
            <a:xfrm>
              <a:off x="2646" y="48"/>
              <a:ext cx="666" cy="561"/>
            </a:xfrm>
            <a:prstGeom prst="rect">
              <a:avLst/>
            </a:prstGeom>
            <a:noFill/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None/>
              </a:pP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32" name="Line 48"/>
            <p:cNvSpPr/>
            <p:nvPr/>
          </p:nvSpPr>
          <p:spPr>
            <a:xfrm>
              <a:off x="2959" y="200"/>
              <a:ext cx="0" cy="25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833" name="Text Box 49"/>
            <p:cNvSpPr txBox="1"/>
            <p:nvPr/>
          </p:nvSpPr>
          <p:spPr>
            <a:xfrm>
              <a:off x="3007" y="53"/>
              <a:ext cx="236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^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34" name="Text Box 50"/>
            <p:cNvSpPr txBox="1"/>
            <p:nvPr/>
          </p:nvSpPr>
          <p:spPr>
            <a:xfrm>
              <a:off x="2680" y="19"/>
              <a:ext cx="202" cy="60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835" name="Line 51"/>
            <p:cNvSpPr/>
            <p:nvPr/>
          </p:nvSpPr>
          <p:spPr>
            <a:xfrm>
              <a:off x="1149" y="390"/>
              <a:ext cx="0" cy="178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836" name="Line 52"/>
            <p:cNvSpPr/>
            <p:nvPr/>
          </p:nvSpPr>
          <p:spPr>
            <a:xfrm>
              <a:off x="1149" y="557"/>
              <a:ext cx="165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8837" name="Line 53"/>
            <p:cNvSpPr/>
            <p:nvPr/>
          </p:nvSpPr>
          <p:spPr>
            <a:xfrm flipV="1">
              <a:off x="2794" y="457"/>
              <a:ext cx="0" cy="10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8" name="Group 55"/>
          <p:cNvGrpSpPr/>
          <p:nvPr/>
        </p:nvGrpSpPr>
        <p:grpSpPr>
          <a:xfrm>
            <a:off x="1012825" y="1255713"/>
            <a:ext cx="2379663" cy="694122"/>
            <a:chOff x="0" y="0"/>
            <a:chExt cx="1499" cy="1056"/>
          </a:xfrm>
        </p:grpSpPr>
        <p:grpSp>
          <p:nvGrpSpPr>
            <p:cNvPr id="118839" name="Group 56"/>
            <p:cNvGrpSpPr/>
            <p:nvPr/>
          </p:nvGrpSpPr>
          <p:grpSpPr>
            <a:xfrm>
              <a:off x="0" y="0"/>
              <a:ext cx="1499" cy="1056"/>
              <a:chOff x="0" y="0"/>
              <a:chExt cx="1499" cy="1056"/>
            </a:xfrm>
          </p:grpSpPr>
          <p:grpSp>
            <p:nvGrpSpPr>
              <p:cNvPr id="118840" name="Group 57"/>
              <p:cNvGrpSpPr/>
              <p:nvPr/>
            </p:nvGrpSpPr>
            <p:grpSpPr>
              <a:xfrm>
                <a:off x="595" y="38"/>
                <a:ext cx="681" cy="566"/>
                <a:chOff x="0" y="-153"/>
                <a:chExt cx="681" cy="566"/>
              </a:xfrm>
            </p:grpSpPr>
            <p:sp>
              <p:nvSpPr>
                <p:cNvPr id="118841" name="Rectangle 57" descr="宽上对角线"/>
                <p:cNvSpPr/>
                <p:nvPr/>
              </p:nvSpPr>
              <p:spPr>
                <a:xfrm>
                  <a:off x="337" y="-149"/>
                  <a:ext cx="344" cy="56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None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842" name="Rectangle 58" descr="浅色上对角线"/>
                <p:cNvSpPr/>
                <p:nvPr/>
              </p:nvSpPr>
              <p:spPr>
                <a:xfrm>
                  <a:off x="0" y="-153"/>
                  <a:ext cx="344" cy="562"/>
                </a:xfrm>
                <a:prstGeom prst="rect">
                  <a:avLst/>
                </a:prstGeom>
                <a:blipFill rotWithShape="0">
                  <a:blip r:embed="rId1"/>
                </a:blip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None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8843" name="Text Box 59"/>
              <p:cNvSpPr txBox="1"/>
              <p:nvPr/>
            </p:nvSpPr>
            <p:spPr>
              <a:xfrm>
                <a:off x="505" y="495"/>
                <a:ext cx="452" cy="5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front</a:t>
                </a:r>
                <a:endParaRPr lang="en-US" altLang="zh-CN" sz="18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844" name="Line 60"/>
              <p:cNvSpPr/>
              <p:nvPr/>
            </p:nvSpPr>
            <p:spPr>
              <a:xfrm flipV="1">
                <a:off x="1092" y="419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8845" name="Text Box 61"/>
              <p:cNvSpPr txBox="1"/>
              <p:nvPr/>
            </p:nvSpPr>
            <p:spPr>
              <a:xfrm>
                <a:off x="1081" y="447"/>
                <a:ext cx="418" cy="6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rear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846" name="Line 62"/>
              <p:cNvSpPr/>
              <p:nvPr/>
            </p:nvSpPr>
            <p:spPr>
              <a:xfrm flipV="1">
                <a:off x="753" y="445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8847" name="Text Box 63"/>
              <p:cNvSpPr txBox="1"/>
              <p:nvPr/>
            </p:nvSpPr>
            <p:spPr>
              <a:xfrm>
                <a:off x="0" y="0"/>
                <a:ext cx="438" cy="6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空队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8848" name="Text Box 64"/>
            <p:cNvSpPr txBox="1"/>
            <p:nvPr/>
          </p:nvSpPr>
          <p:spPr>
            <a:xfrm>
              <a:off x="986" y="82"/>
              <a:ext cx="236" cy="6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^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66"/>
          <p:cNvGrpSpPr/>
          <p:nvPr/>
        </p:nvGrpSpPr>
        <p:grpSpPr>
          <a:xfrm>
            <a:off x="925513" y="4874828"/>
            <a:ext cx="2400300" cy="852534"/>
            <a:chOff x="-4" y="-3"/>
            <a:chExt cx="1512" cy="1297"/>
          </a:xfrm>
        </p:grpSpPr>
        <p:grpSp>
          <p:nvGrpSpPr>
            <p:cNvPr id="118850" name="Group 67"/>
            <p:cNvGrpSpPr/>
            <p:nvPr/>
          </p:nvGrpSpPr>
          <p:grpSpPr>
            <a:xfrm>
              <a:off x="-4" y="-3"/>
              <a:ext cx="1512" cy="1297"/>
              <a:chOff x="-4" y="-3"/>
              <a:chExt cx="1512" cy="1297"/>
            </a:xfrm>
          </p:grpSpPr>
          <p:grpSp>
            <p:nvGrpSpPr>
              <p:cNvPr id="118851" name="Group 68"/>
              <p:cNvGrpSpPr/>
              <p:nvPr/>
            </p:nvGrpSpPr>
            <p:grpSpPr>
              <a:xfrm>
                <a:off x="635" y="38"/>
                <a:ext cx="681" cy="566"/>
                <a:chOff x="0" y="-153"/>
                <a:chExt cx="681" cy="566"/>
              </a:xfrm>
            </p:grpSpPr>
            <p:sp>
              <p:nvSpPr>
                <p:cNvPr id="118852" name="Rectangle 68" descr="宽上对角线"/>
                <p:cNvSpPr/>
                <p:nvPr/>
              </p:nvSpPr>
              <p:spPr>
                <a:xfrm>
                  <a:off x="337" y="-149"/>
                  <a:ext cx="344" cy="56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bg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None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18853" name="Rectangle 69" descr="浅色上对角线"/>
                <p:cNvSpPr/>
                <p:nvPr/>
              </p:nvSpPr>
              <p:spPr>
                <a:xfrm>
                  <a:off x="0" y="-153"/>
                  <a:ext cx="344" cy="562"/>
                </a:xfrm>
                <a:prstGeom prst="rect">
                  <a:avLst/>
                </a:prstGeom>
                <a:blipFill rotWithShape="0">
                  <a:blip r:embed="rId1"/>
                </a:blip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>
                  <a:spAutoFit/>
                </a:bodyPr>
                <a:lstStyle/>
                <a:p>
                  <a:pPr algn="ctr">
                    <a:spcBef>
                      <a:spcPts val="600"/>
                    </a:spcBef>
                    <a:buClr>
                      <a:schemeClr val="accent1"/>
                    </a:buClr>
                    <a:buSzPct val="76000"/>
                    <a:buFont typeface="Wingdings 3" panose="05040102010807070707" pitchFamily="18" charset="2"/>
                    <a:buNone/>
                  </a:pPr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18854" name="Text Box 70"/>
              <p:cNvSpPr txBox="1"/>
              <p:nvPr/>
            </p:nvSpPr>
            <p:spPr>
              <a:xfrm>
                <a:off x="571" y="685"/>
                <a:ext cx="495" cy="6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front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855" name="Line 71"/>
              <p:cNvSpPr/>
              <p:nvPr/>
            </p:nvSpPr>
            <p:spPr>
              <a:xfrm flipV="1">
                <a:off x="1132" y="608"/>
                <a:ext cx="0" cy="266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8856" name="Text Box 72"/>
              <p:cNvSpPr txBox="1"/>
              <p:nvPr/>
            </p:nvSpPr>
            <p:spPr>
              <a:xfrm>
                <a:off x="1090" y="594"/>
                <a:ext cx="418" cy="6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rear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857" name="Line 73"/>
              <p:cNvSpPr/>
              <p:nvPr/>
            </p:nvSpPr>
            <p:spPr>
              <a:xfrm flipV="1">
                <a:off x="793" y="594"/>
                <a:ext cx="0" cy="2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18858" name="Text Box 74"/>
              <p:cNvSpPr txBox="1"/>
              <p:nvPr/>
            </p:nvSpPr>
            <p:spPr>
              <a:xfrm>
                <a:off x="-4" y="-3"/>
                <a:ext cx="525" cy="6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出队</a:t>
                </a:r>
                <a:endPara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8859" name="Text Box 75"/>
            <p:cNvSpPr txBox="1"/>
            <p:nvPr/>
          </p:nvSpPr>
          <p:spPr>
            <a:xfrm>
              <a:off x="1034" y="76"/>
              <a:ext cx="236" cy="6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^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8989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队列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10521" y="1186815"/>
            <a:ext cx="10725785" cy="448437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创建空队列 ：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linkqueue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CreateQueue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()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linkqueue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= 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linkqueue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*)malloc(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sizeof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linkqueue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));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-&gt;front =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-&gt;rear =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linklist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)malloc(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sizeof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));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-&gt;front-&gt;next = NULL ;	 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置空队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return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   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返回队列指针</a:t>
            </a: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  <a:buNone/>
            </a:pPr>
            <a:endParaRPr lang="en-US" altLang="x-none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判断队列空 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EmptyQueue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linkqueue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  {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return (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-&gt;front  = =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-&gt;rear) 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28065" y="399377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队列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83752" y="1186850"/>
            <a:ext cx="10725785" cy="4484370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入队 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: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void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EnQueue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linkqueue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*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x)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-&gt;rear-&gt;next = 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linklist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)malloc(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sizeof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linknode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)) ; 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-&gt;rear =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-&gt;rear-&gt;next; 	    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修改队尾指针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-&gt;rear-&gt;data = x ;		    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新数据存入新节点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-&gt;rear-&gt;next = NULL ;	     /*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新节点为队尾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return;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6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2789" y="389890"/>
            <a:ext cx="10681335" cy="416560"/>
          </a:xfrm>
        </p:spPr>
        <p:txBody>
          <a:bodyPr/>
          <a:lstStyle/>
          <a:p>
            <a:r>
              <a:rPr lang="zh-CN" altLang="en-US" sz="4400" b="0" dirty="0">
                <a:solidFill>
                  <a:srgbClr val="01E1EF"/>
                </a:solidFill>
              </a:rPr>
              <a:t>出队</a:t>
            </a:r>
            <a:endParaRPr lang="zh-CN" altLang="en-US" sz="4400" b="0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80695" y="1187103"/>
            <a:ext cx="10725785" cy="4484370"/>
          </a:xfrm>
        </p:spPr>
        <p:txBody>
          <a:bodyPr/>
          <a:lstStyle/>
          <a:p>
            <a:pPr eaLnBrk="1" hangingPunct="1">
              <a:lnSpc>
                <a:spcPct val="160000"/>
              </a:lnSpc>
            </a:pP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data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DeQueue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linkqueue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*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x;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linklist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_t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p;	       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定义一个指向队头结点的辅助指针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 =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-&gt;front-&gt;next ;    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将它指向队头结点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-&gt;front-&gt;next 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＝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p-&gt;next ;     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删除原先队头结点</a:t>
            </a:r>
            <a:endParaRPr lang="en-US" altLang="x-none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 = p-&gt;data;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free(p) ; 	/*</a:t>
            </a:r>
            <a:r>
              <a:rPr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释放原队头结点</a:t>
            </a:r>
            <a:r>
              <a:rPr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  (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-&gt;front-&gt;next  ==  NULL) 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-&gt;rear  = 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lq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-&gt;front;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x-none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return  x;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6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}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质朴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spcBef>
            <a:spcPts val="600"/>
          </a:spcBef>
          <a:spcAft>
            <a:spcPct val="0"/>
          </a:spcAft>
          <a:buClr>
            <a:schemeClr val="accent1"/>
          </a:buClr>
          <a:buSzPct val="76000"/>
          <a:buFont typeface="Wingdings 3" panose="05040102010807070707" pitchFamily="18" charset="2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spcBef>
            <a:spcPts val="600"/>
          </a:spcBef>
          <a:spcAft>
            <a:spcPct val="0"/>
          </a:spcAft>
          <a:buClr>
            <a:schemeClr val="accent1"/>
          </a:buClr>
          <a:buSzPct val="76000"/>
          <a:buFont typeface="Wingdings 3" panose="05040102010807070707" pitchFamily="18" charset="2"/>
          <a:buNone/>
          <a:defRPr kumimoji="0" lang="zh-CN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1295</Words>
  <Application>WPS 演示</Application>
  <PresentationFormat>宽屏</PresentationFormat>
  <Paragraphs>137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Times New Roman</vt:lpstr>
      <vt:lpstr>AR PL UMing CN</vt:lpstr>
      <vt:lpstr>Calibri</vt:lpstr>
      <vt:lpstr>Arial Unicode MS</vt:lpstr>
      <vt:lpstr>Segoe Print</vt:lpstr>
      <vt:lpstr>1_华清远见PPT模板（宽屏）-华清远见教育集团</vt:lpstr>
      <vt:lpstr>Office 主题</vt:lpstr>
      <vt:lpstr>质朴</vt:lpstr>
      <vt:lpstr>PowerPoint 演示文稿</vt:lpstr>
      <vt:lpstr>链式队列</vt:lpstr>
      <vt:lpstr>链式队列</vt:lpstr>
      <vt:lpstr>队列</vt:lpstr>
      <vt:lpstr>队列</vt:lpstr>
      <vt:lpstr>队列</vt:lpstr>
      <vt:lpstr>出队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flm</cp:lastModifiedBy>
  <cp:revision>1105</cp:revision>
  <cp:lastPrinted>2011-09-16T06:19:00Z</cp:lastPrinted>
  <dcterms:created xsi:type="dcterms:W3CDTF">2016-04-14T04:36:00Z</dcterms:created>
  <dcterms:modified xsi:type="dcterms:W3CDTF">2019-09-24T04:15:55Z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