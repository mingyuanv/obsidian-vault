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3"/>
  </p:sldMasterIdLst>
  <p:notesMasterIdLst>
    <p:notesMasterId r:id="rId5"/>
  </p:notesMasterIdLst>
  <p:handoutMasterIdLst>
    <p:handoutMasterId r:id="rId22"/>
  </p:handoutMasterIdLst>
  <p:sldIdLst>
    <p:sldId id="1031" r:id="rId4"/>
    <p:sldId id="993" r:id="rId6"/>
    <p:sldId id="994" r:id="rId7"/>
    <p:sldId id="1062" r:id="rId8"/>
    <p:sldId id="996" r:id="rId9"/>
    <p:sldId id="1063" r:id="rId10"/>
    <p:sldId id="998" r:id="rId11"/>
    <p:sldId id="1064" r:id="rId12"/>
    <p:sldId id="1078" r:id="rId13"/>
    <p:sldId id="999" r:id="rId14"/>
    <p:sldId id="1065" r:id="rId15"/>
    <p:sldId id="1066" r:id="rId16"/>
    <p:sldId id="1000" r:id="rId17"/>
    <p:sldId id="1001" r:id="rId18"/>
    <p:sldId id="1079" r:id="rId19"/>
    <p:sldId id="1002" r:id="rId20"/>
    <p:sldId id="1069" r:id="rId21"/>
  </p:sldIdLst>
  <p:sldSz cx="12192000" cy="6858000"/>
  <p:notesSz cx="7099300" cy="10234295"/>
  <p:defaultTextStyle>
    <a:defPPr>
      <a:defRPr lang="en-GB"/>
    </a:defPPr>
    <a:lvl1pPr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DF7"/>
    <a:srgbClr val="99CCFF"/>
    <a:srgbClr val="33CCFF"/>
    <a:srgbClr val="FF9966"/>
    <a:srgbClr val="FF5050"/>
    <a:srgbClr val="01E1EF"/>
    <a:srgbClr val="3A3C3F"/>
    <a:srgbClr val="FF7C80"/>
    <a:srgbClr val="CCFF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0" autoAdjust="0"/>
    <p:restoredTop sz="95402" autoAdjust="0"/>
  </p:normalViewPr>
  <p:slideViewPr>
    <p:cSldViewPr>
      <p:cViewPr varScale="1">
        <p:scale>
          <a:sx n="72" d="100"/>
          <a:sy n="72" d="100"/>
        </p:scale>
        <p:origin x="516" y="60"/>
      </p:cViewPr>
      <p:guideLst>
        <p:guide orient="horz" pos="2306"/>
        <p:guide pos="4037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898" y="-78"/>
      </p:cViewPr>
      <p:guideLst>
        <p:guide orient="horz" pos="3204"/>
        <p:guide pos="235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9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t" anchorCtr="0" compatLnSpc="1"/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b" anchorCtr="0" compatLnSpc="1"/>
          <a:lstStyle>
            <a:lvl1pPr algn="r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83590" algn="l"/>
                <a:tab pos="1567815" algn="l"/>
                <a:tab pos="2352040" algn="l"/>
                <a:tab pos="3136265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07200" cy="382905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0" name="标题 4"/>
          <p:cNvSpPr>
            <a:spLocks noGrp="1"/>
          </p:cNvSpPr>
          <p:nvPr>
            <p:ph type="ctrTitle" hasCustomPrompt="1"/>
          </p:nvPr>
        </p:nvSpPr>
        <p:spPr>
          <a:xfrm>
            <a:off x="531731" y="2168538"/>
            <a:ext cx="7208854" cy="1066910"/>
          </a:xfrm>
          <a:ln>
            <a:noFill/>
          </a:ln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b="0" dirty="0"/>
              <a:t>编辑母版标题样式</a:t>
            </a:r>
            <a:endParaRPr kumimoji="1" lang="en-US" altLang="zh-CN" b="0" dirty="0"/>
          </a:p>
        </p:txBody>
      </p:sp>
      <p:sp>
        <p:nvSpPr>
          <p:cNvPr id="1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2167567" y="3445443"/>
            <a:ext cx="3840658" cy="96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313241" y="3445439"/>
            <a:ext cx="188900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最基础-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10565" y="1235075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4" name="TextBox 4"/>
          <p:cNvSpPr txBox="1"/>
          <p:nvPr userDrawn="1"/>
        </p:nvSpPr>
        <p:spPr>
          <a:xfrm>
            <a:off x="5614773" y="-35790"/>
            <a:ext cx="11079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弦形 1"/>
          <p:cNvSpPr/>
          <p:nvPr userDrawn="1"/>
        </p:nvSpPr>
        <p:spPr>
          <a:xfrm rot="17580000">
            <a:off x="5162550" y="-568325"/>
            <a:ext cx="1671955" cy="1697355"/>
          </a:xfrm>
          <a:prstGeom prst="chord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8"/>
          <p:cNvSpPr>
            <a:spLocks noChangeArrowheads="1"/>
          </p:cNvSpPr>
          <p:nvPr userDrawn="1"/>
        </p:nvSpPr>
        <p:spPr bwMode="auto">
          <a:xfrm>
            <a:off x="5497830" y="164465"/>
            <a:ext cx="10007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panose="02000000000000000000" charset="-122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粗黑_GBK" panose="020000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3472180" y="171069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472815" y="24796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472180" y="322072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3472180" y="394208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4"/>
          </p:nvPr>
        </p:nvSpPr>
        <p:spPr>
          <a:xfrm>
            <a:off x="3472815" y="468312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6"/>
          </p:nvPr>
        </p:nvSpPr>
        <p:spPr>
          <a:xfrm>
            <a:off x="3472180" y="541337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板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5122" name="椭圆 13"/>
          <p:cNvSpPr/>
          <p:nvPr userDrawn="1"/>
        </p:nvSpPr>
        <p:spPr>
          <a:xfrm>
            <a:off x="1294130" y="2268855"/>
            <a:ext cx="2136775" cy="1995170"/>
          </a:xfrm>
          <a:prstGeom prst="ellipse">
            <a:avLst/>
          </a:prstGeom>
          <a:solidFill>
            <a:srgbClr val="FF505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5133" name="文本框 23"/>
          <p:cNvSpPr txBox="1"/>
          <p:nvPr userDrawn="1"/>
        </p:nvSpPr>
        <p:spPr>
          <a:xfrm>
            <a:off x="1750060" y="2909570"/>
            <a:ext cx="12249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138295" y="174180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138295" y="24923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138295" y="322008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4138295" y="393954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4"/>
          </p:nvPr>
        </p:nvSpPr>
        <p:spPr>
          <a:xfrm>
            <a:off x="4138295" y="46640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5"/>
          </p:nvPr>
        </p:nvSpPr>
        <p:spPr>
          <a:xfrm>
            <a:off x="4138295" y="99123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>
          <a:xfrm>
            <a:off x="4138295" y="542417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  <p:bldP spid="5133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6" name="椭圆 5"/>
          <p:cNvSpPr/>
          <p:nvPr userDrawn="1"/>
        </p:nvSpPr>
        <p:spPr>
          <a:xfrm>
            <a:off x="5161280" y="1643380"/>
            <a:ext cx="1461770" cy="1472565"/>
          </a:xfrm>
          <a:prstGeom prst="ellipse">
            <a:avLst/>
          </a:prstGeom>
          <a:solidFill>
            <a:srgbClr val="FF5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5284470" y="2128520"/>
            <a:ext cx="1214755" cy="501650"/>
          </a:xfrm>
          <a:ln>
            <a:noFill/>
          </a:ln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12945" y="3298190"/>
            <a:ext cx="2757805" cy="44958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3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5775" y="248285"/>
            <a:ext cx="5581650" cy="410845"/>
          </a:xfrm>
        </p:spPr>
        <p:txBody>
          <a:bodyPr/>
          <a:lstStyle>
            <a:lvl1pPr algn="ctr">
              <a:defRPr sz="2400"/>
            </a:lvl1pPr>
          </a:lstStyle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half" idx="2"/>
          </p:nvPr>
        </p:nvSpPr>
        <p:spPr>
          <a:xfrm>
            <a:off x="4093210" y="800100"/>
            <a:ext cx="3446780" cy="33655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90220" y="1670685"/>
            <a:ext cx="345630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241165" y="1670685"/>
            <a:ext cx="356679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8101965" y="1670685"/>
            <a:ext cx="3434080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648970" y="1152525"/>
            <a:ext cx="5179060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6275070" y="1152525"/>
            <a:ext cx="5274945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55650" y="467360"/>
            <a:ext cx="10681335" cy="449580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/>
        </p:nvSpPr>
        <p:spPr>
          <a:xfrm>
            <a:off x="836930" y="1316990"/>
            <a:ext cx="3819525" cy="67183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endParaRPr lang="zh-CN" altLang="en-US" sz="1800" dirty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273675" y="741045"/>
            <a:ext cx="5962650" cy="48101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2pPr>
            <a:lvl3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3pPr>
            <a:lvl4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4pPr>
            <a:lvl5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marL="0" lvl="0" algn="l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>
          <a:xfrm>
            <a:off x="522605" y="1311910"/>
            <a:ext cx="4645025" cy="4234180"/>
          </a:xfrm>
        </p:spPr>
        <p:txBody>
          <a:bodyPr/>
          <a:lstStyle>
            <a:lvl1pPr marL="0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2605" y="741045"/>
            <a:ext cx="4644390" cy="40449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2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3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1280" y="29210"/>
            <a:ext cx="12029440" cy="305371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单击图标添加图片、表格等等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785235" y="3478530"/>
            <a:ext cx="7529830" cy="25495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algn="l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04495" y="3478530"/>
            <a:ext cx="2846705" cy="33845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40560" y="146113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40560" y="263334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940560" y="379476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940560" y="495554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 hasCustomPrompt="1"/>
          </p:nvPr>
        </p:nvSpPr>
        <p:spPr>
          <a:xfrm>
            <a:off x="659765" y="146113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half" idx="16" hasCustomPrompt="1"/>
          </p:nvPr>
        </p:nvSpPr>
        <p:spPr>
          <a:xfrm>
            <a:off x="659765" y="263334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half" idx="17" hasCustomPrompt="1"/>
          </p:nvPr>
        </p:nvSpPr>
        <p:spPr>
          <a:xfrm>
            <a:off x="659765" y="379476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6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half" idx="18" hasCustomPrompt="1"/>
          </p:nvPr>
        </p:nvSpPr>
        <p:spPr>
          <a:xfrm>
            <a:off x="659765" y="495554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910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1" name="Freeform 5"/>
          <p:cNvSpPr>
            <a:spLocks noChangeArrowheads="1"/>
          </p:cNvSpPr>
          <p:nvPr userDrawn="1"/>
        </p:nvSpPr>
        <p:spPr bwMode="auto">
          <a:xfrm>
            <a:off x="1414780" y="2761298"/>
            <a:ext cx="1479550" cy="1335087"/>
          </a:xfrm>
          <a:custGeom>
            <a:avLst/>
            <a:gdLst>
              <a:gd name="T0" fmla="*/ 627189345 w 2740"/>
              <a:gd name="T1" fmla="*/ 689695246 h 2446"/>
              <a:gd name="T2" fmla="*/ 599197771 w 2740"/>
              <a:gd name="T3" fmla="*/ 717997890 h 2446"/>
              <a:gd name="T4" fmla="*/ 559251001 w 2740"/>
              <a:gd name="T5" fmla="*/ 728425323 h 2446"/>
              <a:gd name="T6" fmla="*/ 237929459 w 2740"/>
              <a:gd name="T7" fmla="*/ 728425323 h 2446"/>
              <a:gd name="T8" fmla="*/ 199732770 w 2740"/>
              <a:gd name="T9" fmla="*/ 717997890 h 2446"/>
              <a:gd name="T10" fmla="*/ 171740656 w 2740"/>
              <a:gd name="T11" fmla="*/ 689397226 h 2446"/>
              <a:gd name="T12" fmla="*/ 10496705 w 2740"/>
              <a:gd name="T13" fmla="*/ 403985536 h 2446"/>
              <a:gd name="T14" fmla="*/ 0 w 2740"/>
              <a:gd name="T15" fmla="*/ 364361945 h 2446"/>
              <a:gd name="T16" fmla="*/ 10496705 w 2740"/>
              <a:gd name="T17" fmla="*/ 324439787 h 2446"/>
              <a:gd name="T18" fmla="*/ 171157476 w 2740"/>
              <a:gd name="T19" fmla="*/ 40219632 h 2446"/>
              <a:gd name="T20" fmla="*/ 199732770 w 2740"/>
              <a:gd name="T21" fmla="*/ 11023474 h 2446"/>
              <a:gd name="T22" fmla="*/ 236179919 w 2740"/>
              <a:gd name="T23" fmla="*/ 298020 h 2446"/>
              <a:gd name="T24" fmla="*/ 558667820 w 2740"/>
              <a:gd name="T25" fmla="*/ 298020 h 2446"/>
              <a:gd name="T26" fmla="*/ 599197771 w 2740"/>
              <a:gd name="T27" fmla="*/ 11023474 h 2446"/>
              <a:gd name="T28" fmla="*/ 627189345 w 2740"/>
              <a:gd name="T29" fmla="*/ 39326117 h 2446"/>
              <a:gd name="T30" fmla="*/ 787850115 w 2740"/>
              <a:gd name="T31" fmla="*/ 323546272 h 2446"/>
              <a:gd name="T32" fmla="*/ 798930001 w 2740"/>
              <a:gd name="T33" fmla="*/ 364361945 h 2446"/>
              <a:gd name="T34" fmla="*/ 787558525 w 2740"/>
              <a:gd name="T35" fmla="*/ 405475092 h 2446"/>
              <a:gd name="T36" fmla="*/ 627189345 w 2740"/>
              <a:gd name="T37" fmla="*/ 689695246 h 244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half" idx="13" hasCustomPrompt="1"/>
          </p:nvPr>
        </p:nvSpPr>
        <p:spPr>
          <a:xfrm>
            <a:off x="1465580" y="3236595"/>
            <a:ext cx="1378585" cy="38417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6" name="Freeform 5"/>
          <p:cNvSpPr>
            <a:spLocks noChangeArrowheads="1"/>
          </p:cNvSpPr>
          <p:nvPr userDrawn="1"/>
        </p:nvSpPr>
        <p:spPr bwMode="auto">
          <a:xfrm>
            <a:off x="3296285" y="1874520"/>
            <a:ext cx="548005" cy="3263900"/>
          </a:xfrm>
          <a:custGeom>
            <a:avLst/>
            <a:gdLst>
              <a:gd name="T0" fmla="*/ 47740962 w 3544"/>
              <a:gd name="T1" fmla="*/ 416842753 h 14563"/>
              <a:gd name="T2" fmla="*/ 47740962 w 3544"/>
              <a:gd name="T3" fmla="*/ 560619273 h 14563"/>
              <a:gd name="T4" fmla="*/ 56195354 w 3544"/>
              <a:gd name="T5" fmla="*/ 620845177 h 14563"/>
              <a:gd name="T6" fmla="*/ 84639432 w 3544"/>
              <a:gd name="T7" fmla="*/ 642894584 h 14563"/>
              <a:gd name="T8" fmla="*/ 84639432 w 3544"/>
              <a:gd name="T9" fmla="*/ 663440521 h 14563"/>
              <a:gd name="T10" fmla="*/ 46164813 w 3544"/>
              <a:gd name="T11" fmla="*/ 638520988 h 14563"/>
              <a:gd name="T12" fmla="*/ 33889277 w 3544"/>
              <a:gd name="T13" fmla="*/ 548956918 h 14563"/>
              <a:gd name="T14" fmla="*/ 33889277 w 3544"/>
              <a:gd name="T15" fmla="*/ 422719607 h 14563"/>
              <a:gd name="T16" fmla="*/ 27703679 w 3544"/>
              <a:gd name="T17" fmla="*/ 365454967 h 14563"/>
              <a:gd name="T18" fmla="*/ 0 w 3544"/>
              <a:gd name="T19" fmla="*/ 340535434 h 14563"/>
              <a:gd name="T20" fmla="*/ 0 w 3544"/>
              <a:gd name="T21" fmla="*/ 322905087 h 14563"/>
              <a:gd name="T22" fmla="*/ 26915527 w 3544"/>
              <a:gd name="T23" fmla="*/ 299352209 h 14563"/>
              <a:gd name="T24" fmla="*/ 33889277 w 3544"/>
              <a:gd name="T25" fmla="*/ 240720914 h 14563"/>
              <a:gd name="T26" fmla="*/ 33889277 w 3544"/>
              <a:gd name="T27" fmla="*/ 114483603 h 14563"/>
              <a:gd name="T28" fmla="*/ 46164813 w 3544"/>
              <a:gd name="T29" fmla="*/ 24919533 h 14563"/>
              <a:gd name="T30" fmla="*/ 84639432 w 3544"/>
              <a:gd name="T31" fmla="*/ 0 h 14563"/>
              <a:gd name="T32" fmla="*/ 84639432 w 3544"/>
              <a:gd name="T33" fmla="*/ 20545936 h 14563"/>
              <a:gd name="T34" fmla="*/ 56195354 w 3544"/>
              <a:gd name="T35" fmla="*/ 41092086 h 14563"/>
              <a:gd name="T36" fmla="*/ 47740962 w 3544"/>
              <a:gd name="T37" fmla="*/ 102684433 h 14563"/>
              <a:gd name="T38" fmla="*/ 47740962 w 3544"/>
              <a:gd name="T39" fmla="*/ 246597768 h 14563"/>
              <a:gd name="T40" fmla="*/ 13851839 w 3544"/>
              <a:gd name="T41" fmla="*/ 331424113 h 14563"/>
              <a:gd name="T42" fmla="*/ 13851839 w 3544"/>
              <a:gd name="T43" fmla="*/ 332745305 h 14563"/>
              <a:gd name="T44" fmla="*/ 47740962 w 3544"/>
              <a:gd name="T45" fmla="*/ 416842753 h 1456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>
          <a:xfrm>
            <a:off x="4208780" y="493141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4208780" y="409638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4208780" y="334137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6"/>
          </p:nvPr>
        </p:nvSpPr>
        <p:spPr>
          <a:xfrm>
            <a:off x="4208780" y="254063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208780" y="175450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65810" y="3133725"/>
            <a:ext cx="1457325" cy="39560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88995" y="1557020"/>
            <a:ext cx="7988935" cy="380746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77240" y="3134360"/>
            <a:ext cx="1434465" cy="40449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237865" y="1556385"/>
            <a:ext cx="7979410" cy="300164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237865" y="4736465"/>
            <a:ext cx="7978775" cy="62801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7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78676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448500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4"/>
          </p:nvPr>
        </p:nvSpPr>
        <p:spPr>
          <a:xfrm>
            <a:off x="8182610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86765" y="1144905"/>
            <a:ext cx="10680700" cy="10083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4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4" hasCustomPrompt="1"/>
          </p:nvPr>
        </p:nvSpPr>
        <p:spPr>
          <a:xfrm>
            <a:off x="1336040" y="1300480"/>
            <a:ext cx="173863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3" hasCustomPrompt="1"/>
          </p:nvPr>
        </p:nvSpPr>
        <p:spPr>
          <a:xfrm>
            <a:off x="3705225" y="1300480"/>
            <a:ext cx="173926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5" hasCustomPrompt="1"/>
          </p:nvPr>
        </p:nvSpPr>
        <p:spPr>
          <a:xfrm>
            <a:off x="8815070" y="1300480"/>
            <a:ext cx="175006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9" hasCustomPrompt="1"/>
          </p:nvPr>
        </p:nvSpPr>
        <p:spPr>
          <a:xfrm>
            <a:off x="6286500" y="1300480"/>
            <a:ext cx="174688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281430" y="2989580"/>
            <a:ext cx="1880870" cy="298132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0"/>
          </p:nvPr>
        </p:nvSpPr>
        <p:spPr>
          <a:xfrm>
            <a:off x="3634740" y="2989580"/>
            <a:ext cx="1880870" cy="2981325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21982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>
          <a:xfrm>
            <a:off x="874966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00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animBg="1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172" name="타원 14@|1FFC:16777215|FBC:16777215|LFC:16777215|LBC:16777215"/>
          <p:cNvSpPr>
            <a:spLocks noChangeArrowheads="1"/>
          </p:cNvSpPr>
          <p:nvPr userDrawn="1"/>
        </p:nvSpPr>
        <p:spPr bwMode="auto">
          <a:xfrm>
            <a:off x="4242753" y="1815783"/>
            <a:ext cx="3225800" cy="3225800"/>
          </a:xfrm>
          <a:prstGeom prst="ellipse">
            <a:avLst/>
          </a:prstGeom>
          <a:solidFill>
            <a:srgbClr val="FF7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ko-KR" altLang="en-US" sz="2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원형 18@|1FFC:14657585|FBC:16777215|LFC:16777215|LBC:16777215"/>
          <p:cNvSpPr/>
          <p:nvPr userDrawn="1"/>
        </p:nvSpPr>
        <p:spPr bwMode="auto">
          <a:xfrm>
            <a:off x="4405630" y="1979613"/>
            <a:ext cx="2900363" cy="2900362"/>
          </a:xfrm>
          <a:custGeom>
            <a:avLst/>
            <a:gdLst>
              <a:gd name="T0" fmla="*/ 5 w 2900443"/>
              <a:gd name="T1" fmla="*/ 1453944 h 2900442"/>
              <a:gd name="T2" fmla="*/ 423419 w 2900443"/>
              <a:gd name="T3" fmla="*/ 426078 h 2900442"/>
              <a:gd name="T4" fmla="*/ 1450182 w 2900443"/>
              <a:gd name="T5" fmla="*/ -1 h 2900442"/>
              <a:gd name="T6" fmla="*/ 1450182 w 2900443"/>
              <a:gd name="T7" fmla="*/ 1450181 h 2900442"/>
              <a:gd name="T8" fmla="*/ 5 w 2900443"/>
              <a:gd name="T9" fmla="*/ 1453944 h 2900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0442">
                <a:moveTo>
                  <a:pt x="5" y="1453984"/>
                </a:moveTo>
                <a:cubicBezTo>
                  <a:pt x="-995" y="1068710"/>
                  <a:pt x="151354" y="698874"/>
                  <a:pt x="423431" y="426090"/>
                </a:cubicBezTo>
                <a:cubicBezTo>
                  <a:pt x="695508" y="153307"/>
                  <a:pt x="1064948" y="-1"/>
                  <a:pt x="1450222" y="-1"/>
                </a:cubicBezTo>
                <a:lnTo>
                  <a:pt x="1450222" y="1450221"/>
                </a:lnTo>
                <a:lnTo>
                  <a:pt x="5" y="1453984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원형 19@|1FFC:1554685|FBC:16777215|LFC:16777215|LBC:16777215"/>
          <p:cNvSpPr/>
          <p:nvPr userDrawn="1"/>
        </p:nvSpPr>
        <p:spPr bwMode="auto">
          <a:xfrm>
            <a:off x="4405630" y="1978343"/>
            <a:ext cx="2900363" cy="2900362"/>
          </a:xfrm>
          <a:custGeom>
            <a:avLst/>
            <a:gdLst>
              <a:gd name="T0" fmla="*/ 1450004 w 2900443"/>
              <a:gd name="T1" fmla="*/ 0 h 2900442"/>
              <a:gd name="T2" fmla="*/ 2900363 w 2900443"/>
              <a:gd name="T3" fmla="*/ 1449556 h 2900442"/>
              <a:gd name="T4" fmla="*/ 1450182 w 2900443"/>
              <a:gd name="T5" fmla="*/ 1450181 h 2900442"/>
              <a:gd name="T6" fmla="*/ 1450004 w 2900443"/>
              <a:gd name="T7" fmla="*/ 0 h 29004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0442">
                <a:moveTo>
                  <a:pt x="1450044" y="0"/>
                </a:moveTo>
                <a:cubicBezTo>
                  <a:pt x="2250805" y="-98"/>
                  <a:pt x="2900098" y="648836"/>
                  <a:pt x="2900443" y="1449596"/>
                </a:cubicBezTo>
                <a:lnTo>
                  <a:pt x="1450222" y="1450221"/>
                </a:lnTo>
                <a:cubicBezTo>
                  <a:pt x="1450163" y="966814"/>
                  <a:pt x="1450103" y="483407"/>
                  <a:pt x="1450044" y="0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5" name="원형 20@|1FFC:4308095|FBC:16777215|LFC:16777215|LBC:16777215"/>
          <p:cNvSpPr/>
          <p:nvPr userDrawn="1"/>
        </p:nvSpPr>
        <p:spPr bwMode="auto">
          <a:xfrm flipV="1">
            <a:off x="4405630" y="1998663"/>
            <a:ext cx="2900363" cy="2909887"/>
          </a:xfrm>
          <a:custGeom>
            <a:avLst/>
            <a:gdLst>
              <a:gd name="T0" fmla="*/ 2 w 2900443"/>
              <a:gd name="T1" fmla="*/ 1457359 h 2909669"/>
              <a:gd name="T2" fmla="*/ 424444 w 2900443"/>
              <a:gd name="T3" fmla="*/ 426447 h 2909669"/>
              <a:gd name="T4" fmla="*/ 1456363 w 2900443"/>
              <a:gd name="T5" fmla="*/ 12 h 2909669"/>
              <a:gd name="T6" fmla="*/ 1450182 w 2900443"/>
              <a:gd name="T7" fmla="*/ 1454944 h 2909669"/>
              <a:gd name="T8" fmla="*/ 2 w 2900443"/>
              <a:gd name="T9" fmla="*/ 1457359 h 2909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9669">
                <a:moveTo>
                  <a:pt x="2" y="1457250"/>
                </a:moveTo>
                <a:cubicBezTo>
                  <a:pt x="-638" y="1070716"/>
                  <a:pt x="152083" y="699817"/>
                  <a:pt x="424456" y="426415"/>
                </a:cubicBezTo>
                <a:cubicBezTo>
                  <a:pt x="697965" y="151874"/>
                  <a:pt x="1069492" y="-1642"/>
                  <a:pt x="1456403" y="12"/>
                </a:cubicBezTo>
                <a:cubicBezTo>
                  <a:pt x="1454343" y="484953"/>
                  <a:pt x="1452282" y="969894"/>
                  <a:pt x="1450222" y="1454835"/>
                </a:cubicBezTo>
                <a:lnTo>
                  <a:pt x="2" y="145725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6" name="원형 21@|1FFC:2381804|FBC:16777215|LFC:16777215|LBC:16777215"/>
          <p:cNvSpPr/>
          <p:nvPr userDrawn="1"/>
        </p:nvSpPr>
        <p:spPr bwMode="auto">
          <a:xfrm flipV="1">
            <a:off x="4405630" y="1998345"/>
            <a:ext cx="2900363" cy="2909888"/>
          </a:xfrm>
          <a:custGeom>
            <a:avLst/>
            <a:gdLst>
              <a:gd name="T0" fmla="*/ 1456177 w 2900443"/>
              <a:gd name="T1" fmla="*/ 12 h 2909669"/>
              <a:gd name="T2" fmla="*/ 2900362 w 2900443"/>
              <a:gd name="T3" fmla="*/ 1456588 h 2909669"/>
              <a:gd name="T4" fmla="*/ 1450182 w 2900443"/>
              <a:gd name="T5" fmla="*/ 1454945 h 2909669"/>
              <a:gd name="T6" fmla="*/ 1456177 w 2900443"/>
              <a:gd name="T7" fmla="*/ 12 h 29096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9669">
                <a:moveTo>
                  <a:pt x="1456217" y="12"/>
                </a:moveTo>
                <a:cubicBezTo>
                  <a:pt x="2255444" y="3327"/>
                  <a:pt x="2901345" y="654702"/>
                  <a:pt x="2900442" y="1456478"/>
                </a:cubicBezTo>
                <a:lnTo>
                  <a:pt x="1450222" y="1454835"/>
                </a:lnTo>
                <a:cubicBezTo>
                  <a:pt x="1452220" y="969894"/>
                  <a:pt x="1454219" y="484953"/>
                  <a:pt x="1456217" y="12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177" name="직선 연결선 22@|9FFC:0|FBC:0|LFC:16777215|LBC:16777215"/>
          <p:cNvCxnSpPr>
            <a:cxnSpLocks noChangeShapeType="1"/>
          </p:cNvCxnSpPr>
          <p:nvPr userDrawn="1"/>
        </p:nvCxnSpPr>
        <p:spPr bwMode="auto">
          <a:xfrm rot="5400000">
            <a:off x="4376420" y="3435350"/>
            <a:ext cx="29591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755015" y="2101850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752080" y="2101850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cxnSp>
        <p:nvCxnSpPr>
          <p:cNvPr id="15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4408805" y="3448368"/>
            <a:ext cx="2897188" cy="952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854075" y="3457893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7861300" y="3467418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文本占位符 18"/>
          <p:cNvSpPr>
            <a:spLocks noGrp="1"/>
          </p:cNvSpPr>
          <p:nvPr>
            <p:ph type="body" sz="quarter" idx="16"/>
          </p:nvPr>
        </p:nvSpPr>
        <p:spPr>
          <a:xfrm>
            <a:off x="755015" y="4105275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8"/>
          </p:nvPr>
        </p:nvSpPr>
        <p:spPr>
          <a:xfrm>
            <a:off x="7752080" y="4105275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half" idx="13" hasCustomPrompt="1"/>
          </p:nvPr>
        </p:nvSpPr>
        <p:spPr>
          <a:xfrm>
            <a:off x="755015" y="1614170"/>
            <a:ext cx="1378585" cy="3841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21" hasCustomPrompt="1"/>
          </p:nvPr>
        </p:nvSpPr>
        <p:spPr>
          <a:xfrm>
            <a:off x="7752080" y="161480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sz="half" idx="24" hasCustomPrompt="1"/>
          </p:nvPr>
        </p:nvSpPr>
        <p:spPr>
          <a:xfrm>
            <a:off x="755015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half" idx="22" hasCustomPrompt="1"/>
          </p:nvPr>
        </p:nvSpPr>
        <p:spPr>
          <a:xfrm>
            <a:off x="7752080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5" hasCustomPrompt="1"/>
          </p:nvPr>
        </p:nvSpPr>
        <p:spPr>
          <a:xfrm>
            <a:off x="4726305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6" hasCustomPrompt="1"/>
          </p:nvPr>
        </p:nvSpPr>
        <p:spPr>
          <a:xfrm>
            <a:off x="6078220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27" hasCustomPrompt="1"/>
          </p:nvPr>
        </p:nvSpPr>
        <p:spPr>
          <a:xfrm>
            <a:off x="4726305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half" idx="28" hasCustomPrompt="1"/>
          </p:nvPr>
        </p:nvSpPr>
        <p:spPr>
          <a:xfrm>
            <a:off x="6078220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7175" grpId="0" bldLvl="0" animBg="1"/>
      <p:bldP spid="7176" grpId="0" bldLvl="0" animBg="1"/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299" name="Freeform 54@|5FFC:14657585|FBC:16777215|LFC:11765543|LBC:16777215"/>
          <p:cNvSpPr/>
          <p:nvPr userDrawn="1"/>
        </p:nvSpPr>
        <p:spPr bwMode="auto">
          <a:xfrm>
            <a:off x="5223828" y="2465388"/>
            <a:ext cx="1744662" cy="1744662"/>
          </a:xfrm>
          <a:custGeom>
            <a:avLst/>
            <a:gdLst>
              <a:gd name="T0" fmla="*/ 0 w 661361"/>
              <a:gd name="T1" fmla="*/ 655493 h 661361"/>
              <a:gd name="T2" fmla="*/ 191992 w 661361"/>
              <a:gd name="T3" fmla="*/ 191989 h 661361"/>
              <a:gd name="T4" fmla="*/ 655497 w 661361"/>
              <a:gd name="T5" fmla="*/ 0 h 661361"/>
              <a:gd name="T6" fmla="*/ 1119002 w 661361"/>
              <a:gd name="T7" fmla="*/ 191991 h 661361"/>
              <a:gd name="T8" fmla="*/ 1310992 w 661361"/>
              <a:gd name="T9" fmla="*/ 655495 h 661361"/>
              <a:gd name="T10" fmla="*/ 1119002 w 661361"/>
              <a:gd name="T11" fmla="*/ 1118999 h 661361"/>
              <a:gd name="T12" fmla="*/ 655497 w 661361"/>
              <a:gd name="T13" fmla="*/ 1310988 h 661361"/>
              <a:gd name="T14" fmla="*/ 191992 w 661361"/>
              <a:gd name="T15" fmla="*/ 1118999 h 661361"/>
              <a:gd name="T16" fmla="*/ 2 w 661361"/>
              <a:gd name="T17" fmla="*/ 655495 h 661361"/>
              <a:gd name="T18" fmla="*/ 0 w 661361"/>
              <a:gd name="T19" fmla="*/ 655493 h 66136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661361" h="661361">
                <a:moveTo>
                  <a:pt x="0" y="330681"/>
                </a:moveTo>
                <a:cubicBezTo>
                  <a:pt x="0" y="242979"/>
                  <a:pt x="34840" y="158869"/>
                  <a:pt x="96855" y="96854"/>
                </a:cubicBezTo>
                <a:cubicBezTo>
                  <a:pt x="158870" y="34839"/>
                  <a:pt x="242980" y="0"/>
                  <a:pt x="330682" y="0"/>
                </a:cubicBezTo>
                <a:cubicBezTo>
                  <a:pt x="418384" y="0"/>
                  <a:pt x="502494" y="34840"/>
                  <a:pt x="564509" y="96855"/>
                </a:cubicBezTo>
                <a:cubicBezTo>
                  <a:pt x="626524" y="158870"/>
                  <a:pt x="661363" y="242980"/>
                  <a:pt x="661363" y="330682"/>
                </a:cubicBezTo>
                <a:cubicBezTo>
                  <a:pt x="661363" y="418384"/>
                  <a:pt x="626523" y="502494"/>
                  <a:pt x="564509" y="564509"/>
                </a:cubicBezTo>
                <a:cubicBezTo>
                  <a:pt x="502494" y="626524"/>
                  <a:pt x="418384" y="661363"/>
                  <a:pt x="330682" y="661363"/>
                </a:cubicBezTo>
                <a:cubicBezTo>
                  <a:pt x="242980" y="661363"/>
                  <a:pt x="158870" y="626523"/>
                  <a:pt x="96855" y="564509"/>
                </a:cubicBezTo>
                <a:cubicBezTo>
                  <a:pt x="34840" y="502494"/>
                  <a:pt x="1" y="418384"/>
                  <a:pt x="1" y="330682"/>
                </a:cubicBezTo>
                <a:lnTo>
                  <a:pt x="0" y="330681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300" name="Group 34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15" y="2784140"/>
            <a:ext cx="725463" cy="10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1" name="Elbow Connector 106"/>
          <p:cNvCxnSpPr>
            <a:cxnSpLocks noChangeShapeType="1"/>
          </p:cNvCxnSpPr>
          <p:nvPr userDrawn="1"/>
        </p:nvCxnSpPr>
        <p:spPr bwMode="auto">
          <a:xfrm>
            <a:off x="3789998" y="1856423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Straight Connector 109"/>
          <p:cNvCxnSpPr>
            <a:cxnSpLocks noChangeShapeType="1"/>
          </p:cNvCxnSpPr>
          <p:nvPr userDrawn="1"/>
        </p:nvCxnSpPr>
        <p:spPr bwMode="auto">
          <a:xfrm>
            <a:off x="3789998" y="3342323"/>
            <a:ext cx="12049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Elbow Connector 107"/>
          <p:cNvCxnSpPr>
            <a:cxnSpLocks noChangeShapeType="1"/>
          </p:cNvCxnSpPr>
          <p:nvPr userDrawn="1"/>
        </p:nvCxnSpPr>
        <p:spPr bwMode="auto">
          <a:xfrm flipV="1">
            <a:off x="3789998" y="3892550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Elbow Connector 45"/>
          <p:cNvCxnSpPr>
            <a:cxnSpLocks noChangeShapeType="1"/>
          </p:cNvCxnSpPr>
          <p:nvPr userDrawn="1"/>
        </p:nvCxnSpPr>
        <p:spPr bwMode="auto">
          <a:xfrm flipH="1">
            <a:off x="7186613" y="1856423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Straight Connector 47"/>
          <p:cNvCxnSpPr>
            <a:cxnSpLocks noChangeShapeType="1"/>
          </p:cNvCxnSpPr>
          <p:nvPr userDrawn="1"/>
        </p:nvCxnSpPr>
        <p:spPr bwMode="auto">
          <a:xfrm flipH="1">
            <a:off x="7186613" y="3339148"/>
            <a:ext cx="12303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Elbow Connector 46"/>
          <p:cNvCxnSpPr>
            <a:cxnSpLocks noChangeShapeType="1"/>
          </p:cNvCxnSpPr>
          <p:nvPr userDrawn="1"/>
        </p:nvCxnSpPr>
        <p:spPr bwMode="auto">
          <a:xfrm flipH="1" flipV="1">
            <a:off x="7186613" y="3892550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0121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1012190" y="286194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10121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6"/>
          </p:nvPr>
        </p:nvSpPr>
        <p:spPr>
          <a:xfrm>
            <a:off x="87845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8784590" y="287337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87845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9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240" y="478155"/>
            <a:ext cx="3625215" cy="41656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Freeform 9"/>
          <p:cNvSpPr/>
          <p:nvPr userDrawn="1"/>
        </p:nvSpPr>
        <p:spPr bwMode="gray">
          <a:xfrm>
            <a:off x="2612390" y="1480820"/>
            <a:ext cx="6767513" cy="1624013"/>
          </a:xfrm>
          <a:custGeom>
            <a:avLst/>
            <a:gdLst>
              <a:gd name="T0" fmla="*/ 0 w 4371"/>
              <a:gd name="T1" fmla="*/ 2147483647 h 1066"/>
              <a:gd name="T2" fmla="*/ 2147483647 w 4371"/>
              <a:gd name="T3" fmla="*/ 2147483647 h 1066"/>
              <a:gd name="T4" fmla="*/ 2147483647 w 4371"/>
              <a:gd name="T5" fmla="*/ 2147483647 h 1066"/>
              <a:gd name="T6" fmla="*/ 2147483647 w 4371"/>
              <a:gd name="T7" fmla="*/ 2147483647 h 1066"/>
              <a:gd name="T8" fmla="*/ 2147483647 w 4371"/>
              <a:gd name="T9" fmla="*/ 2147483647 h 1066"/>
              <a:gd name="T10" fmla="*/ 2147483647 w 4371"/>
              <a:gd name="T11" fmla="*/ 2147483647 h 1066"/>
              <a:gd name="T12" fmla="*/ 2147483647 w 4371"/>
              <a:gd name="T13" fmla="*/ 0 h 1066"/>
              <a:gd name="T14" fmla="*/ 2147483647 w 4371"/>
              <a:gd name="T15" fmla="*/ 2147483647 h 1066"/>
              <a:gd name="T16" fmla="*/ 2147483647 w 4371"/>
              <a:gd name="T17" fmla="*/ 2147483647 h 1066"/>
              <a:gd name="T18" fmla="*/ 2147483647 w 4371"/>
              <a:gd name="T19" fmla="*/ 2147483647 h 1066"/>
              <a:gd name="T20" fmla="*/ 2147483647 w 4371"/>
              <a:gd name="T21" fmla="*/ 2147483647 h 1066"/>
              <a:gd name="T22" fmla="*/ 2147483647 w 4371"/>
              <a:gd name="T23" fmla="*/ 2147483647 h 1066"/>
              <a:gd name="T24" fmla="*/ 2147483647 w 4371"/>
              <a:gd name="T25" fmla="*/ 2147483647 h 1066"/>
              <a:gd name="T26" fmla="*/ 2147483647 w 4371"/>
              <a:gd name="T27" fmla="*/ 2147483647 h 1066"/>
              <a:gd name="T28" fmla="*/ 2147483647 w 4371"/>
              <a:gd name="T29" fmla="*/ 2147483647 h 1066"/>
              <a:gd name="T30" fmla="*/ 0 w 4371"/>
              <a:gd name="T31" fmla="*/ 2147483647 h 106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71"/>
              <a:gd name="T49" fmla="*/ 0 h 1066"/>
              <a:gd name="T50" fmla="*/ 4371 w 4371"/>
              <a:gd name="T51" fmla="*/ 1066 h 106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71" h="1066">
                <a:moveTo>
                  <a:pt x="0" y="845"/>
                </a:moveTo>
                <a:lnTo>
                  <a:pt x="1523" y="313"/>
                </a:lnTo>
                <a:lnTo>
                  <a:pt x="1610" y="617"/>
                </a:lnTo>
                <a:lnTo>
                  <a:pt x="2720" y="243"/>
                </a:lnTo>
                <a:lnTo>
                  <a:pt x="2784" y="538"/>
                </a:lnTo>
                <a:lnTo>
                  <a:pt x="3882" y="266"/>
                </a:lnTo>
                <a:lnTo>
                  <a:pt x="3795" y="0"/>
                </a:lnTo>
                <a:lnTo>
                  <a:pt x="4371" y="269"/>
                </a:lnTo>
                <a:lnTo>
                  <a:pt x="3961" y="832"/>
                </a:lnTo>
                <a:lnTo>
                  <a:pt x="3912" y="542"/>
                </a:lnTo>
                <a:lnTo>
                  <a:pt x="2594" y="921"/>
                </a:lnTo>
                <a:lnTo>
                  <a:pt x="2509" y="620"/>
                </a:lnTo>
                <a:lnTo>
                  <a:pt x="1344" y="968"/>
                </a:lnTo>
                <a:lnTo>
                  <a:pt x="1280" y="666"/>
                </a:lnTo>
                <a:lnTo>
                  <a:pt x="67" y="1066"/>
                </a:lnTo>
                <a:lnTo>
                  <a:pt x="0" y="84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76"/>
          <p:cNvSpPr>
            <a:spLocks noChangeArrowheads="1"/>
          </p:cNvSpPr>
          <p:nvPr userDrawn="1"/>
        </p:nvSpPr>
        <p:spPr bwMode="auto">
          <a:xfrm>
            <a:off x="3785235" y="2955925"/>
            <a:ext cx="901700" cy="6223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01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76"/>
          <p:cNvSpPr>
            <a:spLocks noChangeArrowheads="1"/>
          </p:cNvSpPr>
          <p:nvPr userDrawn="1"/>
        </p:nvSpPr>
        <p:spPr bwMode="auto">
          <a:xfrm>
            <a:off x="6096000" y="2955925"/>
            <a:ext cx="7112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02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76"/>
          <p:cNvSpPr>
            <a:spLocks noChangeArrowheads="1"/>
          </p:cNvSpPr>
          <p:nvPr userDrawn="1"/>
        </p:nvSpPr>
        <p:spPr bwMode="auto">
          <a:xfrm>
            <a:off x="8468360" y="2955925"/>
            <a:ext cx="6477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03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2612390" y="3514725"/>
            <a:ext cx="1880870" cy="248031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824095" y="3514725"/>
            <a:ext cx="1880870" cy="248031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5"/>
          </p:nvPr>
        </p:nvSpPr>
        <p:spPr>
          <a:xfrm>
            <a:off x="7136765" y="3514725"/>
            <a:ext cx="1880870" cy="2480310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Line 6"/>
          <p:cNvSpPr>
            <a:spLocks noChangeShapeType="1"/>
          </p:cNvSpPr>
          <p:nvPr userDrawn="1"/>
        </p:nvSpPr>
        <p:spPr bwMode="gray">
          <a:xfrm>
            <a:off x="468693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3" name="Line 6"/>
          <p:cNvSpPr>
            <a:spLocks noChangeShapeType="1"/>
          </p:cNvSpPr>
          <p:nvPr userDrawn="1"/>
        </p:nvSpPr>
        <p:spPr bwMode="gray">
          <a:xfrm>
            <a:off x="692086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0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417638" y="1350645"/>
            <a:ext cx="4678363" cy="4602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矩形 12"/>
          <p:cNvSpPr/>
          <p:nvPr userDrawn="1"/>
        </p:nvSpPr>
        <p:spPr>
          <a:xfrm>
            <a:off x="8474075" y="1349058"/>
            <a:ext cx="2300288" cy="46037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376" name="Group 213"/>
          <p:cNvGrpSpPr/>
          <p:nvPr userDrawn="1"/>
        </p:nvGrpSpPr>
        <p:grpSpPr>
          <a:xfrm>
            <a:off x="8896350" y="3031490"/>
            <a:ext cx="1229360" cy="1240790"/>
            <a:chOff x="846137" y="3833813"/>
            <a:chExt cx="412750" cy="412750"/>
          </a:xfrm>
          <a:solidFill>
            <a:schemeClr val="bg1"/>
          </a:solidFill>
        </p:grpSpPr>
        <p:sp>
          <p:nvSpPr>
            <p:cNvPr id="377" name="Freeform 318"/>
            <p:cNvSpPr>
              <a:spLocks noEditPoints="1"/>
            </p:cNvSpPr>
            <p:nvPr/>
          </p:nvSpPr>
          <p:spPr bwMode="auto">
            <a:xfrm>
              <a:off x="846137" y="3833813"/>
              <a:ext cx="412750" cy="412750"/>
            </a:xfrm>
            <a:custGeom>
              <a:avLst/>
              <a:gdLst>
                <a:gd name="T0" fmla="*/ 476 w 548"/>
                <a:gd name="T1" fmla="*/ 72 h 548"/>
                <a:gd name="T2" fmla="*/ 216 w 548"/>
                <a:gd name="T3" fmla="*/ 72 h 548"/>
                <a:gd name="T4" fmla="*/ 190 w 548"/>
                <a:gd name="T5" fmla="*/ 300 h 548"/>
                <a:gd name="T6" fmla="*/ 14 w 548"/>
                <a:gd name="T7" fmla="*/ 477 h 548"/>
                <a:gd name="T8" fmla="*/ 14 w 548"/>
                <a:gd name="T9" fmla="*/ 525 h 548"/>
                <a:gd name="T10" fmla="*/ 23 w 548"/>
                <a:gd name="T11" fmla="*/ 534 h 548"/>
                <a:gd name="T12" fmla="*/ 71 w 548"/>
                <a:gd name="T13" fmla="*/ 534 h 548"/>
                <a:gd name="T14" fmla="*/ 248 w 548"/>
                <a:gd name="T15" fmla="*/ 358 h 548"/>
                <a:gd name="T16" fmla="*/ 476 w 548"/>
                <a:gd name="T17" fmla="*/ 332 h 548"/>
                <a:gd name="T18" fmla="*/ 476 w 548"/>
                <a:gd name="T19" fmla="*/ 72 h 548"/>
                <a:gd name="T20" fmla="*/ 440 w 548"/>
                <a:gd name="T21" fmla="*/ 296 h 548"/>
                <a:gd name="T22" fmla="*/ 252 w 548"/>
                <a:gd name="T23" fmla="*/ 296 h 548"/>
                <a:gd name="T24" fmla="*/ 252 w 548"/>
                <a:gd name="T25" fmla="*/ 108 h 548"/>
                <a:gd name="T26" fmla="*/ 440 w 548"/>
                <a:gd name="T27" fmla="*/ 108 h 548"/>
                <a:gd name="T28" fmla="*/ 440 w 548"/>
                <a:gd name="T29" fmla="*/ 29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8" h="548">
                  <a:moveTo>
                    <a:pt x="476" y="72"/>
                  </a:moveTo>
                  <a:cubicBezTo>
                    <a:pt x="404" y="0"/>
                    <a:pt x="288" y="0"/>
                    <a:pt x="216" y="72"/>
                  </a:cubicBezTo>
                  <a:cubicBezTo>
                    <a:pt x="154" y="134"/>
                    <a:pt x="145" y="229"/>
                    <a:pt x="190" y="300"/>
                  </a:cubicBezTo>
                  <a:cubicBezTo>
                    <a:pt x="14" y="477"/>
                    <a:pt x="14" y="477"/>
                    <a:pt x="14" y="477"/>
                  </a:cubicBezTo>
                  <a:cubicBezTo>
                    <a:pt x="0" y="490"/>
                    <a:pt x="0" y="512"/>
                    <a:pt x="14" y="525"/>
                  </a:cubicBezTo>
                  <a:cubicBezTo>
                    <a:pt x="23" y="534"/>
                    <a:pt x="23" y="534"/>
                    <a:pt x="23" y="534"/>
                  </a:cubicBezTo>
                  <a:cubicBezTo>
                    <a:pt x="36" y="548"/>
                    <a:pt x="58" y="548"/>
                    <a:pt x="71" y="534"/>
                  </a:cubicBezTo>
                  <a:cubicBezTo>
                    <a:pt x="248" y="358"/>
                    <a:pt x="248" y="358"/>
                    <a:pt x="248" y="358"/>
                  </a:cubicBezTo>
                  <a:cubicBezTo>
                    <a:pt x="319" y="403"/>
                    <a:pt x="414" y="394"/>
                    <a:pt x="476" y="332"/>
                  </a:cubicBezTo>
                  <a:cubicBezTo>
                    <a:pt x="548" y="260"/>
                    <a:pt x="548" y="144"/>
                    <a:pt x="476" y="72"/>
                  </a:cubicBezTo>
                  <a:close/>
                  <a:moveTo>
                    <a:pt x="440" y="296"/>
                  </a:moveTo>
                  <a:cubicBezTo>
                    <a:pt x="388" y="348"/>
                    <a:pt x="304" y="348"/>
                    <a:pt x="252" y="296"/>
                  </a:cubicBezTo>
                  <a:cubicBezTo>
                    <a:pt x="200" y="244"/>
                    <a:pt x="200" y="160"/>
                    <a:pt x="252" y="108"/>
                  </a:cubicBezTo>
                  <a:cubicBezTo>
                    <a:pt x="304" y="56"/>
                    <a:pt x="388" y="56"/>
                    <a:pt x="440" y="108"/>
                  </a:cubicBezTo>
                  <a:cubicBezTo>
                    <a:pt x="492" y="160"/>
                    <a:pt x="492" y="244"/>
                    <a:pt x="440" y="2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8" name="Freeform 319"/>
            <p:cNvSpPr/>
            <p:nvPr/>
          </p:nvSpPr>
          <p:spPr bwMode="auto">
            <a:xfrm>
              <a:off x="1008062" y="3944938"/>
              <a:ext cx="196850" cy="23813"/>
            </a:xfrm>
            <a:custGeom>
              <a:avLst/>
              <a:gdLst>
                <a:gd name="T0" fmla="*/ 9 w 262"/>
                <a:gd name="T1" fmla="*/ 0 h 31"/>
                <a:gd name="T2" fmla="*/ 0 w 262"/>
                <a:gd name="T3" fmla="*/ 31 h 31"/>
                <a:gd name="T4" fmla="*/ 262 w 262"/>
                <a:gd name="T5" fmla="*/ 31 h 31"/>
                <a:gd name="T6" fmla="*/ 253 w 262"/>
                <a:gd name="T7" fmla="*/ 0 h 31"/>
                <a:gd name="T8" fmla="*/ 9 w 262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31">
                  <a:moveTo>
                    <a:pt x="9" y="0"/>
                  </a:moveTo>
                  <a:cubicBezTo>
                    <a:pt x="5" y="10"/>
                    <a:pt x="2" y="20"/>
                    <a:pt x="0" y="31"/>
                  </a:cubicBezTo>
                  <a:cubicBezTo>
                    <a:pt x="262" y="31"/>
                    <a:pt x="262" y="31"/>
                    <a:pt x="262" y="31"/>
                  </a:cubicBezTo>
                  <a:cubicBezTo>
                    <a:pt x="260" y="20"/>
                    <a:pt x="257" y="10"/>
                    <a:pt x="253" y="0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9" name="Freeform 320"/>
            <p:cNvSpPr/>
            <p:nvPr/>
          </p:nvSpPr>
          <p:spPr bwMode="auto">
            <a:xfrm>
              <a:off x="1006475" y="3990975"/>
              <a:ext cx="200025" cy="23813"/>
            </a:xfrm>
            <a:custGeom>
              <a:avLst/>
              <a:gdLst>
                <a:gd name="T0" fmla="*/ 0 w 266"/>
                <a:gd name="T1" fmla="*/ 1 h 31"/>
                <a:gd name="T2" fmla="*/ 5 w 266"/>
                <a:gd name="T3" fmla="*/ 31 h 31"/>
                <a:gd name="T4" fmla="*/ 261 w 266"/>
                <a:gd name="T5" fmla="*/ 31 h 31"/>
                <a:gd name="T6" fmla="*/ 266 w 266"/>
                <a:gd name="T7" fmla="*/ 0 h 31"/>
                <a:gd name="T8" fmla="*/ 0 w 266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31">
                  <a:moveTo>
                    <a:pt x="0" y="1"/>
                  </a:moveTo>
                  <a:cubicBezTo>
                    <a:pt x="1" y="11"/>
                    <a:pt x="2" y="21"/>
                    <a:pt x="5" y="31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64" y="21"/>
                    <a:pt x="265" y="11"/>
                    <a:pt x="266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</p:grp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731010" y="2084705"/>
            <a:ext cx="4003675" cy="368490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cxnSp>
        <p:nvCxnSpPr>
          <p:cNvPr id="72" name="直接连接符 71"/>
          <p:cNvCxnSpPr/>
          <p:nvPr userDrawn="1"/>
        </p:nvCxnSpPr>
        <p:spPr>
          <a:xfrm>
            <a:off x="1731010" y="1979295"/>
            <a:ext cx="1412875" cy="9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/>
          <p:cNvSpPr>
            <a:spLocks noGrp="1"/>
          </p:cNvSpPr>
          <p:nvPr>
            <p:ph type="body" sz="half" idx="15" hasCustomPrompt="1"/>
          </p:nvPr>
        </p:nvSpPr>
        <p:spPr>
          <a:xfrm>
            <a:off x="1753235" y="1587500"/>
            <a:ext cx="1390650" cy="39179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6089015" y="1350645"/>
            <a:ext cx="2385060" cy="460184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带小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任意多边形 25"/>
          <p:cNvSpPr>
            <a:spLocks noChangeAspect="1"/>
          </p:cNvSpPr>
          <p:nvPr userDrawn="1"/>
        </p:nvSpPr>
        <p:spPr>
          <a:xfrm flipH="1">
            <a:off x="755260" y="151617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1238885" y="1516380"/>
            <a:ext cx="2440940" cy="3937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178093" y="204781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1238885" y="2258060"/>
            <a:ext cx="9606280" cy="120777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15" hasCustomPrompt="1"/>
          </p:nvPr>
        </p:nvSpPr>
        <p:spPr>
          <a:xfrm>
            <a:off x="1238885" y="4046855"/>
            <a:ext cx="2440305" cy="39433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algn="ctr"/>
            <a:r>
              <a:rPr lang="zh-CN" altLang="en-US"/>
              <a:t>添加标题</a:t>
            </a:r>
            <a:endParaRPr lang="zh-CN" altLang="en-US"/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11" name="矩形 10"/>
          <p:cNvSpPr/>
          <p:nvPr userDrawn="1"/>
        </p:nvSpPr>
        <p:spPr>
          <a:xfrm>
            <a:off x="1177458" y="455479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755260" y="404728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1177290" y="4806315"/>
            <a:ext cx="9667875" cy="120777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grpSp>
        <p:nvGrpSpPr>
          <p:cNvPr id="60" name="组合 59"/>
          <p:cNvGrpSpPr/>
          <p:nvPr userDrawn="1"/>
        </p:nvGrpSpPr>
        <p:grpSpPr>
          <a:xfrm>
            <a:off x="845582" y="1935819"/>
            <a:ext cx="4002346" cy="3310499"/>
            <a:chOff x="555625" y="293801"/>
            <a:chExt cx="7936025" cy="6564199"/>
          </a:xfrm>
          <a:solidFill>
            <a:srgbClr val="FF5050"/>
          </a:solidFill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87440" y="1333500"/>
            <a:ext cx="442595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四张图+内容+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4" hasCustomPrompt="1"/>
          </p:nvPr>
        </p:nvSpPr>
        <p:spPr>
          <a:xfrm>
            <a:off x="75501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400240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24" hasCustomPrompt="1"/>
          </p:nvPr>
        </p:nvSpPr>
        <p:spPr>
          <a:xfrm>
            <a:off x="75501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5" hasCustomPrompt="1"/>
          </p:nvPr>
        </p:nvSpPr>
        <p:spPr>
          <a:xfrm>
            <a:off x="400240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>
          <a:xfrm>
            <a:off x="7249795" y="1322705"/>
            <a:ext cx="4186555" cy="444563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小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9" name="流程图: 可选过程 8"/>
          <p:cNvSpPr/>
          <p:nvPr userDrawn="1"/>
        </p:nvSpPr>
        <p:spPr>
          <a:xfrm>
            <a:off x="763905" y="710565"/>
            <a:ext cx="10663555" cy="5280660"/>
          </a:xfrm>
          <a:prstGeom prst="flowChartAlternateProcess">
            <a:avLst/>
          </a:prstGeom>
          <a:noFill/>
          <a:ln>
            <a:solidFill>
              <a:srgbClr val="FF5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 userDrawn="1"/>
        </p:nvSpPr>
        <p:spPr>
          <a:xfrm>
            <a:off x="1760855" y="360045"/>
            <a:ext cx="1584325" cy="759460"/>
          </a:xfrm>
          <a:prstGeom prst="flowChartAlternateProcess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4" hasCustomPrompt="1"/>
          </p:nvPr>
        </p:nvSpPr>
        <p:spPr>
          <a:xfrm>
            <a:off x="8247380" y="1278890"/>
            <a:ext cx="2550795" cy="192913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3" hasCustomPrompt="1"/>
          </p:nvPr>
        </p:nvSpPr>
        <p:spPr>
          <a:xfrm>
            <a:off x="8247380" y="3470910"/>
            <a:ext cx="2550795" cy="195326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half" idx="15" hasCustomPrompt="1"/>
          </p:nvPr>
        </p:nvSpPr>
        <p:spPr>
          <a:xfrm>
            <a:off x="1838325" y="520065"/>
            <a:ext cx="1407795" cy="384810"/>
          </a:xfrm>
          <a:ln>
            <a:noFill/>
          </a:ln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添加标题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12875" y="1278890"/>
            <a:ext cx="6594475" cy="41452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双方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38250" y="133350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6986905" y="137668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直接连接符 10"/>
          <p:cNvSpPr>
            <a:spLocks noChangeShapeType="1"/>
          </p:cNvSpPr>
          <p:nvPr userDrawn="1"/>
        </p:nvSpPr>
        <p:spPr bwMode="auto">
          <a:xfrm>
            <a:off x="5948680" y="1333500"/>
            <a:ext cx="34925" cy="432181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>
            <a:spLocks noChangeArrowheads="1"/>
          </p:cNvSpPr>
          <p:nvPr userDrawn="1"/>
        </p:nvSpPr>
        <p:spPr bwMode="auto">
          <a:xfrm>
            <a:off x="5542280" y="2850991"/>
            <a:ext cx="847725" cy="847725"/>
          </a:xfrm>
          <a:prstGeom prst="ellipse">
            <a:avLst/>
          </a:prstGeom>
          <a:solidFill>
            <a:srgbClr val="FF5050"/>
          </a:solidFill>
          <a:ln w="25400" cap="flat" cmpd="sng">
            <a:solidFill>
              <a:srgbClr val="F86251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TextBox 28"/>
          <p:cNvSpPr>
            <a:spLocks noChangeArrowheads="1"/>
          </p:cNvSpPr>
          <p:nvPr userDrawn="1"/>
        </p:nvSpPr>
        <p:spPr bwMode="auto">
          <a:xfrm>
            <a:off x="5692829" y="3013869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方正兰亭粗黑_GBK" panose="02000000000000000000" charset="-122"/>
                <a:ea typeface="方正兰亭粗黑_GBK" panose="02000000000000000000" charset="-122"/>
                <a:sym typeface="方正兰亭粗黑_GBK" panose="02000000000000000000" charset="-122"/>
              </a:rPr>
              <a:t>VS</a:t>
            </a:r>
            <a:endParaRPr lang="en-US" sz="2800" b="1" dirty="0">
              <a:solidFill>
                <a:schemeClr val="bg1"/>
              </a:solidFill>
              <a:latin typeface="方正兰亭粗黑_GBK" panose="02000000000000000000" charset="-122"/>
              <a:ea typeface="方正兰亭粗黑_GBK" panose="02000000000000000000" charset="-122"/>
              <a:sym typeface="方正兰亭粗黑_GBK" panose="02000000000000000000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 autoUpdateAnimBg="0"/>
      <p:bldP spid="21" grpId="0" bldLvl="0" autoUpdateAnimBg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744220" y="591820"/>
            <a:ext cx="10725785" cy="501078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468995" y="2464054"/>
            <a:ext cx="812800" cy="472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47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8450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468995" y="2552117"/>
            <a:ext cx="754380" cy="437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2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11507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9" name="图片 8" descr="创客学院订阅号二维码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23945" y="1402715"/>
            <a:ext cx="2139950" cy="213995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25545" y="3542665"/>
            <a:ext cx="1936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海量视频 贴身学习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198534" y="3542863"/>
            <a:ext cx="206934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超多干货 实时更新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华清远见官方微信二维码50cm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3945" y="1403985"/>
            <a:ext cx="2138416" cy="21384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11.png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 userDrawn="1"/>
        </p:nvSpPr>
        <p:spPr bwMode="auto">
          <a:xfrm>
            <a:off x="9672769" y="5954374"/>
            <a:ext cx="2468148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华清远见教育集团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www.farsight.com.cn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8997097" y="113465"/>
            <a:ext cx="2880134" cy="89674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16560"/>
          </a:xfrm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400" b="1" i="0" u="none" strike="noStrike" kern="1200" cap="none" spc="0" normalizeH="0" baseline="0" noProof="0" dirty="0" smtClean="0">
          <a:ln>
            <a:noFill/>
          </a:ln>
          <a:solidFill>
            <a:srgbClr val="FF5050"/>
          </a:solidFill>
          <a:effectLst/>
          <a:uLnTx/>
          <a:uFillTx/>
          <a:latin typeface="华文细黑" panose="02010600040101010101" pitchFamily="2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175" indent="0" algn="l" rtl="0" eaLnBrk="1" fontAlgn="base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76000"/>
        <a:buFont typeface="Wingdings" panose="05000000000000000000" pitchFamily="2" charset="2"/>
        <a:buNone/>
        <a:defRPr lang="zh-CN" altLang="en-US" sz="1800" kern="1200" dirty="0" smtClean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730885" indent="-360680" algn="l" rtl="0" eaLnBrk="1" fontAlgn="base" hangingPunct="1">
        <a:spcBef>
          <a:spcPct val="1340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1865">
          <a:solidFill>
            <a:schemeClr val="tx1"/>
          </a:solidFill>
          <a:latin typeface="+mn-lt"/>
          <a:ea typeface="+mn-ea"/>
        </a:defRPr>
      </a:lvl2pPr>
      <a:lvl3pPr marL="1096010" indent="-300990" algn="l" rtl="0" eaLnBrk="1" fontAlgn="base" hangingPunct="1">
        <a:spcBef>
          <a:spcPct val="1340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600">
          <a:solidFill>
            <a:schemeClr val="tx1"/>
          </a:solidFill>
          <a:latin typeface="+mn-lt"/>
          <a:ea typeface="+mn-ea"/>
        </a:defRPr>
      </a:lvl3pPr>
      <a:lvl4pPr marL="1463040" indent="-300990" algn="l" rtl="0" eaLnBrk="1" fontAlgn="base" hangingPunct="1">
        <a:spcBef>
          <a:spcPct val="1070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sz="1465">
          <a:solidFill>
            <a:schemeClr val="tx1"/>
          </a:solidFill>
          <a:latin typeface="+mn-lt"/>
          <a:ea typeface="+mn-ea"/>
        </a:defRPr>
      </a:lvl4pPr>
      <a:lvl5pPr marL="182880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200">
          <a:solidFill>
            <a:schemeClr val="tx1"/>
          </a:solidFill>
          <a:latin typeface="+mn-lt"/>
          <a:ea typeface="+mn-ea"/>
        </a:defRPr>
      </a:lvl5pPr>
      <a:lvl6pPr marL="24390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6pPr>
      <a:lvl7pPr marL="30486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7pPr>
      <a:lvl8pPr marL="36588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8pPr>
      <a:lvl9pPr marL="42684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16330" y="3522345"/>
            <a:ext cx="72866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哈希表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6490" y="5363845"/>
            <a:ext cx="659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创客学院  小美老师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6330" y="1999615"/>
            <a:ext cx="861949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66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数据结构</a:t>
            </a:r>
            <a:endParaRPr kumimoji="0" lang="zh-CN" altLang="zh-CN" sz="66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7290" y="4940935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8240" y="1315720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292577"/>
            <a:ext cx="10681335" cy="416560"/>
          </a:xfrm>
        </p:spPr>
        <p:txBody>
          <a:bodyPr/>
          <a:lstStyle/>
          <a:p>
            <a:r>
              <a:rPr lang="en-US" altLang="zh-CN"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Hash</a:t>
            </a:r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表的查找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5015" y="1087755"/>
            <a:ext cx="8194675" cy="4490085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理想的查找方法是：对给定的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</a:t>
            </a:r>
            <a:r>
              <a:rPr sz="2000" dirty="0">
                <a:solidFill>
                  <a:schemeClr val="bg1"/>
                </a:solidFill>
                <a:sym typeface="+mn-ea"/>
              </a:rPr>
              <a:t>，不经任何比较便能获取所需的记录，其查找的时间复杂度为常数级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O(C)</a:t>
            </a:r>
            <a:r>
              <a:rPr sz="2000" dirty="0">
                <a:solidFill>
                  <a:schemeClr val="bg1"/>
                </a:solidFill>
                <a:sym typeface="+mn-ea"/>
              </a:rPr>
              <a:t>。</a:t>
            </a:r>
            <a:endParaRPr sz="2000" dirty="0">
              <a:solidFill>
                <a:schemeClr val="bg1"/>
              </a:solidFill>
              <a:sym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这就要求在建立记录表的时候，确定记录的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sym typeface="+mn-ea"/>
              </a:rPr>
              <a:t>与其存储地址之间的关系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f</a:t>
            </a:r>
            <a:r>
              <a:rPr sz="2000" dirty="0">
                <a:solidFill>
                  <a:schemeClr val="bg1"/>
                </a:solidFill>
                <a:sym typeface="+mn-ea"/>
              </a:rPr>
              <a:t>，即使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sym typeface="+mn-ea"/>
              </a:rPr>
              <a:t>与记录的存放地址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</a:t>
            </a:r>
            <a:r>
              <a:rPr sz="2000" dirty="0">
                <a:solidFill>
                  <a:schemeClr val="bg1"/>
                </a:solidFill>
                <a:sym typeface="+mn-ea"/>
              </a:rPr>
              <a:t>相对应：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4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4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4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4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  <p:grpSp>
        <p:nvGrpSpPr>
          <p:cNvPr id="233476" name="Group 5"/>
          <p:cNvGrpSpPr/>
          <p:nvPr/>
        </p:nvGrpSpPr>
        <p:grpSpPr>
          <a:xfrm>
            <a:off x="1658432" y="3059147"/>
            <a:ext cx="3733800" cy="546101"/>
            <a:chOff x="0" y="0"/>
            <a:chExt cx="2352" cy="344"/>
          </a:xfrm>
        </p:grpSpPr>
        <p:sp>
          <p:nvSpPr>
            <p:cNvPr id="233477" name="Rectangle 5"/>
            <p:cNvSpPr/>
            <p:nvPr/>
          </p:nvSpPr>
          <p:spPr>
            <a:xfrm>
              <a:off x="1584" y="96"/>
              <a:ext cx="768" cy="240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记  录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3478" name="Text Box 6"/>
            <p:cNvSpPr txBox="1"/>
            <p:nvPr/>
          </p:nvSpPr>
          <p:spPr>
            <a:xfrm>
              <a:off x="0" y="163"/>
              <a:ext cx="1920" cy="1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key         		   H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3479" name="Line 7"/>
            <p:cNvSpPr/>
            <p:nvPr/>
          </p:nvSpPr>
          <p:spPr>
            <a:xfrm>
              <a:off x="384" y="240"/>
              <a:ext cx="86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3480" name="Text Box 8"/>
            <p:cNvSpPr txBox="1"/>
            <p:nvPr/>
          </p:nvSpPr>
          <p:spPr>
            <a:xfrm>
              <a:off x="672" y="0"/>
              <a:ext cx="28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291783"/>
            <a:ext cx="10681335" cy="416560"/>
          </a:xfrm>
        </p:spPr>
        <p:txBody>
          <a:bodyPr/>
          <a:lstStyle/>
          <a:p>
            <a:r>
              <a:rPr lang="en-US" altLang="zh-CN"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Hash</a:t>
            </a:r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表的查找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5015" y="1172845"/>
            <a:ext cx="8328025" cy="350647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当要查找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key=k</a:t>
            </a:r>
            <a:r>
              <a:rPr sz="2000" dirty="0">
                <a:solidFill>
                  <a:schemeClr val="bg1"/>
                </a:solidFill>
                <a:sym typeface="+mn-ea"/>
              </a:rPr>
              <a:t>的记录时，通过关系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f</a:t>
            </a:r>
            <a:r>
              <a:rPr sz="2000" dirty="0">
                <a:solidFill>
                  <a:schemeClr val="bg1"/>
                </a:solidFill>
                <a:sym typeface="+mn-ea"/>
              </a:rPr>
              <a:t>就可得到相应记录的地址而获取记录，从而免去了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sym typeface="+mn-ea"/>
              </a:rPr>
              <a:t>的比较过程。</a:t>
            </a:r>
            <a:endParaRPr sz="2000" dirty="0">
              <a:solidFill>
                <a:schemeClr val="bg1"/>
              </a:solidFill>
              <a:sym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这个关系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f</a:t>
            </a:r>
            <a:r>
              <a:rPr sz="2000" dirty="0">
                <a:solidFill>
                  <a:schemeClr val="bg1"/>
                </a:solidFill>
                <a:sym typeface="+mn-ea"/>
              </a:rPr>
              <a:t>就是所谓的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Hash</a:t>
            </a:r>
            <a:r>
              <a:rPr sz="2000" dirty="0">
                <a:solidFill>
                  <a:schemeClr val="bg1"/>
                </a:solidFill>
                <a:sym typeface="+mn-ea"/>
              </a:rPr>
              <a:t>函数（或称散列函数、杂凑函数），记为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H(key)</a:t>
            </a:r>
            <a:r>
              <a:rPr sz="2000" dirty="0">
                <a:solidFill>
                  <a:schemeClr val="bg1"/>
                </a:solidFill>
                <a:sym typeface="+mn-ea"/>
              </a:rPr>
              <a:t>。</a:t>
            </a:r>
            <a:endParaRPr sz="2000" dirty="0">
              <a:solidFill>
                <a:schemeClr val="bg1"/>
              </a:solidFill>
              <a:sym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它实际上是一个地址映象函数，其自变量为记录的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sym typeface="+mn-ea"/>
              </a:rPr>
              <a:t>，函数值为记录的存储地址（或称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Hash</a:t>
            </a:r>
            <a:r>
              <a:rPr sz="2000" dirty="0">
                <a:solidFill>
                  <a:schemeClr val="bg1"/>
                </a:solidFill>
                <a:sym typeface="+mn-ea"/>
              </a:rPr>
              <a:t>地址）。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398145" y="498475"/>
            <a:ext cx="10681335" cy="41656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Hash</a:t>
            </a:r>
            <a:r>
              <a:rPr b="1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表的查找</a:t>
            </a:r>
            <a:endParaRPr lang="zh-CN" altLang="en-US" b="1" dirty="0"/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394335" y="1290955"/>
            <a:ext cx="8328025" cy="327533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不同的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可能得到同一个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Hash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地址，即当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lang="en-US" altLang="zh-CN" sz="20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≠key</a:t>
            </a:r>
            <a:r>
              <a:rPr lang="en-US" altLang="zh-CN" sz="20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时，可能有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H(key</a:t>
            </a:r>
            <a:r>
              <a:rPr lang="en-US" altLang="zh-CN" sz="20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)=H(key</a:t>
            </a:r>
            <a:r>
              <a:rPr lang="en-US" altLang="zh-CN" sz="20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，此时称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lang="en-US" altLang="zh-CN" sz="20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lang="en-US" altLang="zh-CN" sz="20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同义词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。这种现象称为“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冲突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”或“碰撞”，因为一个数据单位只可存放一条记录。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一般，选取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Hash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函数只能做到使冲突尽可能少，却不能完全避免。这就要求在出现冲突之后，寻求适当的方法来解决冲突记录的存放问题。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74027" y="376102"/>
            <a:ext cx="10681335" cy="416560"/>
          </a:xfrm>
        </p:spPr>
        <p:txBody>
          <a:bodyPr/>
          <a:lstStyle/>
          <a:p>
            <a:r>
              <a:rPr lang="en-US" altLang="zh-CN"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Hash</a:t>
            </a:r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表的查找</a:t>
            </a:r>
            <a:br>
              <a:rPr dirty="0">
                <a:sym typeface="+mn-ea"/>
              </a:rPr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73710" y="1280160"/>
            <a:ext cx="8858250" cy="1141095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根据选取的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Hash</a:t>
            </a:r>
            <a:r>
              <a:rPr sz="2000" dirty="0">
                <a:solidFill>
                  <a:schemeClr val="bg1"/>
                </a:solidFill>
                <a:sym typeface="+mn-ea"/>
              </a:rPr>
              <a:t>函数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H(key)</a:t>
            </a:r>
            <a:r>
              <a:rPr sz="2000" dirty="0">
                <a:solidFill>
                  <a:schemeClr val="bg1"/>
                </a:solidFill>
                <a:sym typeface="+mn-ea"/>
              </a:rPr>
              <a:t>和处理冲突的方法，将一组记录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(R</a:t>
            </a:r>
            <a:r>
              <a:rPr lang="en-US" altLang="zh-CN" sz="2000" baseline="-25000" dirty="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R</a:t>
            </a:r>
            <a:r>
              <a:rPr lang="en-US" altLang="zh-CN" sz="2000" baseline="-25000" dirty="0">
                <a:solidFill>
                  <a:schemeClr val="bg1"/>
                </a:solidFill>
                <a:sym typeface="+mn-ea"/>
              </a:rPr>
              <a:t>2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……R</a:t>
            </a:r>
            <a:r>
              <a:rPr lang="en-US" altLang="zh-CN" sz="2000" baseline="-25000" dirty="0">
                <a:solidFill>
                  <a:schemeClr val="bg1"/>
                </a:solidFill>
                <a:sym typeface="+mn-ea"/>
              </a:rPr>
              <a:t>n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)</a:t>
            </a:r>
            <a:r>
              <a:rPr sz="2000" dirty="0">
                <a:solidFill>
                  <a:schemeClr val="bg1"/>
                </a:solidFill>
                <a:sym typeface="+mn-ea"/>
              </a:rPr>
              <a:t>映象到记录的存储空间，所得到的记录表称为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Hash</a:t>
            </a:r>
            <a:r>
              <a:rPr sz="2000" dirty="0">
                <a:solidFill>
                  <a:schemeClr val="bg1"/>
                </a:solidFill>
                <a:sym typeface="+mn-ea"/>
              </a:rPr>
              <a:t>表，如图：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72490" y="2550795"/>
            <a:ext cx="7705090" cy="1151890"/>
            <a:chOff x="1374" y="4017"/>
            <a:chExt cx="12134" cy="1814"/>
          </a:xfrm>
        </p:grpSpPr>
        <p:sp>
          <p:nvSpPr>
            <p:cNvPr id="6" name="矩形: 圆角 5"/>
            <p:cNvSpPr/>
            <p:nvPr/>
          </p:nvSpPr>
          <p:spPr>
            <a:xfrm>
              <a:off x="1374" y="4017"/>
              <a:ext cx="12134" cy="181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" name="Group 5"/>
            <p:cNvGrpSpPr/>
            <p:nvPr/>
          </p:nvGrpSpPr>
          <p:grpSpPr>
            <a:xfrm>
              <a:off x="1382" y="4204"/>
              <a:ext cx="12000" cy="1440"/>
              <a:chOff x="0" y="0"/>
              <a:chExt cx="4944" cy="768"/>
            </a:xfrm>
          </p:grpSpPr>
          <p:sp>
            <p:nvSpPr>
              <p:cNvPr id="236549" name="Rectangle 5"/>
              <p:cNvSpPr/>
              <p:nvPr/>
            </p:nvSpPr>
            <p:spPr>
              <a:xfrm>
                <a:off x="3264" y="192"/>
                <a:ext cx="768" cy="192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…</a:t>
                </a:r>
                <a:endParaRPr lang="en-US" altLang="zh-CN" sz="16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6550" name="Text Box 6"/>
              <p:cNvSpPr txBox="1"/>
              <p:nvPr/>
            </p:nvSpPr>
            <p:spPr>
              <a:xfrm>
                <a:off x="0" y="259"/>
                <a:ext cx="1200" cy="2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(R</a:t>
                </a:r>
                <a:r>
                  <a:rPr lang="en-US" altLang="zh-CN" sz="1600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R</a:t>
                </a:r>
                <a:r>
                  <a:rPr lang="en-US" altLang="zh-CN" sz="1600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……R</a:t>
                </a:r>
                <a:r>
                  <a:rPr lang="en-US" altLang="zh-CN" sz="1600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6551" name="Text Box 7"/>
              <p:cNvSpPr txBox="1"/>
              <p:nvPr/>
            </p:nvSpPr>
            <p:spPr>
              <a:xfrm>
                <a:off x="1200" y="96"/>
                <a:ext cx="1872" cy="3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H(key)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、解决冲突方法</a:t>
                </a:r>
                <a:endParaRPr lang="zh-CN" altLang="en-US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236552" name="Rectangle 8"/>
              <p:cNvSpPr/>
              <p:nvPr/>
            </p:nvSpPr>
            <p:spPr>
              <a:xfrm>
                <a:off x="3264" y="0"/>
                <a:ext cx="768" cy="192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1600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16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6553" name="Rectangle 9"/>
              <p:cNvSpPr/>
              <p:nvPr/>
            </p:nvSpPr>
            <p:spPr>
              <a:xfrm>
                <a:off x="3264" y="384"/>
                <a:ext cx="768" cy="192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1600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16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6554" name="Rectangle 10"/>
              <p:cNvSpPr/>
              <p:nvPr/>
            </p:nvSpPr>
            <p:spPr>
              <a:xfrm>
                <a:off x="3264" y="576"/>
                <a:ext cx="768" cy="192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1600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  <a:endParaRPr lang="en-US" altLang="zh-CN" sz="16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6555" name="AutoShape 11"/>
              <p:cNvSpPr/>
              <p:nvPr/>
            </p:nvSpPr>
            <p:spPr>
              <a:xfrm>
                <a:off x="1152" y="336"/>
                <a:ext cx="2016" cy="144"/>
              </a:xfrm>
              <a:prstGeom prst="notchedRightArrow">
                <a:avLst>
                  <a:gd name="adj1" fmla="val 50000"/>
                  <a:gd name="adj2" fmla="val 350000"/>
                </a:avLst>
              </a:prstGeom>
              <a:solidFill>
                <a:srgbClr val="800080"/>
              </a:solidFill>
              <a:ln w="9525" cap="flat" cmpd="sng">
                <a:solidFill>
                  <a:srgbClr val="80008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None/>
                </a:pPr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6556" name="Text Box 12"/>
              <p:cNvSpPr txBox="1"/>
              <p:nvPr/>
            </p:nvSpPr>
            <p:spPr>
              <a:xfrm>
                <a:off x="4128" y="432"/>
                <a:ext cx="816" cy="3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Hash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表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461645" y="494030"/>
            <a:ext cx="10681335" cy="416560"/>
          </a:xfrm>
        </p:spPr>
        <p:txBody>
          <a:bodyPr>
            <a:normAutofit fontScale="90000"/>
          </a:bodyPr>
          <a:lstStyle/>
          <a:p>
            <a:r>
              <a:rPr lang="en-US" altLang="zh-CN"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Hash</a:t>
            </a:r>
            <a:r>
              <a:rPr sz="4400" b="1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表的查找</a:t>
            </a:r>
            <a:endParaRPr lang="zh-CN" altLang="en-US" b="1" dirty="0"/>
          </a:p>
        </p:txBody>
      </p:sp>
      <p:sp>
        <p:nvSpPr>
          <p:cNvPr id="3" name="内容占位符 4"/>
          <p:cNvSpPr>
            <a:spLocks noGrp="1"/>
          </p:cNvSpPr>
          <p:nvPr/>
        </p:nvSpPr>
        <p:spPr>
          <a:xfrm>
            <a:off x="461510" y="1320083"/>
            <a:ext cx="9005665" cy="4553002"/>
          </a:xfrm>
        </p:spPr>
        <p:txBody>
          <a:bodyPr/>
          <a:lstStyle>
            <a:lvl1pPr marL="3175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lang="zh-CN" altLang="en-US" sz="16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70205" indent="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2pPr>
            <a:lvl3pPr marL="1096010" indent="-30099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1800">
                <a:solidFill>
                  <a:schemeClr val="tx1"/>
                </a:solidFill>
                <a:latin typeface="+mn-ea"/>
                <a:ea typeface="+mn-ea"/>
              </a:defRPr>
            </a:lvl3pPr>
            <a:lvl4pPr marL="1463040" indent="-30099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1800">
                <a:solidFill>
                  <a:schemeClr val="tx1"/>
                </a:solidFill>
                <a:latin typeface="+mn-ea"/>
                <a:ea typeface="+mn-ea"/>
              </a:defRPr>
            </a:lvl4pPr>
            <a:lvl5pPr marL="1828800" indent="-30099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800">
                <a:solidFill>
                  <a:schemeClr val="tx1"/>
                </a:solidFill>
                <a:latin typeface="+mn-ea"/>
                <a:ea typeface="+mn-ea"/>
              </a:defRPr>
            </a:lvl5pPr>
            <a:lvl6pPr marL="2439035" indent="-30099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2665">
                <a:solidFill>
                  <a:schemeClr val="tx1"/>
                </a:solidFill>
                <a:latin typeface="+mn-lt"/>
                <a:ea typeface="+mn-ea"/>
              </a:defRPr>
            </a:lvl6pPr>
            <a:lvl7pPr marL="3048635" indent="-30099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2665">
                <a:solidFill>
                  <a:schemeClr val="tx1"/>
                </a:solidFill>
                <a:latin typeface="+mn-lt"/>
                <a:ea typeface="+mn-ea"/>
              </a:defRPr>
            </a:lvl7pPr>
            <a:lvl8pPr marL="3658870" indent="-30099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2665">
                <a:solidFill>
                  <a:schemeClr val="tx1"/>
                </a:solidFill>
                <a:latin typeface="+mn-lt"/>
                <a:ea typeface="+mn-ea"/>
              </a:defRPr>
            </a:lvl8pPr>
            <a:lvl9pPr marL="4268470" indent="-30099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2665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选取（或构造）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Hash</a:t>
            </a:r>
            <a:r>
              <a:rPr sz="2000" dirty="0">
                <a:solidFill>
                  <a:schemeClr val="bg1"/>
                </a:solidFill>
                <a:sym typeface="+mn-ea"/>
              </a:rPr>
              <a:t>函数的方法很多，原则是尽可能将记录均匀分布，以减少冲突现象的发生。以下介绍几种常用的构造方法。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lvl="1" algn="just" eaLnBrk="1" hangingPunct="1">
              <a:lnSpc>
                <a:spcPct val="13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直接地址法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平方取中法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叠加法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sz="2000" dirty="0" err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保留除数法</a:t>
            </a:r>
            <a:endParaRPr lang="zh-CN" altLang="en-US" sz="20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随机函数法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90000"/>
              </a:lnSpc>
            </a:pP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29742" y="431165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保留除数法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29920" y="1339215"/>
            <a:ext cx="8708390" cy="2289810"/>
          </a:xfrm>
        </p:spPr>
        <p:txBody>
          <a:bodyPr/>
          <a:lstStyle/>
          <a:p>
            <a:pPr algn="just"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又称质数除余法，设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Hash</a:t>
            </a:r>
            <a:r>
              <a:rPr sz="2000" dirty="0">
                <a:solidFill>
                  <a:schemeClr val="bg1"/>
                </a:solidFill>
                <a:sym typeface="+mn-ea"/>
              </a:rPr>
              <a:t>表空间长度为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m</a:t>
            </a:r>
            <a:r>
              <a:rPr sz="2000" dirty="0">
                <a:solidFill>
                  <a:schemeClr val="bg1"/>
                </a:solidFill>
                <a:sym typeface="+mn-ea"/>
              </a:rPr>
              <a:t>，选取一个不大于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m</a:t>
            </a:r>
            <a:r>
              <a:rPr sz="2000" dirty="0">
                <a:solidFill>
                  <a:schemeClr val="bg1"/>
                </a:solidFill>
                <a:sym typeface="+mn-ea"/>
              </a:rPr>
              <a:t>的最大质数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p</a:t>
            </a:r>
            <a:r>
              <a:rPr sz="2000" dirty="0">
                <a:solidFill>
                  <a:schemeClr val="bg1"/>
                </a:solidFill>
                <a:sym typeface="+mn-ea"/>
              </a:rPr>
              <a:t>，令：     	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H(key)=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key%p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427990" y="416560"/>
            <a:ext cx="10681335" cy="416560"/>
          </a:xfrm>
        </p:spPr>
        <p:txBody>
          <a:bodyPr>
            <a:normAutofit fontScale="90000"/>
          </a:bodyPr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保留除数法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427990" y="1191895"/>
            <a:ext cx="8987790" cy="520001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buNone/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设记录的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k={28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35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63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77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105……}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，若选取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p=21=3*7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（包括质数因子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），有：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50000"/>
              </a:lnSpc>
              <a:buNone/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28  35  63  77  105  ……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H(key)=key%21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   14   0   14    0    ……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50000"/>
              </a:lnSpc>
              <a:buNone/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使得包含质数因子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都可能被映象到相同的单元，冲突现象严重。</a:t>
            </a: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just" eaLnBrk="1" hangingPunct="1">
              <a:lnSpc>
                <a:spcPct val="150000"/>
              </a:lnSpc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427990" y="416560"/>
            <a:ext cx="10681335" cy="416560"/>
          </a:xfrm>
        </p:spPr>
        <p:txBody>
          <a:bodyPr>
            <a:normAutofit fontScale="90000"/>
          </a:bodyPr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保留除数法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427990" y="1191895"/>
            <a:ext cx="8987790" cy="520001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buNone/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若取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p=l9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（质数），同样对上面给定的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，有：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50000"/>
              </a:lnSpc>
              <a:buNone/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28  35  63  77  105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H(key)=key%19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9   16   6    1    10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H(key)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的随机度就好多了。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71805" y="288036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处理冲突的方法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71805" y="1117600"/>
            <a:ext cx="8735695" cy="114173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选取随机度好的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Hash</a:t>
            </a:r>
            <a:r>
              <a:rPr sz="2000" dirty="0">
                <a:solidFill>
                  <a:schemeClr val="bg1"/>
                </a:solidFill>
                <a:sym typeface="+mn-ea"/>
              </a:rPr>
              <a:t>函数可使冲突减少，一般来讲不能完全避免冲突。设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Hash</a:t>
            </a:r>
            <a:r>
              <a:rPr sz="2000" dirty="0">
                <a:solidFill>
                  <a:schemeClr val="bg1"/>
                </a:solidFill>
                <a:sym typeface="+mn-ea"/>
              </a:rPr>
              <a:t>表地址空间为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0</a:t>
            </a:r>
            <a:r>
              <a:rPr sz="2000" dirty="0">
                <a:solidFill>
                  <a:schemeClr val="bg1"/>
                </a:solidFill>
                <a:sym typeface="+mn-ea"/>
              </a:rPr>
              <a:t>～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m-l</a:t>
            </a:r>
            <a:r>
              <a:rPr sz="2000" dirty="0">
                <a:solidFill>
                  <a:schemeClr val="bg1"/>
                </a:solidFill>
                <a:sym typeface="+mn-ea"/>
              </a:rPr>
              <a:t>（表长为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m</a:t>
            </a:r>
            <a:r>
              <a:rPr sz="2000" dirty="0">
                <a:solidFill>
                  <a:schemeClr val="bg1"/>
                </a:solidFill>
                <a:sym typeface="+mn-ea"/>
              </a:rPr>
              <a:t>）：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243717" name="Group 5"/>
          <p:cNvGraphicFramePr>
            <a:graphicFrameLocks noGrp="1"/>
          </p:cNvGraphicFramePr>
          <p:nvPr/>
        </p:nvGraphicFramePr>
        <p:xfrm>
          <a:off x="2084705" y="2810330"/>
          <a:ext cx="6096000" cy="457200"/>
        </p:xfrm>
        <a:graphic>
          <a:graphicData uri="http://schemas.openxmlformats.org/drawingml/2006/table">
            <a:tbl>
              <a:tblPr/>
              <a:tblGrid>
                <a:gridCol w="677863"/>
                <a:gridCol w="676275"/>
                <a:gridCol w="677862"/>
                <a:gridCol w="677863"/>
                <a:gridCol w="676275"/>
                <a:gridCol w="677862"/>
                <a:gridCol w="677863"/>
                <a:gridCol w="676275"/>
                <a:gridCol w="677862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R(k)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239642" name="Text Box 26"/>
          <p:cNvSpPr txBox="1"/>
          <p:nvPr/>
        </p:nvSpPr>
        <p:spPr>
          <a:xfrm>
            <a:off x="976390" y="3224905"/>
            <a:ext cx="72390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H(key):       0         1                         j-1       j        j+1                              m-1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内容占位符 4"/>
          <p:cNvSpPr>
            <a:spLocks noGrp="1"/>
          </p:cNvSpPr>
          <p:nvPr/>
        </p:nvSpPr>
        <p:spPr>
          <a:xfrm>
            <a:off x="471805" y="4276090"/>
            <a:ext cx="8736330" cy="1141730"/>
          </a:xfrm>
        </p:spPr>
        <p:txBody>
          <a:bodyPr/>
          <a:lstStyle>
            <a:lvl1pPr marL="3175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lang="zh-CN" altLang="en-US" sz="16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70205" indent="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2pPr>
            <a:lvl3pPr marL="1096010" indent="-30099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1800">
                <a:solidFill>
                  <a:schemeClr val="tx1"/>
                </a:solidFill>
                <a:latin typeface="+mn-ea"/>
                <a:ea typeface="+mn-ea"/>
              </a:defRPr>
            </a:lvl3pPr>
            <a:lvl4pPr marL="1463040" indent="-30099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1800">
                <a:solidFill>
                  <a:schemeClr val="tx1"/>
                </a:solidFill>
                <a:latin typeface="+mn-ea"/>
                <a:ea typeface="+mn-ea"/>
              </a:defRPr>
            </a:lvl4pPr>
            <a:lvl5pPr marL="1828800" indent="-30099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800">
                <a:solidFill>
                  <a:schemeClr val="tx1"/>
                </a:solidFill>
                <a:latin typeface="+mn-ea"/>
                <a:ea typeface="+mn-ea"/>
              </a:defRPr>
            </a:lvl5pPr>
            <a:lvl6pPr marL="2439035" indent="-30099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2665">
                <a:solidFill>
                  <a:schemeClr val="tx1"/>
                </a:solidFill>
                <a:latin typeface="+mn-lt"/>
                <a:ea typeface="+mn-ea"/>
              </a:defRPr>
            </a:lvl6pPr>
            <a:lvl7pPr marL="3048635" indent="-30099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2665">
                <a:solidFill>
                  <a:schemeClr val="tx1"/>
                </a:solidFill>
                <a:latin typeface="+mn-lt"/>
                <a:ea typeface="+mn-ea"/>
              </a:defRPr>
            </a:lvl7pPr>
            <a:lvl8pPr marL="3658870" indent="-30099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2665">
                <a:solidFill>
                  <a:schemeClr val="tx1"/>
                </a:solidFill>
                <a:latin typeface="+mn-lt"/>
                <a:ea typeface="+mn-ea"/>
              </a:defRPr>
            </a:lvl8pPr>
            <a:lvl9pPr marL="4268470" indent="-30099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2665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冲突是指：表中某地址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j∈[0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m-1]</a:t>
            </a:r>
            <a:r>
              <a:rPr sz="2000" dirty="0">
                <a:solidFill>
                  <a:schemeClr val="bg1"/>
                </a:solidFill>
                <a:sym typeface="+mn-ea"/>
              </a:rPr>
              <a:t>中己存放有记录，而另一个记录的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H(key)</a:t>
            </a:r>
            <a:r>
              <a:rPr sz="2000" dirty="0">
                <a:solidFill>
                  <a:schemeClr val="bg1"/>
                </a:solidFill>
                <a:sym typeface="+mn-ea"/>
              </a:rPr>
              <a:t>值也为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j</a:t>
            </a:r>
            <a:r>
              <a:rPr sz="2000" dirty="0">
                <a:solidFill>
                  <a:schemeClr val="bg1"/>
                </a:solidFill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9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3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42" grpId="0"/>
      <p:bldP spid="23964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383540" y="538480"/>
            <a:ext cx="10681335" cy="416560"/>
          </a:xfrm>
        </p:spPr>
        <p:txBody>
          <a:bodyPr>
            <a:normAutofit fontScale="90000"/>
          </a:bodyPr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处理冲突的方法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295275" y="1087755"/>
            <a:ext cx="8683625" cy="4977765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20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处理冲突的方法一般为：在地址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的前面或后面找一个空闲单元存放冲突的记录，或将相冲突的诸记录拉成链表。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 eaLnBrk="1" hangingPunct="1">
              <a:lnSpc>
                <a:spcPct val="20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在处理冲突的过程中，可能发生一连串的冲突现象，即可能得到一个地址序列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sz="20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sz="20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……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sz="2000" baseline="-30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sz="20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∈[0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m-l]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sz="20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是冲突时选取的下一地址，而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sz="20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中可能己有记录，又设法得到下一地址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sz="20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……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直到某个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sz="2000" baseline="-30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不发生冲突为止。这种现象称为“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聚积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”，它严重影响了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Hash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表的查找效率。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383540" y="538480"/>
            <a:ext cx="10681335" cy="416560"/>
          </a:xfrm>
        </p:spPr>
        <p:txBody>
          <a:bodyPr>
            <a:normAutofit fontScale="90000"/>
          </a:bodyPr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处理冲突的方法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295275" y="1087755"/>
            <a:ext cx="8683625" cy="3547745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20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冲突现象的发生有时并不完全是由于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Hash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函数的随机性不好引起的，聚积的发生也会加重冲突。</a:t>
            </a: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just" eaLnBrk="1" hangingPunct="1">
              <a:lnSpc>
                <a:spcPct val="20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还有一个因素是表的装填因子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α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α=n/m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，其中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为表长，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为表中记录个数。一般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α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0.7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～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0.8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之间，使表保持一定的空闲余量，以减少冲突和聚积现象</a:t>
            </a:r>
            <a:r>
              <a:rPr sz="1800" dirty="0">
                <a:solidFill>
                  <a:schemeClr val="bg1"/>
                </a:solidFill>
                <a:sym typeface="+mn-ea"/>
              </a:rPr>
              <a:t>。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39750" y="38989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开放地址法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74041" y="1195993"/>
            <a:ext cx="8112224" cy="4824536"/>
          </a:xfrm>
        </p:spPr>
        <p:txBody>
          <a:bodyPr/>
          <a:lstStyle/>
          <a:p>
            <a:pPr algn="just" eaLnBrk="1" hangingPunct="1">
              <a:lnSpc>
                <a:spcPct val="18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当发生冲突时，在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H(key)</a:t>
            </a:r>
            <a:r>
              <a:rPr sz="2000" dirty="0">
                <a:solidFill>
                  <a:schemeClr val="bg1"/>
                </a:solidFill>
                <a:sym typeface="+mn-ea"/>
              </a:rPr>
              <a:t>的前后找一个空闲单元来存放冲突的记录，即在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H(key)</a:t>
            </a:r>
            <a:r>
              <a:rPr sz="2000" dirty="0">
                <a:solidFill>
                  <a:schemeClr val="bg1"/>
                </a:solidFill>
                <a:sym typeface="+mn-ea"/>
              </a:rPr>
              <a:t>的基础上获取下一地址：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8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                        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=(H(key)+d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)%m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80000"/>
              </a:lnSpc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</a:t>
            </a:r>
            <a:r>
              <a:rPr sz="2000" dirty="0">
                <a:solidFill>
                  <a:schemeClr val="bg1"/>
                </a:solidFill>
                <a:sym typeface="+mn-ea"/>
              </a:rPr>
              <a:t>其中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m</a:t>
            </a:r>
            <a:r>
              <a:rPr sz="2000" dirty="0">
                <a:solidFill>
                  <a:schemeClr val="bg1"/>
                </a:solidFill>
                <a:sym typeface="+mn-ea"/>
              </a:rPr>
              <a:t>为表长，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%</a:t>
            </a:r>
            <a:r>
              <a:rPr sz="2000" dirty="0">
                <a:solidFill>
                  <a:schemeClr val="bg1"/>
                </a:solidFill>
                <a:sym typeface="+mn-ea"/>
              </a:rPr>
              <a:t>运算是保证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sym typeface="+mn-ea"/>
              </a:rPr>
              <a:t>落在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[0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m-l]</a:t>
            </a:r>
            <a:r>
              <a:rPr sz="2000" dirty="0">
                <a:solidFill>
                  <a:schemeClr val="bg1"/>
                </a:solidFill>
                <a:sym typeface="+mn-ea"/>
              </a:rPr>
              <a:t>区间；</a:t>
            </a:r>
            <a:endParaRPr sz="2000" dirty="0">
              <a:solidFill>
                <a:schemeClr val="bg1"/>
              </a:solidFill>
              <a:sym typeface="+mn-ea"/>
            </a:endParaRPr>
          </a:p>
          <a:p>
            <a:pPr algn="just" eaLnBrk="1" hangingPunct="1">
              <a:lnSpc>
                <a:spcPct val="180000"/>
              </a:lnSpc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d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sym typeface="+mn-ea"/>
              </a:rPr>
              <a:t>为地址增量。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d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sym typeface="+mn-ea"/>
              </a:rPr>
              <a:t>的取法有多种：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8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    （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1</a:t>
            </a:r>
            <a:r>
              <a:rPr sz="2000" dirty="0">
                <a:solidFill>
                  <a:schemeClr val="bg1"/>
                </a:solidFill>
                <a:sym typeface="+mn-ea"/>
              </a:rPr>
              <a:t>）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d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=1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2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3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……(m-1)——</a:t>
            </a:r>
            <a:r>
              <a:rPr sz="2000" dirty="0">
                <a:solidFill>
                  <a:schemeClr val="bg1"/>
                </a:solidFill>
                <a:sym typeface="+mn-ea"/>
              </a:rPr>
              <a:t>称为线性探查法；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8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    （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2</a:t>
            </a:r>
            <a:r>
              <a:rPr sz="2000" dirty="0">
                <a:solidFill>
                  <a:schemeClr val="bg1"/>
                </a:solidFill>
                <a:sym typeface="+mn-ea"/>
              </a:rPr>
              <a:t>）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d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=1</a:t>
            </a:r>
            <a:r>
              <a:rPr lang="en-US" altLang="zh-CN" sz="2000" baseline="30000" dirty="0">
                <a:solidFill>
                  <a:schemeClr val="bg1"/>
                </a:solidFill>
                <a:sym typeface="+mn-ea"/>
              </a:rPr>
              <a:t>2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-1</a:t>
            </a:r>
            <a:r>
              <a:rPr lang="en-US" altLang="zh-CN" sz="2000" baseline="30000" dirty="0">
                <a:solidFill>
                  <a:schemeClr val="bg1"/>
                </a:solidFill>
                <a:sym typeface="+mn-ea"/>
              </a:rPr>
              <a:t>2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2</a:t>
            </a:r>
            <a:r>
              <a:rPr lang="en-US" altLang="zh-CN" sz="2000" baseline="30000" dirty="0">
                <a:solidFill>
                  <a:schemeClr val="bg1"/>
                </a:solidFill>
                <a:sym typeface="+mn-ea"/>
              </a:rPr>
              <a:t>2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-2</a:t>
            </a:r>
            <a:r>
              <a:rPr lang="en-US" altLang="zh-CN" sz="2000" baseline="30000" dirty="0">
                <a:solidFill>
                  <a:schemeClr val="bg1"/>
                </a:solidFill>
                <a:sym typeface="+mn-ea"/>
              </a:rPr>
              <a:t>2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……——</a:t>
            </a:r>
            <a:r>
              <a:rPr sz="2000" dirty="0">
                <a:solidFill>
                  <a:schemeClr val="bg1"/>
                </a:solidFill>
                <a:sym typeface="+mn-ea"/>
              </a:rPr>
              <a:t>称为二次探查法。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8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38150" y="235627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开放地址法</a:t>
            </a:r>
            <a:br>
              <a:rPr lang="zh-CN" altLang="en-US" dirty="0">
                <a:solidFill>
                  <a:srgbClr val="01E1EF"/>
                </a:solidFill>
              </a:rPr>
            </a:br>
            <a:endParaRPr lang="zh-CN" altLang="en-US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38150" y="1198245"/>
            <a:ext cx="8799195" cy="3465830"/>
          </a:xfrm>
        </p:spPr>
        <p:txBody>
          <a:bodyPr/>
          <a:lstStyle/>
          <a:p>
            <a:pPr algn="just" eaLnBrk="1" hangingPunct="1">
              <a:lnSpc>
                <a:spcPct val="180000"/>
              </a:lnSpc>
            </a:pP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设记录的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集合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k={23</a:t>
            </a: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34</a:t>
            </a: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14</a:t>
            </a: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38</a:t>
            </a: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46</a:t>
            </a: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16</a:t>
            </a: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68</a:t>
            </a: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15</a:t>
            </a: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07</a:t>
            </a: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31</a:t>
            </a: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26}</a:t>
            </a: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，记录数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n=11</a:t>
            </a: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。</a:t>
            </a:r>
            <a:endParaRPr sz="2000" dirty="0">
              <a:solidFill>
                <a:schemeClr val="bg1"/>
              </a:solidFill>
              <a:cs typeface="微软雅黑" panose="020B0503020204020204" pitchFamily="34" charset="-122"/>
              <a:sym typeface="+mn-ea"/>
            </a:endParaRPr>
          </a:p>
          <a:p>
            <a:pPr algn="just" eaLnBrk="1" hangingPunct="1">
              <a:lnSpc>
                <a:spcPct val="180000"/>
              </a:lnSpc>
            </a:pP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令装填因子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α=0.75</a:t>
            </a: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，取表长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m= 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Symbol" panose="05050102010706020507" pitchFamily="18" charset="2"/>
              </a:rPr>
              <a:t>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n/α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Symbol" panose="05050102010706020507" pitchFamily="18" charset="2"/>
              </a:rPr>
              <a:t> 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=15</a:t>
            </a: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。</a:t>
            </a:r>
            <a:endParaRPr sz="2000" dirty="0">
              <a:solidFill>
                <a:schemeClr val="bg1"/>
              </a:solidFill>
              <a:cs typeface="微软雅黑" panose="020B0503020204020204" pitchFamily="34" charset="-122"/>
              <a:sym typeface="+mn-ea"/>
            </a:endParaRPr>
          </a:p>
          <a:p>
            <a:pPr algn="just" eaLnBrk="1" hangingPunct="1">
              <a:lnSpc>
                <a:spcPct val="180000"/>
              </a:lnSpc>
            </a:pP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用“保留余数法”选取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Hash</a:t>
            </a: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函数（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p=13</a:t>
            </a: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）：</a:t>
            </a:r>
            <a:endParaRPr lang="zh-CN" altLang="en-US" sz="2000" dirty="0">
              <a:solidFill>
                <a:schemeClr val="bg1"/>
              </a:solidFill>
              <a:cs typeface="微软雅黑" panose="020B0503020204020204" pitchFamily="34" charset="-122"/>
            </a:endParaRPr>
          </a:p>
          <a:p>
            <a:pPr algn="just" eaLnBrk="1" hangingPunct="1">
              <a:lnSpc>
                <a:spcPct val="180000"/>
              </a:lnSpc>
            </a:pPr>
            <a:r>
              <a:rPr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                                       </a:t>
            </a:r>
            <a:r>
              <a:rPr lang="en-US" altLang="zh-CN" sz="2000" dirty="0">
                <a:solidFill>
                  <a:schemeClr val="bg1"/>
                </a:solidFill>
                <a:cs typeface="微软雅黑" panose="020B0503020204020204" pitchFamily="34" charset="-122"/>
                <a:sym typeface="+mn-ea"/>
              </a:rPr>
              <a:t>H(key)=key%13</a:t>
            </a:r>
            <a:endParaRPr lang="zh-CN" altLang="en-US" sz="2000" dirty="0">
              <a:solidFill>
                <a:schemeClr val="bg1"/>
              </a:solidFill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476885" y="513715"/>
            <a:ext cx="10681335" cy="416560"/>
          </a:xfrm>
        </p:spPr>
        <p:txBody>
          <a:bodyPr>
            <a:normAutofit fontScale="90000"/>
          </a:bodyPr>
          <a:lstStyle/>
          <a:p>
            <a:r>
              <a:rPr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开放地址法</a:t>
            </a:r>
            <a:endParaRPr lang="zh-CN" altLang="en-US" dirty="0">
              <a:solidFill>
                <a:srgbClr val="01E1E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4"/>
          <p:cNvSpPr/>
          <p:nvPr/>
        </p:nvSpPr>
        <p:spPr>
          <a:xfrm>
            <a:off x="1010727" y="2505015"/>
            <a:ext cx="8534400" cy="685800"/>
          </a:xfrm>
          <a:prstGeom prst="rect">
            <a:avLst/>
          </a:prstGeom>
          <a:noFill/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	k={23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34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38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46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68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07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31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26}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altLang="x-none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H(key)=key%13;   H</a:t>
            </a:r>
            <a:r>
              <a:rPr lang="en-US" altLang="zh-CN" sz="20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=(H(key)+d</a:t>
            </a:r>
            <a:r>
              <a:rPr lang="en-US" altLang="zh-CN" sz="20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)%15;    d</a:t>
            </a:r>
            <a:r>
              <a:rPr lang="en-US" altLang="zh-CN" sz="20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……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(m-1)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Group 6"/>
          <p:cNvGraphicFramePr>
            <a:graphicFrameLocks noGrp="1"/>
          </p:cNvGraphicFramePr>
          <p:nvPr/>
        </p:nvGraphicFramePr>
        <p:xfrm>
          <a:off x="1365885" y="3162935"/>
          <a:ext cx="7543800" cy="334998"/>
        </p:xfrm>
        <a:graphic>
          <a:graphicData uri="http://schemas.openxmlformats.org/drawingml/2006/table">
            <a:tbl>
              <a:tblPr/>
              <a:tblGrid>
                <a:gridCol w="503238"/>
                <a:gridCol w="501650"/>
                <a:gridCol w="504825"/>
                <a:gridCol w="501650"/>
                <a:gridCol w="503237"/>
                <a:gridCol w="503238"/>
                <a:gridCol w="501650"/>
                <a:gridCol w="504825"/>
                <a:gridCol w="501650"/>
                <a:gridCol w="503237"/>
                <a:gridCol w="503238"/>
                <a:gridCol w="501650"/>
                <a:gridCol w="504825"/>
                <a:gridCol w="501650"/>
                <a:gridCol w="503237"/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79" marB="455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79" marB="455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79" marB="455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79" marB="455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79" marB="455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79" marB="455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79" marB="455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79" marB="455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79" marB="455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79" marB="455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79" marB="455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79" marB="455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79" marB="455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79" marB="455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79" marB="455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7" name="Text Box 39"/>
          <p:cNvSpPr txBox="1"/>
          <p:nvPr/>
        </p:nvSpPr>
        <p:spPr>
          <a:xfrm>
            <a:off x="629920" y="3162867"/>
            <a:ext cx="8915400" cy="70675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 HT: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H(key)       0        1       2         3      4        5         6        7        8      9        10       11      12       13    14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40"/>
          <p:cNvSpPr/>
          <p:nvPr/>
        </p:nvSpPr>
        <p:spPr>
          <a:xfrm>
            <a:off x="6395085" y="3162935"/>
            <a:ext cx="381000" cy="304800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23</a:t>
            </a:r>
            <a:endParaRPr lang="en-US" altLang="zh-CN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41"/>
          <p:cNvSpPr/>
          <p:nvPr/>
        </p:nvSpPr>
        <p:spPr>
          <a:xfrm>
            <a:off x="5404485" y="3162935"/>
            <a:ext cx="381000" cy="304800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34</a:t>
            </a:r>
            <a:endParaRPr lang="en-US" altLang="zh-CN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42"/>
          <p:cNvSpPr/>
          <p:nvPr/>
        </p:nvSpPr>
        <p:spPr>
          <a:xfrm>
            <a:off x="1899285" y="3162935"/>
            <a:ext cx="381000" cy="304800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</a:t>
            </a:r>
            <a:endParaRPr lang="en-US" altLang="zh-CN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43"/>
          <p:cNvSpPr/>
          <p:nvPr/>
        </p:nvSpPr>
        <p:spPr>
          <a:xfrm>
            <a:off x="7461885" y="3162935"/>
            <a:ext cx="381000" cy="304800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38</a:t>
            </a:r>
            <a:endParaRPr lang="en-US" altLang="zh-CN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Rectangle 44"/>
          <p:cNvSpPr/>
          <p:nvPr/>
        </p:nvSpPr>
        <p:spPr>
          <a:xfrm>
            <a:off x="4947285" y="3162935"/>
            <a:ext cx="381000" cy="304800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46</a:t>
            </a:r>
            <a:endParaRPr lang="en-US" altLang="zh-CN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Rectangle 45"/>
          <p:cNvSpPr/>
          <p:nvPr/>
        </p:nvSpPr>
        <p:spPr>
          <a:xfrm>
            <a:off x="2966085" y="3162935"/>
            <a:ext cx="381000" cy="304800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endParaRPr lang="en-US" altLang="zh-CN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Oval 47"/>
          <p:cNvSpPr/>
          <p:nvPr/>
        </p:nvSpPr>
        <p:spPr>
          <a:xfrm>
            <a:off x="4947285" y="2400935"/>
            <a:ext cx="381000" cy="4572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Rectangle 48"/>
          <p:cNvSpPr/>
          <p:nvPr/>
        </p:nvSpPr>
        <p:spPr>
          <a:xfrm>
            <a:off x="2432685" y="3162935"/>
            <a:ext cx="381000" cy="304800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r>
            <a:endParaRPr lang="en-US" altLang="zh-CN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Rectangle 49"/>
          <p:cNvSpPr/>
          <p:nvPr/>
        </p:nvSpPr>
        <p:spPr>
          <a:xfrm>
            <a:off x="3423285" y="3162935"/>
            <a:ext cx="381000" cy="3048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68</a:t>
            </a:r>
            <a:endParaRPr lang="en-US" altLang="zh-CN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Rectangle 51"/>
          <p:cNvSpPr/>
          <p:nvPr/>
        </p:nvSpPr>
        <p:spPr>
          <a:xfrm>
            <a:off x="5937885" y="3162935"/>
            <a:ext cx="381000" cy="3048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07</a:t>
            </a:r>
            <a:endParaRPr lang="en-US" altLang="zh-CN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Oval 52"/>
          <p:cNvSpPr/>
          <p:nvPr/>
        </p:nvSpPr>
        <p:spPr>
          <a:xfrm>
            <a:off x="5937885" y="2400935"/>
            <a:ext cx="381000" cy="4572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Rectangle 53"/>
          <p:cNvSpPr/>
          <p:nvPr/>
        </p:nvSpPr>
        <p:spPr>
          <a:xfrm>
            <a:off x="3956685" y="3162935"/>
            <a:ext cx="381000" cy="304800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31</a:t>
            </a:r>
            <a:endParaRPr lang="en-US" altLang="zh-CN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Rectangle 54"/>
          <p:cNvSpPr/>
          <p:nvPr/>
        </p:nvSpPr>
        <p:spPr>
          <a:xfrm>
            <a:off x="1442085" y="3162935"/>
            <a:ext cx="381000" cy="304800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26</a:t>
            </a:r>
            <a:endParaRPr lang="en-US" altLang="zh-CN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65885" y="1423035"/>
            <a:ext cx="1929130" cy="589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 eaLnBrk="1" hangingPunct="1">
              <a:lnSpc>
                <a:spcPct val="180000"/>
              </a:lnSpc>
            </a:pPr>
            <a:r>
              <a:rPr dirty="0">
                <a:cs typeface="微软雅黑" panose="020B0503020204020204" pitchFamily="34" charset="-122"/>
                <a:sym typeface="+mn-ea"/>
              </a:rPr>
              <a:t>  </a:t>
            </a:r>
            <a:r>
              <a:rPr lang="en-US" altLang="zh-CN" dirty="0">
                <a:cs typeface="微软雅黑" panose="020B0503020204020204" pitchFamily="34" charset="-122"/>
                <a:sym typeface="+mn-ea"/>
              </a:rPr>
              <a:t>H(key)=key%13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5" grpId="0" bldLvl="0" animBg="1"/>
      <p:bldP spid="16" grpId="0" bldLvl="0" animBg="1"/>
      <p:bldP spid="17" grpId="0" bldLvl="0" animBg="1"/>
      <p:bldP spid="19" grpId="0" bldLvl="0" animBg="1"/>
      <p:bldP spid="20" grpId="0" bldLvl="0" animBg="1"/>
      <p:bldP spid="21" grpId="0" bldLvl="0" animBg="1"/>
      <p:bldP spid="22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54659" y="208321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链地址法</a:t>
            </a:r>
            <a:br>
              <a:rPr lang="zh-CN" altLang="en-US" sz="4400" dirty="0">
                <a:solidFill>
                  <a:srgbClr val="01E1E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</a:br>
            <a:endParaRPr lang="zh-CN" altLang="en-US" sz="4400" dirty="0">
              <a:solidFill>
                <a:srgbClr val="01E1E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4660" y="942975"/>
            <a:ext cx="9147175" cy="448437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发生冲突时，将各冲突记录链在一起，即同义词的记录存于同一链表。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设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H(key)</a:t>
            </a:r>
            <a:r>
              <a:rPr sz="2000" dirty="0">
                <a:solidFill>
                  <a:schemeClr val="bg1"/>
                </a:solidFill>
                <a:sym typeface="+mn-ea"/>
              </a:rPr>
              <a:t>取值范围（值域）为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[0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m-l]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endParaRPr sz="2000" dirty="0">
              <a:solidFill>
                <a:schemeClr val="bg1"/>
              </a:solidFill>
              <a:sym typeface="+mn-ea"/>
            </a:endParaRPr>
          </a:p>
          <a:p>
            <a:pPr algn="just"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建立头指针向量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HP[m]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endParaRPr sz="2000" dirty="0">
              <a:solidFill>
                <a:schemeClr val="bg1"/>
              </a:solidFill>
              <a:sym typeface="+mn-ea"/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HP[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]</a:t>
            </a:r>
            <a:r>
              <a:rPr sz="2000" dirty="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0≤i≤m-l</a:t>
            </a:r>
            <a:r>
              <a:rPr sz="2000" dirty="0">
                <a:solidFill>
                  <a:schemeClr val="bg1"/>
                </a:solidFill>
                <a:sym typeface="+mn-ea"/>
              </a:rPr>
              <a:t>）初值为空。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</a:t>
            </a:r>
            <a:endParaRPr lang="en-US" altLang="zh-CN" sz="2000" dirty="0">
              <a:solidFill>
                <a:schemeClr val="bg1"/>
              </a:solidFill>
              <a:sym typeface="+mn-ea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2000" dirty="0">
              <a:solidFill>
                <a:schemeClr val="bg1"/>
              </a:solidFill>
              <a:sym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设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H(key)=key%13</a:t>
            </a:r>
            <a:r>
              <a:rPr sz="2000" dirty="0">
                <a:solidFill>
                  <a:schemeClr val="bg1"/>
                </a:solidFill>
                <a:sym typeface="+mn-ea"/>
              </a:rPr>
              <a:t>        </a:t>
            </a:r>
            <a:endParaRPr sz="2000" b="1" dirty="0">
              <a:solidFill>
                <a:schemeClr val="bg1"/>
              </a:solidFill>
              <a:sym typeface="+mn-ea"/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k={ 23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34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14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38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46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16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68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15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07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31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26 }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   </a:t>
            </a:r>
            <a:endParaRPr lang="en-US" altLang="x-none" sz="20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46819" name="Text Box 34"/>
          <p:cNvSpPr txBox="1"/>
          <p:nvPr/>
        </p:nvSpPr>
        <p:spPr>
          <a:xfrm>
            <a:off x="4316660" y="1979237"/>
            <a:ext cx="1524000" cy="44148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H(key)   HP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0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1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2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3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4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5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6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7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8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9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10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11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12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6881" name="Text Box 102"/>
          <p:cNvSpPr txBox="1"/>
          <p:nvPr/>
        </p:nvSpPr>
        <p:spPr>
          <a:xfrm>
            <a:off x="454660" y="4594543"/>
            <a:ext cx="387096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链地址法解决冲突的优点：无聚积现象；删除表中记录容易实现。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32453" name="表格 232452"/>
          <p:cNvGraphicFramePr/>
          <p:nvPr/>
        </p:nvGraphicFramePr>
        <p:xfrm>
          <a:off x="4872790" y="2319337"/>
          <a:ext cx="685800" cy="4037013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304800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lang="zh-CN" altLang="zh-CN" sz="1400" b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lang="zh-CN" altLang="zh-CN" sz="1400" b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lang="zh-CN" altLang="zh-CN" sz="1400" b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lang="zh-CN" altLang="zh-CN" sz="1400" b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lang="en-US" altLang="zh-CN" sz="1400" b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lang="zh-CN" altLang="zh-CN" sz="1400" b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lang="en-US" altLang="zh-CN" sz="1400" b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lang="zh-CN" altLang="zh-CN" sz="1400" b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79413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lang="zh-CN" altLang="zh-CN" sz="1400" b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lang="en-US" altLang="zh-CN" sz="1400" b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lang="zh-CN" altLang="zh-CN" sz="1400" b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lang="en-US" altLang="zh-CN" sz="1400" b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lang="en-US" altLang="zh-CN" sz="1400" b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lang="zh-CN" altLang="zh-CN" sz="1400" b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pSp>
        <p:nvGrpSpPr>
          <p:cNvPr id="2" name="Group 36"/>
          <p:cNvGrpSpPr/>
          <p:nvPr/>
        </p:nvGrpSpPr>
        <p:grpSpPr>
          <a:xfrm>
            <a:off x="5375875" y="5418693"/>
            <a:ext cx="1905000" cy="304800"/>
            <a:chOff x="0" y="0"/>
            <a:chExt cx="1200" cy="192"/>
          </a:xfrm>
        </p:grpSpPr>
        <p:grpSp>
          <p:nvGrpSpPr>
            <p:cNvPr id="242724" name="Group 37"/>
            <p:cNvGrpSpPr/>
            <p:nvPr/>
          </p:nvGrpSpPr>
          <p:grpSpPr>
            <a:xfrm>
              <a:off x="528" y="0"/>
              <a:ext cx="672" cy="192"/>
              <a:chOff x="0" y="0"/>
              <a:chExt cx="672" cy="192"/>
            </a:xfrm>
          </p:grpSpPr>
          <p:sp>
            <p:nvSpPr>
              <p:cNvPr id="242725" name="Rectangle 37"/>
              <p:cNvSpPr/>
              <p:nvPr/>
            </p:nvSpPr>
            <p:spPr>
              <a:xfrm>
                <a:off x="0" y="0"/>
                <a:ext cx="336" cy="192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23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2726" name="Rectangle 38"/>
              <p:cNvSpPr/>
              <p:nvPr/>
            </p:nvSpPr>
            <p:spPr>
              <a:xfrm>
                <a:off x="336" y="0"/>
                <a:ext cx="336" cy="192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^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42727" name="Line 39"/>
            <p:cNvSpPr/>
            <p:nvPr/>
          </p:nvSpPr>
          <p:spPr>
            <a:xfrm>
              <a:off x="0" y="96"/>
              <a:ext cx="528" cy="0"/>
            </a:xfrm>
            <a:prstGeom prst="line">
              <a:avLst/>
            </a:prstGeom>
            <a:ln w="19050" cap="flat" cmpd="sng">
              <a:solidFill>
                <a:srgbClr val="993366"/>
              </a:solidFill>
              <a:prstDash val="solid"/>
              <a:round/>
              <a:headEnd type="oval" w="med" len="med"/>
              <a:tailEnd type="triangle" w="med" len="med"/>
            </a:ln>
          </p:spPr>
        </p:sp>
      </p:grpSp>
      <p:grpSp>
        <p:nvGrpSpPr>
          <p:cNvPr id="6" name="Group 41"/>
          <p:cNvGrpSpPr/>
          <p:nvPr/>
        </p:nvGrpSpPr>
        <p:grpSpPr>
          <a:xfrm>
            <a:off x="5367295" y="4811693"/>
            <a:ext cx="1905000" cy="304800"/>
            <a:chOff x="0" y="0"/>
            <a:chExt cx="1200" cy="192"/>
          </a:xfrm>
        </p:grpSpPr>
        <p:grpSp>
          <p:nvGrpSpPr>
            <p:cNvPr id="242729" name="Group 42"/>
            <p:cNvGrpSpPr/>
            <p:nvPr/>
          </p:nvGrpSpPr>
          <p:grpSpPr>
            <a:xfrm>
              <a:off x="528" y="0"/>
              <a:ext cx="672" cy="192"/>
              <a:chOff x="0" y="0"/>
              <a:chExt cx="672" cy="192"/>
            </a:xfrm>
          </p:grpSpPr>
          <p:sp>
            <p:nvSpPr>
              <p:cNvPr id="242730" name="Rectangle 42"/>
              <p:cNvSpPr/>
              <p:nvPr/>
            </p:nvSpPr>
            <p:spPr>
              <a:xfrm>
                <a:off x="0" y="0"/>
                <a:ext cx="336" cy="192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34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2731" name="Rectangle 43"/>
              <p:cNvSpPr/>
              <p:nvPr/>
            </p:nvSpPr>
            <p:spPr>
              <a:xfrm>
                <a:off x="336" y="0"/>
                <a:ext cx="336" cy="192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^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42732" name="Line 44"/>
            <p:cNvSpPr/>
            <p:nvPr/>
          </p:nvSpPr>
          <p:spPr>
            <a:xfrm>
              <a:off x="0" y="96"/>
              <a:ext cx="528" cy="0"/>
            </a:xfrm>
            <a:prstGeom prst="line">
              <a:avLst/>
            </a:prstGeom>
            <a:ln w="19050" cap="flat" cmpd="sng">
              <a:solidFill>
                <a:srgbClr val="993366"/>
              </a:solidFill>
              <a:prstDash val="solid"/>
              <a:round/>
              <a:headEnd type="oval" w="med" len="med"/>
              <a:tailEnd type="triangle" w="med" len="med"/>
            </a:ln>
          </p:spPr>
        </p:sp>
      </p:grpSp>
      <p:grpSp>
        <p:nvGrpSpPr>
          <p:cNvPr id="7" name="Group 46"/>
          <p:cNvGrpSpPr/>
          <p:nvPr/>
        </p:nvGrpSpPr>
        <p:grpSpPr>
          <a:xfrm>
            <a:off x="5375875" y="2627774"/>
            <a:ext cx="1905000" cy="304800"/>
            <a:chOff x="0" y="0"/>
            <a:chExt cx="1200" cy="192"/>
          </a:xfrm>
        </p:grpSpPr>
        <p:grpSp>
          <p:nvGrpSpPr>
            <p:cNvPr id="242734" name="Group 47"/>
            <p:cNvGrpSpPr/>
            <p:nvPr/>
          </p:nvGrpSpPr>
          <p:grpSpPr>
            <a:xfrm>
              <a:off x="528" y="0"/>
              <a:ext cx="672" cy="192"/>
              <a:chOff x="0" y="0"/>
              <a:chExt cx="672" cy="192"/>
            </a:xfrm>
          </p:grpSpPr>
          <p:sp>
            <p:nvSpPr>
              <p:cNvPr id="242735" name="Rectangle 47"/>
              <p:cNvSpPr/>
              <p:nvPr/>
            </p:nvSpPr>
            <p:spPr>
              <a:xfrm>
                <a:off x="0" y="0"/>
                <a:ext cx="336" cy="192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14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2736" name="Rectangle 48"/>
              <p:cNvSpPr/>
              <p:nvPr/>
            </p:nvSpPr>
            <p:spPr>
              <a:xfrm>
                <a:off x="336" y="0"/>
                <a:ext cx="336" cy="192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^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42737" name="Line 49"/>
            <p:cNvSpPr/>
            <p:nvPr/>
          </p:nvSpPr>
          <p:spPr>
            <a:xfrm>
              <a:off x="0" y="96"/>
              <a:ext cx="528" cy="0"/>
            </a:xfrm>
            <a:prstGeom prst="line">
              <a:avLst/>
            </a:prstGeom>
            <a:ln w="19050" cap="flat" cmpd="sng">
              <a:solidFill>
                <a:srgbClr val="993366"/>
              </a:solidFill>
              <a:prstDash val="solid"/>
              <a:round/>
              <a:headEnd type="oval" w="med" len="med"/>
              <a:tailEnd type="triangle" w="med" len="med"/>
            </a:ln>
          </p:spPr>
        </p:sp>
      </p:grpSp>
      <p:grpSp>
        <p:nvGrpSpPr>
          <p:cNvPr id="8" name="Group 51"/>
          <p:cNvGrpSpPr/>
          <p:nvPr/>
        </p:nvGrpSpPr>
        <p:grpSpPr>
          <a:xfrm>
            <a:off x="5367295" y="6052601"/>
            <a:ext cx="1905000" cy="304800"/>
            <a:chOff x="0" y="0"/>
            <a:chExt cx="1200" cy="192"/>
          </a:xfrm>
        </p:grpSpPr>
        <p:grpSp>
          <p:nvGrpSpPr>
            <p:cNvPr id="242739" name="Group 52"/>
            <p:cNvGrpSpPr/>
            <p:nvPr/>
          </p:nvGrpSpPr>
          <p:grpSpPr>
            <a:xfrm>
              <a:off x="528" y="0"/>
              <a:ext cx="672" cy="192"/>
              <a:chOff x="0" y="0"/>
              <a:chExt cx="672" cy="192"/>
            </a:xfrm>
          </p:grpSpPr>
          <p:sp>
            <p:nvSpPr>
              <p:cNvPr id="242740" name="Rectangle 52"/>
              <p:cNvSpPr/>
              <p:nvPr/>
            </p:nvSpPr>
            <p:spPr>
              <a:xfrm>
                <a:off x="0" y="0"/>
                <a:ext cx="336" cy="192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38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2741" name="Rectangle 53"/>
              <p:cNvSpPr/>
              <p:nvPr/>
            </p:nvSpPr>
            <p:spPr>
              <a:xfrm>
                <a:off x="336" y="0"/>
                <a:ext cx="336" cy="192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^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42742" name="Line 54"/>
            <p:cNvSpPr/>
            <p:nvPr/>
          </p:nvSpPr>
          <p:spPr>
            <a:xfrm>
              <a:off x="0" y="96"/>
              <a:ext cx="528" cy="0"/>
            </a:xfrm>
            <a:prstGeom prst="line">
              <a:avLst/>
            </a:prstGeom>
            <a:ln w="19050" cap="flat" cmpd="sng">
              <a:solidFill>
                <a:srgbClr val="993366"/>
              </a:solidFill>
              <a:prstDash val="solid"/>
              <a:round/>
              <a:headEnd type="oval" w="med" len="med"/>
              <a:tailEnd type="triangle" w="med" len="med"/>
            </a:ln>
          </p:spPr>
        </p:sp>
      </p:grpSp>
      <p:grpSp>
        <p:nvGrpSpPr>
          <p:cNvPr id="10" name="Group 56"/>
          <p:cNvGrpSpPr/>
          <p:nvPr/>
        </p:nvGrpSpPr>
        <p:grpSpPr>
          <a:xfrm>
            <a:off x="5348446" y="4442684"/>
            <a:ext cx="1905000" cy="304800"/>
            <a:chOff x="0" y="0"/>
            <a:chExt cx="1200" cy="192"/>
          </a:xfrm>
        </p:grpSpPr>
        <p:grpSp>
          <p:nvGrpSpPr>
            <p:cNvPr id="242744" name="Group 57"/>
            <p:cNvGrpSpPr/>
            <p:nvPr/>
          </p:nvGrpSpPr>
          <p:grpSpPr>
            <a:xfrm>
              <a:off x="528" y="0"/>
              <a:ext cx="672" cy="192"/>
              <a:chOff x="0" y="0"/>
              <a:chExt cx="672" cy="192"/>
            </a:xfrm>
          </p:grpSpPr>
          <p:sp>
            <p:nvSpPr>
              <p:cNvPr id="242745" name="Rectangle 57"/>
              <p:cNvSpPr/>
              <p:nvPr/>
            </p:nvSpPr>
            <p:spPr>
              <a:xfrm>
                <a:off x="0" y="0"/>
                <a:ext cx="336" cy="192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46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2746" name="Rectangle 58"/>
              <p:cNvSpPr/>
              <p:nvPr/>
            </p:nvSpPr>
            <p:spPr>
              <a:xfrm>
                <a:off x="336" y="0"/>
                <a:ext cx="336" cy="192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^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42747" name="Line 59"/>
            <p:cNvSpPr/>
            <p:nvPr/>
          </p:nvSpPr>
          <p:spPr>
            <a:xfrm>
              <a:off x="0" y="96"/>
              <a:ext cx="528" cy="0"/>
            </a:xfrm>
            <a:prstGeom prst="line">
              <a:avLst/>
            </a:prstGeom>
            <a:ln w="19050" cap="flat" cmpd="sng">
              <a:solidFill>
                <a:srgbClr val="993366"/>
              </a:solidFill>
              <a:prstDash val="solid"/>
              <a:round/>
              <a:headEnd type="oval" w="med" len="med"/>
              <a:tailEnd type="triangle" w="med" len="med"/>
            </a:ln>
          </p:spPr>
        </p:sp>
      </p:grpSp>
      <p:grpSp>
        <p:nvGrpSpPr>
          <p:cNvPr id="12" name="Group 61"/>
          <p:cNvGrpSpPr/>
          <p:nvPr/>
        </p:nvGrpSpPr>
        <p:grpSpPr>
          <a:xfrm>
            <a:off x="5375875" y="3249915"/>
            <a:ext cx="1905000" cy="304800"/>
            <a:chOff x="0" y="0"/>
            <a:chExt cx="1200" cy="192"/>
          </a:xfrm>
        </p:grpSpPr>
        <p:grpSp>
          <p:nvGrpSpPr>
            <p:cNvPr id="242749" name="Group 62"/>
            <p:cNvGrpSpPr/>
            <p:nvPr/>
          </p:nvGrpSpPr>
          <p:grpSpPr>
            <a:xfrm>
              <a:off x="528" y="0"/>
              <a:ext cx="672" cy="192"/>
              <a:chOff x="0" y="0"/>
              <a:chExt cx="672" cy="192"/>
            </a:xfrm>
          </p:grpSpPr>
          <p:sp>
            <p:nvSpPr>
              <p:cNvPr id="242750" name="Rectangle 62"/>
              <p:cNvSpPr/>
              <p:nvPr/>
            </p:nvSpPr>
            <p:spPr>
              <a:xfrm>
                <a:off x="0" y="0"/>
                <a:ext cx="336" cy="192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16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2751" name="Rectangle 63"/>
              <p:cNvSpPr/>
              <p:nvPr/>
            </p:nvSpPr>
            <p:spPr>
              <a:xfrm>
                <a:off x="336" y="0"/>
                <a:ext cx="336" cy="192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^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42752" name="Line 64"/>
            <p:cNvSpPr/>
            <p:nvPr/>
          </p:nvSpPr>
          <p:spPr>
            <a:xfrm>
              <a:off x="0" y="96"/>
              <a:ext cx="528" cy="0"/>
            </a:xfrm>
            <a:prstGeom prst="line">
              <a:avLst/>
            </a:prstGeom>
            <a:ln w="19050" cap="flat" cmpd="sng">
              <a:solidFill>
                <a:srgbClr val="993366"/>
              </a:solidFill>
              <a:prstDash val="solid"/>
              <a:round/>
              <a:headEnd type="oval" w="med" len="med"/>
              <a:tailEnd type="triangle" w="med" len="med"/>
            </a:ln>
          </p:spPr>
        </p:sp>
      </p:grpSp>
      <p:grpSp>
        <p:nvGrpSpPr>
          <p:cNvPr id="14" name="Group 66"/>
          <p:cNvGrpSpPr/>
          <p:nvPr/>
        </p:nvGrpSpPr>
        <p:grpSpPr>
          <a:xfrm>
            <a:off x="5375875" y="2932573"/>
            <a:ext cx="1905000" cy="304800"/>
            <a:chOff x="0" y="0"/>
            <a:chExt cx="1200" cy="192"/>
          </a:xfrm>
        </p:grpSpPr>
        <p:grpSp>
          <p:nvGrpSpPr>
            <p:cNvPr id="242754" name="Group 67"/>
            <p:cNvGrpSpPr/>
            <p:nvPr/>
          </p:nvGrpSpPr>
          <p:grpSpPr>
            <a:xfrm>
              <a:off x="528" y="0"/>
              <a:ext cx="672" cy="192"/>
              <a:chOff x="0" y="0"/>
              <a:chExt cx="672" cy="192"/>
            </a:xfrm>
          </p:grpSpPr>
          <p:sp>
            <p:nvSpPr>
              <p:cNvPr id="242755" name="Rectangle 67"/>
              <p:cNvSpPr/>
              <p:nvPr/>
            </p:nvSpPr>
            <p:spPr>
              <a:xfrm>
                <a:off x="0" y="0"/>
                <a:ext cx="336" cy="192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15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2756" name="Rectangle 68"/>
              <p:cNvSpPr/>
              <p:nvPr/>
            </p:nvSpPr>
            <p:spPr>
              <a:xfrm>
                <a:off x="336" y="0"/>
                <a:ext cx="336" cy="192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^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42757" name="Line 69"/>
            <p:cNvSpPr/>
            <p:nvPr/>
          </p:nvSpPr>
          <p:spPr>
            <a:xfrm>
              <a:off x="0" y="96"/>
              <a:ext cx="528" cy="0"/>
            </a:xfrm>
            <a:prstGeom prst="line">
              <a:avLst/>
            </a:prstGeom>
            <a:ln w="19050" cap="flat" cmpd="sng">
              <a:solidFill>
                <a:srgbClr val="993366"/>
              </a:solidFill>
              <a:prstDash val="solid"/>
              <a:round/>
              <a:headEnd type="oval" w="med" len="med"/>
              <a:tailEnd type="triangle" w="med" len="med"/>
            </a:ln>
          </p:spPr>
        </p:sp>
      </p:grpSp>
      <p:grpSp>
        <p:nvGrpSpPr>
          <p:cNvPr id="16" name="Group 71"/>
          <p:cNvGrpSpPr/>
          <p:nvPr/>
        </p:nvGrpSpPr>
        <p:grpSpPr>
          <a:xfrm>
            <a:off x="6763447" y="3246262"/>
            <a:ext cx="2133600" cy="304800"/>
            <a:chOff x="0" y="0"/>
            <a:chExt cx="1344" cy="192"/>
          </a:xfrm>
        </p:grpSpPr>
        <p:sp>
          <p:nvSpPr>
            <p:cNvPr id="242759" name="Rectangle 71"/>
            <p:cNvSpPr/>
            <p:nvPr/>
          </p:nvSpPr>
          <p:spPr>
            <a:xfrm>
              <a:off x="0" y="0"/>
              <a:ext cx="336" cy="192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42760" name="Group 73"/>
            <p:cNvGrpSpPr/>
            <p:nvPr/>
          </p:nvGrpSpPr>
          <p:grpSpPr>
            <a:xfrm>
              <a:off x="144" y="0"/>
              <a:ext cx="1200" cy="192"/>
              <a:chOff x="0" y="0"/>
              <a:chExt cx="1200" cy="192"/>
            </a:xfrm>
          </p:grpSpPr>
          <p:grpSp>
            <p:nvGrpSpPr>
              <p:cNvPr id="242761" name="Group 74"/>
              <p:cNvGrpSpPr/>
              <p:nvPr/>
            </p:nvGrpSpPr>
            <p:grpSpPr>
              <a:xfrm>
                <a:off x="528" y="0"/>
                <a:ext cx="672" cy="192"/>
                <a:chOff x="0" y="0"/>
                <a:chExt cx="672" cy="192"/>
              </a:xfrm>
            </p:grpSpPr>
            <p:sp>
              <p:nvSpPr>
                <p:cNvPr id="242762" name="Rectangle 74"/>
                <p:cNvSpPr/>
                <p:nvPr/>
              </p:nvSpPr>
              <p:spPr>
                <a:xfrm>
                  <a:off x="0" y="0"/>
                  <a:ext cx="336" cy="192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altLang="zh-CN" sz="1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68</a:t>
                  </a:r>
                  <a:endPara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2763" name="Rectangle 75"/>
                <p:cNvSpPr/>
                <p:nvPr/>
              </p:nvSpPr>
              <p:spPr>
                <a:xfrm>
                  <a:off x="336" y="0"/>
                  <a:ext cx="336" cy="192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altLang="zh-CN" sz="1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^</a:t>
                  </a:r>
                  <a:endPara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42764" name="Line 76"/>
              <p:cNvSpPr/>
              <p:nvPr/>
            </p:nvSpPr>
            <p:spPr>
              <a:xfrm>
                <a:off x="0" y="96"/>
                <a:ext cx="528" cy="0"/>
              </a:xfrm>
              <a:prstGeom prst="line">
                <a:avLst/>
              </a:prstGeom>
              <a:ln w="19050" cap="flat" cmpd="sng">
                <a:solidFill>
                  <a:srgbClr val="993366"/>
                </a:solidFill>
                <a:prstDash val="solid"/>
                <a:round/>
                <a:headEnd type="oval" w="med" len="med"/>
                <a:tailEnd type="triangle" w="med" len="med"/>
              </a:ln>
            </p:spPr>
          </p:sp>
        </p:grpSp>
      </p:grpSp>
      <p:grpSp>
        <p:nvGrpSpPr>
          <p:cNvPr id="19" name="Group 78"/>
          <p:cNvGrpSpPr/>
          <p:nvPr/>
        </p:nvGrpSpPr>
        <p:grpSpPr>
          <a:xfrm>
            <a:off x="6170674" y="4442684"/>
            <a:ext cx="2667000" cy="304800"/>
            <a:chOff x="0" y="0"/>
            <a:chExt cx="1680" cy="192"/>
          </a:xfrm>
        </p:grpSpPr>
        <p:grpSp>
          <p:nvGrpSpPr>
            <p:cNvPr id="242766" name="Group 79"/>
            <p:cNvGrpSpPr/>
            <p:nvPr/>
          </p:nvGrpSpPr>
          <p:grpSpPr>
            <a:xfrm>
              <a:off x="336" y="0"/>
              <a:ext cx="1344" cy="192"/>
              <a:chOff x="0" y="0"/>
              <a:chExt cx="1344" cy="192"/>
            </a:xfrm>
          </p:grpSpPr>
          <p:sp>
            <p:nvSpPr>
              <p:cNvPr id="242767" name="Rectangle 79"/>
              <p:cNvSpPr/>
              <p:nvPr/>
            </p:nvSpPr>
            <p:spPr>
              <a:xfrm>
                <a:off x="0" y="0"/>
                <a:ext cx="336" cy="192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endPara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42768" name="Group 81"/>
              <p:cNvGrpSpPr/>
              <p:nvPr/>
            </p:nvGrpSpPr>
            <p:grpSpPr>
              <a:xfrm>
                <a:off x="144" y="0"/>
                <a:ext cx="1200" cy="192"/>
                <a:chOff x="0" y="0"/>
                <a:chExt cx="1200" cy="192"/>
              </a:xfrm>
            </p:grpSpPr>
            <p:grpSp>
              <p:nvGrpSpPr>
                <p:cNvPr id="242769" name="Group 82"/>
                <p:cNvGrpSpPr/>
                <p:nvPr/>
              </p:nvGrpSpPr>
              <p:grpSpPr>
                <a:xfrm>
                  <a:off x="528" y="0"/>
                  <a:ext cx="672" cy="192"/>
                  <a:chOff x="0" y="0"/>
                  <a:chExt cx="672" cy="192"/>
                </a:xfrm>
              </p:grpSpPr>
              <p:sp>
                <p:nvSpPr>
                  <p:cNvPr id="242770" name="Rectangle 82"/>
                  <p:cNvSpPr/>
                  <p:nvPr/>
                </p:nvSpPr>
                <p:spPr>
                  <a:xfrm>
                    <a:off x="0" y="0"/>
                    <a:ext cx="336" cy="192"/>
                  </a:xfrm>
                  <a:prstGeom prst="rect">
                    <a:avLst/>
                  </a:prstGeom>
                  <a:solidFill>
                    <a:srgbClr val="FF99CC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zh-CN" sz="14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46</a:t>
                    </a:r>
                    <a:endParaRPr lang="en-US" altLang="zh-CN" sz="1400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42771" name="Rectangle 83"/>
                  <p:cNvSpPr/>
                  <p:nvPr/>
                </p:nvSpPr>
                <p:spPr>
                  <a:xfrm>
                    <a:off x="336" y="0"/>
                    <a:ext cx="336" cy="192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zh-CN" sz="14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^</a:t>
                    </a:r>
                    <a:endParaRPr lang="en-US" altLang="zh-CN" sz="1400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42772" name="Line 84"/>
                <p:cNvSpPr/>
                <p:nvPr/>
              </p:nvSpPr>
              <p:spPr>
                <a:xfrm>
                  <a:off x="0" y="96"/>
                  <a:ext cx="528" cy="0"/>
                </a:xfrm>
                <a:prstGeom prst="line">
                  <a:avLst/>
                </a:prstGeom>
                <a:ln w="19050" cap="flat" cmpd="sng">
                  <a:solidFill>
                    <a:srgbClr val="993366"/>
                  </a:solidFill>
                  <a:prstDash val="solid"/>
                  <a:round/>
                  <a:headEnd type="oval" w="med" len="med"/>
                  <a:tailEnd type="triangle" w="med" len="med"/>
                </a:ln>
              </p:spPr>
            </p:sp>
          </p:grpSp>
        </p:grpSp>
        <p:sp>
          <p:nvSpPr>
            <p:cNvPr id="242773" name="Rectangle 85"/>
            <p:cNvSpPr/>
            <p:nvPr/>
          </p:nvSpPr>
          <p:spPr>
            <a:xfrm>
              <a:off x="0" y="0"/>
              <a:ext cx="336" cy="192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07</a:t>
              </a:r>
              <a:endPara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3" name="Group 87"/>
          <p:cNvGrpSpPr/>
          <p:nvPr/>
        </p:nvGrpSpPr>
        <p:grpSpPr>
          <a:xfrm>
            <a:off x="5375875" y="3822329"/>
            <a:ext cx="1905000" cy="304800"/>
            <a:chOff x="0" y="0"/>
            <a:chExt cx="1200" cy="192"/>
          </a:xfrm>
        </p:grpSpPr>
        <p:grpSp>
          <p:nvGrpSpPr>
            <p:cNvPr id="242775" name="Group 88"/>
            <p:cNvGrpSpPr/>
            <p:nvPr/>
          </p:nvGrpSpPr>
          <p:grpSpPr>
            <a:xfrm>
              <a:off x="528" y="0"/>
              <a:ext cx="672" cy="192"/>
              <a:chOff x="0" y="0"/>
              <a:chExt cx="672" cy="192"/>
            </a:xfrm>
          </p:grpSpPr>
          <p:sp>
            <p:nvSpPr>
              <p:cNvPr id="242776" name="Rectangle 88"/>
              <p:cNvSpPr/>
              <p:nvPr/>
            </p:nvSpPr>
            <p:spPr>
              <a:xfrm>
                <a:off x="0" y="0"/>
                <a:ext cx="336" cy="192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31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2777" name="Rectangle 89"/>
              <p:cNvSpPr/>
              <p:nvPr/>
            </p:nvSpPr>
            <p:spPr>
              <a:xfrm>
                <a:off x="336" y="0"/>
                <a:ext cx="336" cy="192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^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42778" name="Line 90"/>
            <p:cNvSpPr/>
            <p:nvPr/>
          </p:nvSpPr>
          <p:spPr>
            <a:xfrm>
              <a:off x="0" y="96"/>
              <a:ext cx="528" cy="0"/>
            </a:xfrm>
            <a:prstGeom prst="line">
              <a:avLst/>
            </a:prstGeom>
            <a:ln w="19050" cap="flat" cmpd="sng">
              <a:solidFill>
                <a:srgbClr val="993366"/>
              </a:solidFill>
              <a:prstDash val="solid"/>
              <a:round/>
              <a:headEnd type="oval" w="med" len="med"/>
              <a:tailEnd type="triangle" w="med" len="med"/>
            </a:ln>
          </p:spPr>
        </p:sp>
      </p:grpSp>
      <p:grpSp>
        <p:nvGrpSpPr>
          <p:cNvPr id="25" name="Group 92"/>
          <p:cNvGrpSpPr/>
          <p:nvPr/>
        </p:nvGrpSpPr>
        <p:grpSpPr>
          <a:xfrm>
            <a:off x="5375875" y="2303505"/>
            <a:ext cx="1905000" cy="304800"/>
            <a:chOff x="0" y="0"/>
            <a:chExt cx="1200" cy="192"/>
          </a:xfrm>
        </p:grpSpPr>
        <p:grpSp>
          <p:nvGrpSpPr>
            <p:cNvPr id="242780" name="Group 93"/>
            <p:cNvGrpSpPr/>
            <p:nvPr/>
          </p:nvGrpSpPr>
          <p:grpSpPr>
            <a:xfrm>
              <a:off x="528" y="0"/>
              <a:ext cx="672" cy="192"/>
              <a:chOff x="0" y="0"/>
              <a:chExt cx="672" cy="192"/>
            </a:xfrm>
          </p:grpSpPr>
          <p:sp>
            <p:nvSpPr>
              <p:cNvPr id="242781" name="Rectangle 93"/>
              <p:cNvSpPr/>
              <p:nvPr/>
            </p:nvSpPr>
            <p:spPr>
              <a:xfrm>
                <a:off x="0" y="0"/>
                <a:ext cx="336" cy="192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26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2782" name="Rectangle 94"/>
              <p:cNvSpPr/>
              <p:nvPr/>
            </p:nvSpPr>
            <p:spPr>
              <a:xfrm>
                <a:off x="336" y="0"/>
                <a:ext cx="336" cy="192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^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42783" name="Line 95"/>
            <p:cNvSpPr/>
            <p:nvPr/>
          </p:nvSpPr>
          <p:spPr>
            <a:xfrm>
              <a:off x="0" y="96"/>
              <a:ext cx="528" cy="0"/>
            </a:xfrm>
            <a:prstGeom prst="line">
              <a:avLst/>
            </a:prstGeom>
            <a:ln w="19050" cap="flat" cmpd="sng">
              <a:solidFill>
                <a:srgbClr val="993366"/>
              </a:solidFill>
              <a:prstDash val="solid"/>
              <a:round/>
              <a:headEnd type="oval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68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819" grpId="0"/>
      <p:bldP spid="24688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8465" y="381635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扫一扫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，获取更多信息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4825" y="4365943"/>
            <a:ext cx="2286000" cy="215265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创客学院微信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33" y="4714875"/>
            <a:ext cx="1454785" cy="1454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4850" y="4925060"/>
            <a:ext cx="547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</a:t>
            </a:r>
            <a:r>
              <a:rPr lang="zh-CN" altLang="en-US" sz="6000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</a:t>
            </a:r>
            <a:endParaRPr lang="zh-CN" altLang="en-US" sz="6000">
              <a:solidFill>
                <a:srgbClr val="F8F01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1_华清远见PPT模板（宽屏）-华清远见教育集团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华清远见PPT模板（宽屏）-移动互联网学院20160413</Template>
  <TotalTime>0</TotalTime>
  <Words>2557</Words>
  <Application>WPS 演示</Application>
  <PresentationFormat>宽屏</PresentationFormat>
  <Paragraphs>276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8" baseType="lpstr">
      <vt:lpstr>Arial</vt:lpstr>
      <vt:lpstr>宋体</vt:lpstr>
      <vt:lpstr>Wingdings</vt:lpstr>
      <vt:lpstr>Wingdings 3</vt:lpstr>
      <vt:lpstr>微软雅黑</vt:lpstr>
      <vt:lpstr>华文细黑</vt:lpstr>
      <vt:lpstr>Calibri</vt:lpstr>
      <vt:lpstr>方正兰亭粗黑_GBK</vt:lpstr>
      <vt:lpstr>黑体</vt:lpstr>
      <vt:lpstr>Microsoft YaHei UI</vt:lpstr>
      <vt:lpstr>AR PL UMing CN</vt:lpstr>
      <vt:lpstr>Times New Roman</vt:lpstr>
      <vt:lpstr>Calibri</vt:lpstr>
      <vt:lpstr>Symbol</vt:lpstr>
      <vt:lpstr>Arial Unicode MS</vt:lpstr>
      <vt:lpstr>Calibri Light</vt:lpstr>
      <vt:lpstr>Segoe Print</vt:lpstr>
      <vt:lpstr>Symbol</vt:lpstr>
      <vt:lpstr>方正兰亭粗黑_GBK</vt:lpstr>
      <vt:lpstr>1_华清远见PPT模板（宽屏）-华清远见教育集团</vt:lpstr>
      <vt:lpstr>Office 主题</vt:lpstr>
      <vt:lpstr>PowerPoint 演示文稿</vt:lpstr>
      <vt:lpstr>Hash表的查找 </vt:lpstr>
      <vt:lpstr>Hash表的查找 </vt:lpstr>
      <vt:lpstr>Hash表的查找</vt:lpstr>
      <vt:lpstr>Hash表的查找 </vt:lpstr>
      <vt:lpstr>Hash表的查找</vt:lpstr>
      <vt:lpstr>保留除数法</vt:lpstr>
      <vt:lpstr>保留除数法</vt:lpstr>
      <vt:lpstr>保留除数法</vt:lpstr>
      <vt:lpstr>处理冲突的方法 </vt:lpstr>
      <vt:lpstr>处理冲突的方法</vt:lpstr>
      <vt:lpstr>处理冲突的方法</vt:lpstr>
      <vt:lpstr>开放地址法 </vt:lpstr>
      <vt:lpstr>开放地址法 </vt:lpstr>
      <vt:lpstr>开放地址法</vt:lpstr>
      <vt:lpstr>链地址法 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flm</cp:lastModifiedBy>
  <cp:revision>1129</cp:revision>
  <cp:lastPrinted>2011-09-16T06:19:00Z</cp:lastPrinted>
  <dcterms:created xsi:type="dcterms:W3CDTF">2016-04-14T04:36:00Z</dcterms:created>
  <dcterms:modified xsi:type="dcterms:W3CDTF">2019-09-29T05:41:13Z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