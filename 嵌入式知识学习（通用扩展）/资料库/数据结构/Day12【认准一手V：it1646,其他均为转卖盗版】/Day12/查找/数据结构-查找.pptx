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wav" ContentType="audio/x-wav"/>
  <Default Extension="jpeg" ContentType="image/jpe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6" r:id="rId3"/>
  </p:sldMasterIdLst>
  <p:notesMasterIdLst>
    <p:notesMasterId r:id="rId5"/>
  </p:notesMasterIdLst>
  <p:handoutMasterIdLst>
    <p:handoutMasterId r:id="rId25"/>
  </p:handoutMasterIdLst>
  <p:sldIdLst>
    <p:sldId id="1031" r:id="rId4"/>
    <p:sldId id="1060" r:id="rId6"/>
    <p:sldId id="979" r:id="rId7"/>
    <p:sldId id="980" r:id="rId8"/>
    <p:sldId id="1094" r:id="rId9"/>
    <p:sldId id="981" r:id="rId10"/>
    <p:sldId id="1095" r:id="rId11"/>
    <p:sldId id="982" r:id="rId12"/>
    <p:sldId id="983" r:id="rId13"/>
    <p:sldId id="1096" r:id="rId14"/>
    <p:sldId id="984" r:id="rId15"/>
    <p:sldId id="985" r:id="rId16"/>
    <p:sldId id="986" r:id="rId17"/>
    <p:sldId id="987" r:id="rId18"/>
    <p:sldId id="988" r:id="rId19"/>
    <p:sldId id="991" r:id="rId20"/>
    <p:sldId id="1097" r:id="rId21"/>
    <p:sldId id="992" r:id="rId22"/>
    <p:sldId id="1061" r:id="rId23"/>
    <p:sldId id="1093" r:id="rId24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282"/>
        <p:guide pos="4008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200"/>
        <p:guide pos="233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2.vml.rels><?xml version="1.0" encoding="UTF-8" standalone="yes"?>
<Relationships xmlns="http://schemas.openxmlformats.org/package/2006/relationships"><Relationship Id="rId7" Type="http://schemas.openxmlformats.org/officeDocument/2006/relationships/image" Target="../media/image19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image" Target="../media/image11.png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6.xml"/><Relationship Id="rId8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3.xml"/><Relationship Id="rId5" Type="http://schemas.openxmlformats.org/officeDocument/2006/relationships/slideLayout" Target="../slideLayouts/slideLayout32.xml"/><Relationship Id="rId4" Type="http://schemas.openxmlformats.org/officeDocument/2006/relationships/slideLayout" Target="../slideLayouts/slideLayout31.xml"/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7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8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4.xml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audio" Target="../media/audio1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.bin"/><Relationship Id="rId8" Type="http://schemas.openxmlformats.org/officeDocument/2006/relationships/image" Target="../media/image16.wmf"/><Relationship Id="rId7" Type="http://schemas.openxmlformats.org/officeDocument/2006/relationships/oleObject" Target="../embeddings/oleObject5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3.bin"/><Relationship Id="rId2" Type="http://schemas.openxmlformats.org/officeDocument/2006/relationships/image" Target="../media/image13.wmf"/><Relationship Id="rId17" Type="http://schemas.openxmlformats.org/officeDocument/2006/relationships/vmlDrawing" Target="../drawings/vmlDrawing2.vml"/><Relationship Id="rId16" Type="http://schemas.openxmlformats.org/officeDocument/2006/relationships/slideLayout" Target="../slideLayouts/slideLayout2.xml"/><Relationship Id="rId15" Type="http://schemas.openxmlformats.org/officeDocument/2006/relationships/audio" Target="../media/audio1.wav"/><Relationship Id="rId14" Type="http://schemas.openxmlformats.org/officeDocument/2006/relationships/image" Target="../media/image19.wmf"/><Relationship Id="rId13" Type="http://schemas.openxmlformats.org/officeDocument/2006/relationships/oleObject" Target="../embeddings/oleObject8.bin"/><Relationship Id="rId12" Type="http://schemas.openxmlformats.org/officeDocument/2006/relationships/image" Target="../media/image18.wmf"/><Relationship Id="rId11" Type="http://schemas.openxmlformats.org/officeDocument/2006/relationships/oleObject" Target="../embeddings/oleObject7.bin"/><Relationship Id="rId10" Type="http://schemas.openxmlformats.org/officeDocument/2006/relationships/image" Target="../media/image17.wmf"/><Relationship Id="rId1" Type="http://schemas.openxmlformats.org/officeDocument/2006/relationships/oleObject" Target="../embeddings/oleObject2.bin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.vml"/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22.wmf"/><Relationship Id="rId1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1633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查找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631190" y="572770"/>
            <a:ext cx="10681335" cy="416560"/>
          </a:xfrm>
        </p:spPr>
        <p:txBody>
          <a:bodyPr>
            <a:normAutofit fontScale="90000"/>
          </a:bodyPr>
          <a:lstStyle/>
          <a:p>
            <a:r>
              <a:rPr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查找概念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514350" y="1278255"/>
            <a:ext cx="8040370" cy="3601085"/>
          </a:xfrm>
        </p:spPr>
        <p:txBody>
          <a:bodyPr>
            <a:normAutofit/>
          </a:bodyPr>
          <a:lstStyle/>
          <a:p>
            <a:pPr eaLnBrk="1" hangingPunct="1">
              <a:lnSpc>
                <a:spcPct val="19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设记录表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=(R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R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……R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其中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en-US" altLang="zh-CN" sz="2000" baseline="-25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l≤i≤n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为记录，对给定的某个值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，在表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中确定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的记录的过程，称为查找。</a:t>
            </a:r>
            <a:endParaRPr sz="2000" dirty="0" err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9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若表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中存在一个记录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en-US" altLang="zh-CN" sz="2000" baseline="-25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，记为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Ri.key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，则查找成功，返回该记录在表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中的序号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的地址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否则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查找失败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返回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0(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或空地址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Null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332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查找方法</a:t>
            </a: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264285"/>
            <a:ext cx="8040370" cy="2766695"/>
          </a:xfrm>
        </p:spPr>
        <p:txBody>
          <a:bodyPr/>
          <a:lstStyle/>
          <a:p>
            <a:pPr eaLnBrk="1" hangingPunct="1">
              <a:lnSpc>
                <a:spcPct val="19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查找方法有顺序查找、折半查找、分块查找、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Hash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表查找等等。查找算法的优劣将影响到计算机的使用效率，应根据应用场合选择相应的查找算法。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9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332" y="291783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查找</a:t>
            </a:r>
            <a:r>
              <a:rPr lang="en-US" altLang="zh-CN" sz="4400" b="0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平均查找长度</a:t>
            </a:r>
            <a:endParaRPr sz="4400" b="0" dirty="0">
              <a:solidFill>
                <a:srgbClr val="01E1EF"/>
              </a:solidFill>
              <a:latin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02970" y="1088390"/>
            <a:ext cx="8341995" cy="303974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对查找算法，主要分析其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查找过程是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的比较过程，时间主要耗费在各记录的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key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与给定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值的比较上。比较次数越多，算法效率越差（即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(n)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量级越高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），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故用“比较次数”刻画算法的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150000"/>
              </a:lnSpc>
            </a:pP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just" eaLnBrk="1" hangingPunct="1"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一般以“平均查找长度”来衡量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755015" y="528320"/>
            <a:ext cx="10681335" cy="416560"/>
          </a:xfrm>
        </p:spPr>
        <p:txBody>
          <a:bodyPr>
            <a:normAutofit fontScale="90000"/>
          </a:bodyPr>
          <a:lstStyle/>
          <a:p>
            <a:r>
              <a:rPr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查找</a:t>
            </a:r>
            <a:r>
              <a:rPr lang="en-US" altLang="zh-CN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-</a:t>
            </a:r>
            <a:r>
              <a:rPr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平均查找长度</a:t>
            </a:r>
            <a:endParaRPr b="0" dirty="0">
              <a:solidFill>
                <a:srgbClr val="01E1E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755015" y="1237615"/>
            <a:ext cx="8260080" cy="106362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平均查找长度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ASL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Average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Search Length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）：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对给定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k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，查找表</a:t>
            </a:r>
            <a:r>
              <a:rPr lang="en-US" altLang="zh-CN" sz="20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中记录比较次数的期望值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或平均值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，即：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35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22212" name="Object 5"/>
          <p:cNvGraphicFramePr>
            <a:graphicFrameLocks noChangeAspect="1"/>
          </p:cNvGraphicFramePr>
          <p:nvPr/>
        </p:nvGraphicFramePr>
        <p:xfrm>
          <a:off x="2897838" y="2592498"/>
          <a:ext cx="1676400" cy="744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9" name="" r:id="rId1" imgW="928370" imgH="432435" progId="Equation.3">
                  <p:embed/>
                </p:oleObj>
              </mc:Choice>
              <mc:Fallback>
                <p:oleObj name="" r:id="rId1" imgW="928370" imgH="432435" progId="Equation.3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97838" y="2592498"/>
                        <a:ext cx="1676400" cy="744538"/>
                      </a:xfrm>
                      <a:prstGeom prst="rect">
                        <a:avLst/>
                      </a:prstGeom>
                      <a:solidFill>
                        <a:srgbClr val="C3DDF7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2213" name="Text Box 5"/>
          <p:cNvSpPr txBox="1"/>
          <p:nvPr/>
        </p:nvSpPr>
        <p:spPr>
          <a:xfrm>
            <a:off x="901065" y="3629025"/>
            <a:ext cx="8114665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为查找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的概率。等概率情况下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=1/n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en-US" altLang="zh-CN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为查找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</a:t>
            </a:r>
            <a:r>
              <a:rPr lang="en-US" altLang="zh-CN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的比较次数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或查找次数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22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2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22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222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6218" y="291783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顺序表的查找</a:t>
            </a:r>
            <a:br>
              <a:rPr lang="zh-CN" altLang="en-US" dirty="0">
                <a:solidFill>
                  <a:srgbClr val="01E1EF"/>
                </a:solidFill>
              </a:rPr>
            </a:br>
            <a:endParaRPr lang="zh-CN" altLang="en-US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48360" y="1228725"/>
            <a:ext cx="7967980" cy="345567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顺序表，是将表中记录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(R</a:t>
            </a:r>
            <a:r>
              <a:rPr lang="en-US" altLang="zh-CN" sz="2000" baseline="-25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R</a:t>
            </a:r>
            <a:r>
              <a:rPr lang="en-US" altLang="zh-CN" sz="2000" baseline="-25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……R</a:t>
            </a:r>
            <a:r>
              <a:rPr lang="en-US" altLang="zh-CN" sz="2000" baseline="-25000" dirty="0">
                <a:solidFill>
                  <a:schemeClr val="bg1"/>
                </a:solidFill>
                <a:sym typeface="+mn-ea"/>
              </a:rPr>
              <a:t>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按其序号存储于一维数组空间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记录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Ri</a:t>
            </a:r>
            <a:r>
              <a:rPr sz="2000" dirty="0">
                <a:solidFill>
                  <a:schemeClr val="bg1"/>
                </a:solidFill>
                <a:sym typeface="+mn-ea"/>
              </a:rPr>
              <a:t>的类型描述如下：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typedef struct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{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keytype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key;    //</a:t>
            </a:r>
            <a:r>
              <a:rPr sz="2000" dirty="0">
                <a:solidFill>
                  <a:schemeClr val="bg1"/>
                </a:solidFill>
                <a:sym typeface="+mn-ea"/>
              </a:rPr>
              <a:t>记录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key//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	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   //</a:t>
            </a:r>
            <a:r>
              <a:rPr sz="2000" dirty="0">
                <a:solidFill>
                  <a:schemeClr val="bg1"/>
                </a:solidFill>
                <a:sym typeface="+mn-ea"/>
              </a:rPr>
              <a:t>记录其他项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5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} Retype;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endParaRPr lang="zh-CN" altLang="en-US" sz="1800" dirty="0">
              <a:solidFill>
                <a:schemeClr val="bg1"/>
              </a:solidFill>
            </a:endParaRPr>
          </a:p>
          <a:p>
            <a:pPr eaLnBrk="1" hangingPunct="1">
              <a:lnSpc>
                <a:spcPct val="130000"/>
              </a:lnSpc>
            </a:pPr>
            <a:endParaRPr lang="zh-CN" alt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671830" y="445135"/>
            <a:ext cx="10681335" cy="416560"/>
          </a:xfrm>
        </p:spPr>
        <p:txBody>
          <a:bodyPr>
            <a:normAutofit fontScale="90000"/>
          </a:bodyPr>
          <a:lstStyle/>
          <a:p>
            <a:r>
              <a:rPr kumimoji="1" lang="zh-CN" altLang="en-US" sz="4400" b="0" noProof="0" dirty="0" smtClean="0">
                <a:ln>
                  <a:noFill/>
                </a:ln>
                <a:solidFill>
                  <a:srgbClr val="01E1EF"/>
                </a:solidFill>
                <a:effectLst/>
                <a:uLnTx/>
                <a:uFillTx/>
                <a:latin typeface="华文细黑" panose="02010600040101010101" pitchFamily="2" charset="-122"/>
                <a:ea typeface="微软雅黑" panose="020B0503020204020204" pitchFamily="34" charset="-122"/>
                <a:sym typeface="+mn-ea"/>
              </a:rPr>
              <a:t>顺序表的查找</a:t>
            </a:r>
            <a:endParaRPr lang="zh-CN" altLang="en-US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755015" y="1158875"/>
            <a:ext cx="7967980" cy="504063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  <a:buNone/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顺序表类型描述如下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: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#define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maxn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1024     //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表最大长度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typedef struct 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{   Retype data[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maxn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];  //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顺序表空间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x-none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	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int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len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   //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当前表长，表空时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len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=0//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}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sqlist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;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若说明：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sqlist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r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，则（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[1]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r.len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）为记录表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(R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……R</a:t>
            </a:r>
            <a:r>
              <a:rPr lang="en-US" altLang="zh-CN" sz="2000" baseline="-25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</a:t>
            </a:r>
            <a:r>
              <a:rPr lang="en-US" altLang="zh-CN" sz="2000" baseline="-25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.key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].key,  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[0]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称为监视哨，为算法设计方便所设。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623392" y="317881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顺序查找算法及分析</a:t>
            </a:r>
            <a:br>
              <a:rPr lang="zh-CN" altLang="en-US" dirty="0">
                <a:solidFill>
                  <a:srgbClr val="01E1EF"/>
                </a:solidFill>
              </a:rPr>
            </a:br>
            <a:endParaRPr lang="zh-CN" altLang="en-US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36720" y="1077883"/>
            <a:ext cx="8242785" cy="4896544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算法思路</a:t>
            </a:r>
            <a:r>
              <a:rPr lang="zh-CN" altLang="en-US" sz="2000" b="1" dirty="0">
                <a:solidFill>
                  <a:schemeClr val="bg1"/>
                </a:solidFill>
                <a:sym typeface="+mn-ea"/>
              </a:rPr>
              <a:t> </a:t>
            </a:r>
            <a:r>
              <a:rPr sz="2000" dirty="0">
                <a:solidFill>
                  <a:schemeClr val="bg1"/>
                </a:solidFill>
                <a:sym typeface="+mn-ea"/>
              </a:rPr>
              <a:t>设给定值为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</a:t>
            </a:r>
            <a:r>
              <a:rPr sz="2000" dirty="0">
                <a:solidFill>
                  <a:schemeClr val="bg1"/>
                </a:solidFill>
                <a:sym typeface="+mn-ea"/>
              </a:rPr>
              <a:t>，在表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中，从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开始，查找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key=k</a:t>
            </a:r>
            <a:r>
              <a:rPr sz="2000" dirty="0">
                <a:solidFill>
                  <a:schemeClr val="bg1"/>
                </a:solidFill>
                <a:sym typeface="+mn-ea"/>
              </a:rPr>
              <a:t>的记录。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int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sqsearch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sqlist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r,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keytype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k)  </a:t>
            </a:r>
            <a:endParaRPr lang="en-US" altLang="zh-CN"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{   int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;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            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[0].key = k;  //k</a:t>
            </a:r>
            <a:r>
              <a:rPr sz="2000" dirty="0">
                <a:solidFill>
                  <a:schemeClr val="bg1"/>
                </a:solidFill>
                <a:sym typeface="+mn-ea"/>
              </a:rPr>
              <a:t>存入监视哨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	     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=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r.len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;  //</a:t>
            </a:r>
            <a:r>
              <a:rPr sz="2000" dirty="0">
                <a:solidFill>
                  <a:schemeClr val="bg1"/>
                </a:solidFill>
                <a:sym typeface="+mn-ea"/>
              </a:rPr>
              <a:t>取表长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	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while(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].key != k)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--; 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	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return (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);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}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17842" y="270059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顺序查找算法及分析</a:t>
            </a:r>
            <a:endParaRPr lang="zh-CN" altLang="en-US" sz="4400" b="0" dirty="0">
              <a:solidFill>
                <a:srgbClr val="01E1E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39242" y="1166912"/>
            <a:ext cx="8104425" cy="5112568"/>
          </a:xfrm>
        </p:spPr>
        <p:txBody>
          <a:bodyPr/>
          <a:lstStyle/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C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(1≤i≤n)</a:t>
            </a:r>
            <a:r>
              <a:rPr sz="2000" dirty="0">
                <a:solidFill>
                  <a:schemeClr val="bg1"/>
                </a:solidFill>
                <a:sym typeface="+mn-ea"/>
              </a:rPr>
              <a:t>为查找第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记录的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比较次数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</a:t>
            </a:r>
            <a:r>
              <a:rPr sz="2000" dirty="0">
                <a:solidFill>
                  <a:schemeClr val="bg1"/>
                </a:solidFill>
                <a:sym typeface="+mn-ea"/>
              </a:rPr>
              <a:t>或查找次数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		若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[n].key = k</a:t>
            </a:r>
            <a:r>
              <a:rPr sz="2000" dirty="0">
                <a:solidFill>
                  <a:schemeClr val="bg1"/>
                </a:solidFill>
                <a:sym typeface="+mn-ea"/>
              </a:rPr>
              <a:t>，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C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=1</a:t>
            </a:r>
            <a:r>
              <a:rPr sz="2000" dirty="0">
                <a:solidFill>
                  <a:schemeClr val="bg1"/>
                </a:solidFill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		若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[n-1].key = k</a:t>
            </a:r>
            <a:r>
              <a:rPr sz="2000" dirty="0">
                <a:solidFill>
                  <a:schemeClr val="bg1"/>
                </a:solidFill>
                <a:sym typeface="+mn-ea"/>
              </a:rPr>
              <a:t>，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C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=2</a:t>
            </a:r>
            <a:r>
              <a:rPr sz="2000" dirty="0">
                <a:solidFill>
                  <a:schemeClr val="bg1"/>
                </a:solidFill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       		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		</a:t>
            </a:r>
            <a:r>
              <a:rPr sz="2000" dirty="0">
                <a:solidFill>
                  <a:schemeClr val="bg1"/>
                </a:solidFill>
                <a:sym typeface="+mn-ea"/>
              </a:rPr>
              <a:t>若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].key = k</a:t>
            </a:r>
            <a:r>
              <a:rPr sz="2000" dirty="0">
                <a:solidFill>
                  <a:schemeClr val="bg1"/>
                </a:solidFill>
                <a:sym typeface="+mn-ea"/>
              </a:rPr>
              <a:t>， 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C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=n-i+1</a:t>
            </a:r>
            <a:r>
              <a:rPr sz="2000" dirty="0">
                <a:solidFill>
                  <a:schemeClr val="bg1"/>
                </a:solidFill>
                <a:sym typeface="+mn-ea"/>
              </a:rPr>
              <a:t>；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       		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……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		</a:t>
            </a:r>
            <a:r>
              <a:rPr sz="2000" dirty="0">
                <a:solidFill>
                  <a:schemeClr val="bg1"/>
                </a:solidFill>
                <a:sym typeface="+mn-ea"/>
              </a:rPr>
              <a:t>若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[1].key = k</a:t>
            </a:r>
            <a:r>
              <a:rPr sz="2000" dirty="0">
                <a:solidFill>
                  <a:schemeClr val="bg1"/>
                </a:solidFill>
                <a:sym typeface="+mn-ea"/>
              </a:rPr>
              <a:t>，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C</a:t>
            </a:r>
            <a:r>
              <a:rPr lang="en-US" altLang="zh-CN" sz="20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=n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/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528320" y="450850"/>
            <a:ext cx="10681335" cy="416560"/>
          </a:xfrm>
        </p:spPr>
        <p:txBody>
          <a:bodyPr>
            <a:normAutofit fontScale="90000"/>
          </a:bodyPr>
          <a:lstStyle/>
          <a:p>
            <a:r>
              <a:rPr sz="4400" b="1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顺序查找算法及分析</a:t>
            </a:r>
            <a:endParaRPr lang="zh-CN" altLang="en-US" sz="4400" b="1" dirty="0">
              <a:solidFill>
                <a:srgbClr val="01E1E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667385" y="1376045"/>
            <a:ext cx="7826375" cy="2887345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故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ASL = O(n)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。而查找失败时，查找次数等于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n+l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，同样为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O(n)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对查找算法，若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ASL=O(n)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，则效率是很低的，意味着查找某记录几乎要扫描整个表，当表长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很大时，会令人无法忍受。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32789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折半查找算法及分析</a:t>
            </a:r>
            <a:br>
              <a:rPr lang="zh-CN" altLang="en-US" dirty="0">
                <a:solidFill>
                  <a:srgbClr val="01E1EF"/>
                </a:solidFill>
              </a:rPr>
            </a:br>
            <a:endParaRPr lang="zh-CN" altLang="en-US" dirty="0">
              <a:solidFill>
                <a:srgbClr val="01E1EF"/>
              </a:solidFill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850265" y="1301115"/>
            <a:ext cx="7952740" cy="3150870"/>
          </a:xfrm>
        </p:spPr>
        <p:txBody>
          <a:bodyPr/>
          <a:lstStyle/>
          <a:p>
            <a:pPr algn="just" eaLnBrk="1" hangingPunct="1">
              <a:lnSpc>
                <a:spcPct val="16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算法思路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对给定值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</a:t>
            </a:r>
            <a:r>
              <a:rPr sz="2000" dirty="0">
                <a:solidFill>
                  <a:schemeClr val="bg1"/>
                </a:solidFill>
                <a:sym typeface="+mn-ea"/>
              </a:rPr>
              <a:t>，逐步确定待查记录所在区间，每次将搜索空间减少一半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</a:t>
            </a:r>
            <a:r>
              <a:rPr sz="2000" dirty="0">
                <a:solidFill>
                  <a:schemeClr val="bg1"/>
                </a:solidFill>
                <a:sym typeface="+mn-ea"/>
              </a:rPr>
              <a:t>折半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，直到查找成功或失败为止。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6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设两个游标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low</a:t>
            </a:r>
            <a:r>
              <a:rPr sz="2000" dirty="0">
                <a:solidFill>
                  <a:schemeClr val="bg1"/>
                </a:solidFill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high</a:t>
            </a:r>
            <a:r>
              <a:rPr sz="2000" dirty="0">
                <a:solidFill>
                  <a:schemeClr val="bg1"/>
                </a:solidFill>
                <a:sym typeface="+mn-ea"/>
              </a:rPr>
              <a:t>，分别指向当前待查找表的上界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</a:t>
            </a:r>
            <a:r>
              <a:rPr sz="2000" dirty="0">
                <a:solidFill>
                  <a:schemeClr val="bg1"/>
                </a:solidFill>
                <a:sym typeface="+mn-ea"/>
              </a:rPr>
              <a:t>表头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和下界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</a:t>
            </a:r>
            <a:r>
              <a:rPr sz="2000" dirty="0">
                <a:solidFill>
                  <a:schemeClr val="bg1"/>
                </a:solidFill>
                <a:sym typeface="+mn-ea"/>
              </a:rPr>
              <a:t>表尾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</a:t>
            </a:r>
            <a:r>
              <a:rPr sz="2000" dirty="0">
                <a:solidFill>
                  <a:schemeClr val="bg1"/>
                </a:solidFill>
                <a:sym typeface="+mn-ea"/>
              </a:rPr>
              <a:t>。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mid</a:t>
            </a:r>
            <a:r>
              <a:rPr sz="2000" dirty="0">
                <a:solidFill>
                  <a:schemeClr val="bg1"/>
                </a:solidFill>
                <a:sym typeface="+mn-ea"/>
              </a:rPr>
              <a:t>指向中间元素。</a:t>
            </a:r>
            <a:endParaRPr sz="2000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60070" y="268288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折半查找算法及分析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47700" y="1301115"/>
            <a:ext cx="8563610" cy="2566035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sz="1800" dirty="0">
                <a:solidFill>
                  <a:schemeClr val="tx1"/>
                </a:solidFill>
                <a:sym typeface="+mn-ea"/>
              </a:rPr>
              <a:t>设记录表的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key</a:t>
            </a:r>
            <a:r>
              <a:rPr sz="1800" dirty="0">
                <a:solidFill>
                  <a:schemeClr val="tx1"/>
                </a:solidFill>
                <a:sym typeface="+mn-ea"/>
              </a:rPr>
              <a:t>序列如下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: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sz="1800" dirty="0">
                <a:solidFill>
                  <a:schemeClr val="tx1"/>
                </a:solidFill>
                <a:sym typeface="+mn-ea"/>
              </a:rPr>
              <a:t>序号：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1       2      3       4      5       6      7      8      9      10     11   12  (n=12)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endParaRPr lang="en-US" altLang="zh-CN" sz="18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 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      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low   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                                                                                     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high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sz="18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50000"/>
              </a:lnSpc>
            </a:pPr>
            <a:endParaRPr lang="zh-CN" altLang="en-US" sz="1800" dirty="0">
              <a:solidFill>
                <a:schemeClr val="bg1"/>
              </a:solidFill>
            </a:endParaRPr>
          </a:p>
        </p:txBody>
      </p:sp>
      <p:graphicFrame>
        <p:nvGraphicFramePr>
          <p:cNvPr id="228357" name="Group 5"/>
          <p:cNvGraphicFramePr>
            <a:graphicFrameLocks noGrp="1"/>
          </p:cNvGraphicFramePr>
          <p:nvPr/>
        </p:nvGraphicFramePr>
        <p:xfrm>
          <a:off x="1295400" y="2268220"/>
          <a:ext cx="6781800" cy="396875"/>
        </p:xfrm>
        <a:graphic>
          <a:graphicData uri="http://schemas.openxmlformats.org/drawingml/2006/table">
            <a:tbl>
              <a:tblPr/>
              <a:tblGrid>
                <a:gridCol w="565150"/>
                <a:gridCol w="565150"/>
                <a:gridCol w="565150"/>
                <a:gridCol w="565150"/>
                <a:gridCol w="635000"/>
                <a:gridCol w="495300"/>
                <a:gridCol w="577850"/>
                <a:gridCol w="552450"/>
                <a:gridCol w="565150"/>
                <a:gridCol w="565150"/>
                <a:gridCol w="552450"/>
                <a:gridCol w="57785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7360" name="Line 32"/>
          <p:cNvSpPr/>
          <p:nvPr/>
        </p:nvSpPr>
        <p:spPr>
          <a:xfrm flipV="1">
            <a:off x="1524000" y="2663508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7361" name="Line 33"/>
          <p:cNvSpPr/>
          <p:nvPr/>
        </p:nvSpPr>
        <p:spPr>
          <a:xfrm flipV="1">
            <a:off x="7772400" y="2663508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228387" name="Group 35"/>
          <p:cNvGraphicFramePr>
            <a:graphicFrameLocks noGrp="1"/>
          </p:cNvGraphicFramePr>
          <p:nvPr/>
        </p:nvGraphicFramePr>
        <p:xfrm>
          <a:off x="1295400" y="2268220"/>
          <a:ext cx="2895600" cy="396875"/>
        </p:xfrm>
        <a:graphic>
          <a:graphicData uri="http://schemas.openxmlformats.org/drawingml/2006/table">
            <a:tbl>
              <a:tblPr/>
              <a:tblGrid>
                <a:gridCol w="565150"/>
                <a:gridCol w="577850"/>
                <a:gridCol w="552450"/>
                <a:gridCol w="565150"/>
                <a:gridCol w="6350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03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2" name="Group 49"/>
          <p:cNvGrpSpPr/>
          <p:nvPr/>
        </p:nvGrpSpPr>
        <p:grpSpPr>
          <a:xfrm>
            <a:off x="4096386" y="2663509"/>
            <a:ext cx="762000" cy="1025398"/>
            <a:chOff x="0" y="0"/>
            <a:chExt cx="480" cy="490"/>
          </a:xfrm>
        </p:grpSpPr>
        <p:sp>
          <p:nvSpPr>
            <p:cNvPr id="227377" name="Text Box 50"/>
            <p:cNvSpPr txBox="1"/>
            <p:nvPr/>
          </p:nvSpPr>
          <p:spPr>
            <a:xfrm>
              <a:off x="0" y="24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mid</a:t>
              </a:r>
              <a:endParaRPr lang="en-US" altLang="zh-CN" sz="200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7378" name="Line 51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6" name="Group 52"/>
          <p:cNvGrpSpPr/>
          <p:nvPr/>
        </p:nvGrpSpPr>
        <p:grpSpPr>
          <a:xfrm>
            <a:off x="3657600" y="2663508"/>
            <a:ext cx="685800" cy="777875"/>
            <a:chOff x="0" y="0"/>
            <a:chExt cx="432" cy="490"/>
          </a:xfrm>
        </p:grpSpPr>
        <p:sp>
          <p:nvSpPr>
            <p:cNvPr id="227380" name="Text Box 53"/>
            <p:cNvSpPr txBox="1"/>
            <p:nvPr/>
          </p:nvSpPr>
          <p:spPr>
            <a:xfrm>
              <a:off x="0" y="240"/>
              <a:ext cx="432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high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7381" name="Line 54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Group 55"/>
          <p:cNvGrpSpPr/>
          <p:nvPr/>
        </p:nvGrpSpPr>
        <p:grpSpPr>
          <a:xfrm>
            <a:off x="2819400" y="2663508"/>
            <a:ext cx="609600" cy="777875"/>
            <a:chOff x="0" y="0"/>
            <a:chExt cx="384" cy="490"/>
          </a:xfrm>
        </p:grpSpPr>
        <p:sp>
          <p:nvSpPr>
            <p:cNvPr id="227383" name="Text Box 56"/>
            <p:cNvSpPr txBox="1"/>
            <p:nvPr/>
          </p:nvSpPr>
          <p:spPr>
            <a:xfrm>
              <a:off x="0" y="24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low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7384" name="Line 57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8" name="Group 58"/>
          <p:cNvGrpSpPr/>
          <p:nvPr/>
        </p:nvGrpSpPr>
        <p:grpSpPr>
          <a:xfrm>
            <a:off x="2286000" y="2663508"/>
            <a:ext cx="762000" cy="777875"/>
            <a:chOff x="0" y="0"/>
            <a:chExt cx="480" cy="490"/>
          </a:xfrm>
        </p:grpSpPr>
        <p:sp>
          <p:nvSpPr>
            <p:cNvPr id="227386" name="Text Box 59"/>
            <p:cNvSpPr txBox="1"/>
            <p:nvPr/>
          </p:nvSpPr>
          <p:spPr>
            <a:xfrm>
              <a:off x="0" y="24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mid</a:t>
              </a:r>
              <a:endParaRPr lang="en-US" altLang="zh-CN" sz="200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7387" name="Line 60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228413" name="Group 61"/>
          <p:cNvGraphicFramePr>
            <a:graphicFrameLocks noGrp="1"/>
          </p:cNvGraphicFramePr>
          <p:nvPr/>
        </p:nvGraphicFramePr>
        <p:xfrm>
          <a:off x="2967990" y="2266950"/>
          <a:ext cx="1200150" cy="396875"/>
        </p:xfrm>
        <a:graphic>
          <a:graphicData uri="http://schemas.openxmlformats.org/drawingml/2006/table">
            <a:tbl>
              <a:tblPr/>
              <a:tblGrid>
                <a:gridCol w="565150"/>
                <a:gridCol w="63500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</a:tbl>
          </a:graphicData>
        </a:graphic>
      </p:graphicFrame>
      <p:grpSp>
        <p:nvGrpSpPr>
          <p:cNvPr id="9" name="Group 69"/>
          <p:cNvGrpSpPr/>
          <p:nvPr/>
        </p:nvGrpSpPr>
        <p:grpSpPr>
          <a:xfrm>
            <a:off x="3048000" y="2663508"/>
            <a:ext cx="838200" cy="1098550"/>
            <a:chOff x="0" y="0"/>
            <a:chExt cx="480" cy="376"/>
          </a:xfrm>
        </p:grpSpPr>
        <p:sp>
          <p:nvSpPr>
            <p:cNvPr id="227397" name="Text Box 70"/>
            <p:cNvSpPr txBox="1"/>
            <p:nvPr/>
          </p:nvSpPr>
          <p:spPr>
            <a:xfrm>
              <a:off x="0" y="240"/>
              <a:ext cx="480" cy="13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mid</a:t>
              </a:r>
              <a:endParaRPr lang="en-US" altLang="zh-CN" sz="200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7398" name="Line 71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228424" name="Group 72"/>
          <p:cNvGraphicFramePr>
            <a:graphicFrameLocks noGrp="1"/>
          </p:cNvGraphicFramePr>
          <p:nvPr/>
        </p:nvGraphicFramePr>
        <p:xfrm>
          <a:off x="2948305" y="2268220"/>
          <a:ext cx="590550" cy="396875"/>
        </p:xfrm>
        <a:graphic>
          <a:graphicData uri="http://schemas.openxmlformats.org/drawingml/2006/table">
            <a:tbl>
              <a:tblPr/>
              <a:tblGrid>
                <a:gridCol w="59055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5050"/>
                    </a:solidFill>
                  </a:tcPr>
                </a:tc>
              </a:tr>
            </a:tbl>
          </a:graphicData>
        </a:graphic>
      </p:graphicFrame>
      <p:sp>
        <p:nvSpPr>
          <p:cNvPr id="3" name="内容占位符 4"/>
          <p:cNvSpPr>
            <a:spLocks noGrp="1"/>
          </p:cNvSpPr>
          <p:nvPr/>
        </p:nvSpPr>
        <p:spPr>
          <a:xfrm>
            <a:off x="647700" y="4050030"/>
            <a:ext cx="8888095" cy="47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3175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lang="zh-CN" altLang="en-US" sz="1600" kern="1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70205" indent="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6000"/>
              <a:buFont typeface="Wingdings 3" panose="05040102010807070707" pitchFamily="18" charset="2"/>
              <a:buNone/>
              <a:defRPr sz="1800">
                <a:solidFill>
                  <a:schemeClr val="tx1"/>
                </a:solidFill>
                <a:latin typeface="+mn-ea"/>
                <a:ea typeface="+mn-ea"/>
              </a:defRPr>
            </a:lvl2pPr>
            <a:lvl3pPr marL="109601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1800">
                <a:solidFill>
                  <a:schemeClr val="tx1"/>
                </a:solidFill>
                <a:latin typeface="+mn-ea"/>
                <a:ea typeface="+mn-ea"/>
              </a:defRPr>
            </a:lvl3pPr>
            <a:lvl4pPr marL="146304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A2B4"/>
              </a:buClr>
              <a:buSzPct val="70000"/>
              <a:buFont typeface="Wingdings" panose="05000000000000000000" pitchFamily="2" charset="2"/>
              <a:buChar char=""/>
              <a:defRPr sz="1800">
                <a:solidFill>
                  <a:schemeClr val="tx1"/>
                </a:solidFill>
                <a:latin typeface="+mn-ea"/>
                <a:ea typeface="+mn-ea"/>
              </a:defRPr>
            </a:lvl4pPr>
            <a:lvl5pPr marL="1828800" indent="-300990" algn="l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800">
                <a:solidFill>
                  <a:schemeClr val="tx1"/>
                </a:solidFill>
                <a:latin typeface="+mn-ea"/>
                <a:ea typeface="+mn-ea"/>
              </a:defRPr>
            </a:lvl5pPr>
            <a:lvl6pPr marL="2439035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6pPr>
            <a:lvl7pPr marL="3048635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7pPr>
            <a:lvl8pPr marL="3658870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8pPr>
            <a:lvl9pPr marL="4268470" indent="-30099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2665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现查找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k=20</a:t>
            </a:r>
            <a:r>
              <a:rPr sz="2000" dirty="0">
                <a:solidFill>
                  <a:schemeClr val="bg1"/>
                </a:solidFill>
                <a:sym typeface="+mn-ea"/>
              </a:rPr>
              <a:t>的记录。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8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28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842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1127125" y="1844040"/>
            <a:ext cx="8352790" cy="15601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4660" y="991870"/>
            <a:ext cx="9380855" cy="935355"/>
          </a:xfrm>
        </p:spPr>
        <p:txBody>
          <a:bodyPr/>
          <a:lstStyle/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再看查找失败的情况，设要查找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k=85</a:t>
            </a:r>
            <a:r>
              <a:rPr sz="2000" dirty="0">
                <a:solidFill>
                  <a:schemeClr val="bg1"/>
                </a:solidFill>
                <a:sym typeface="+mn-ea"/>
              </a:rPr>
              <a:t>的记录。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/>
            <a:r>
              <a:rPr sz="1800" dirty="0">
                <a:solidFill>
                  <a:schemeClr val="bg1"/>
                </a:solidFill>
                <a:sym typeface="+mn-ea"/>
              </a:rPr>
              <a:t>序号：         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1       2       3      4       5       6       7      8       9     10    11    12  (n=12)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just" eaLnBrk="1" hangingPunct="1"/>
            <a:endParaRPr lang="en-US" altLang="zh-CN" sz="1800" dirty="0">
              <a:solidFill>
                <a:schemeClr val="bg1"/>
              </a:solidFill>
            </a:endParaRPr>
          </a:p>
          <a:p>
            <a:pPr algn="just" eaLnBrk="1" hangingPunct="1"/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 </a:t>
            </a:r>
            <a:endParaRPr lang="en-US" altLang="zh-CN" sz="1800" dirty="0">
              <a:solidFill>
                <a:schemeClr val="bg1"/>
              </a:solidFill>
            </a:endParaRPr>
          </a:p>
          <a:p>
            <a:pPr algn="just" eaLnBrk="1" hangingPunct="1"/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                  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 low </a:t>
            </a:r>
            <a:r>
              <a:rPr lang="en-US" altLang="zh-CN" sz="1800" dirty="0">
                <a:solidFill>
                  <a:schemeClr val="bg1"/>
                </a:solidFill>
                <a:sym typeface="+mn-ea"/>
              </a:rPr>
              <a:t>                                                                                           </a:t>
            </a:r>
            <a:r>
              <a:rPr lang="en-US" altLang="zh-CN" sz="1800" dirty="0">
                <a:solidFill>
                  <a:schemeClr val="tx1"/>
                </a:solidFill>
                <a:sym typeface="+mn-ea"/>
              </a:rPr>
              <a:t>high</a:t>
            </a:r>
            <a:endParaRPr lang="en-US" altLang="zh-CN" sz="1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1800" dirty="0">
              <a:solidFill>
                <a:schemeClr val="tx1"/>
              </a:solidFill>
            </a:endParaRPr>
          </a:p>
        </p:txBody>
      </p:sp>
      <p:graphicFrame>
        <p:nvGraphicFramePr>
          <p:cNvPr id="229380" name="Group 4"/>
          <p:cNvGraphicFramePr>
            <a:graphicFrameLocks noGrp="1"/>
          </p:cNvGraphicFramePr>
          <p:nvPr/>
        </p:nvGraphicFramePr>
        <p:xfrm>
          <a:off x="1753870" y="1895917"/>
          <a:ext cx="6781800" cy="396875"/>
        </p:xfrm>
        <a:graphic>
          <a:graphicData uri="http://schemas.openxmlformats.org/drawingml/2006/table">
            <a:tbl>
              <a:tblPr/>
              <a:tblGrid>
                <a:gridCol w="565150"/>
                <a:gridCol w="565150"/>
                <a:gridCol w="565150"/>
                <a:gridCol w="565150"/>
                <a:gridCol w="635000"/>
                <a:gridCol w="495300"/>
                <a:gridCol w="565150"/>
                <a:gridCol w="565150"/>
                <a:gridCol w="565150"/>
                <a:gridCol w="565150"/>
                <a:gridCol w="565150"/>
                <a:gridCol w="56515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03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32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55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2" name="Group 32"/>
          <p:cNvGrpSpPr/>
          <p:nvPr/>
        </p:nvGrpSpPr>
        <p:grpSpPr>
          <a:xfrm>
            <a:off x="4611370" y="2290445"/>
            <a:ext cx="762000" cy="777875"/>
            <a:chOff x="0" y="0"/>
            <a:chExt cx="480" cy="490"/>
          </a:xfrm>
        </p:grpSpPr>
        <p:sp>
          <p:nvSpPr>
            <p:cNvPr id="228384" name="Text Box 33"/>
            <p:cNvSpPr txBox="1"/>
            <p:nvPr/>
          </p:nvSpPr>
          <p:spPr>
            <a:xfrm>
              <a:off x="0" y="24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mid</a:t>
              </a:r>
              <a:endParaRPr lang="en-US" altLang="zh-CN" sz="200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385" name="Line 34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28386" name="Line 35"/>
          <p:cNvSpPr/>
          <p:nvPr/>
        </p:nvSpPr>
        <p:spPr>
          <a:xfrm flipV="1">
            <a:off x="2096770" y="2290445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228387" name="Line 36"/>
          <p:cNvSpPr/>
          <p:nvPr/>
        </p:nvSpPr>
        <p:spPr>
          <a:xfrm flipV="1">
            <a:off x="8345170" y="2290445"/>
            <a:ext cx="0" cy="457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229413" name="Group 37"/>
          <p:cNvGraphicFramePr>
            <a:graphicFrameLocks noGrp="1"/>
          </p:cNvGraphicFramePr>
          <p:nvPr/>
        </p:nvGraphicFramePr>
        <p:xfrm>
          <a:off x="5144770" y="1885315"/>
          <a:ext cx="3390900" cy="396875"/>
        </p:xfrm>
        <a:graphic>
          <a:graphicData uri="http://schemas.openxmlformats.org/drawingml/2006/table">
            <a:tbl>
              <a:tblPr/>
              <a:tblGrid>
                <a:gridCol w="565150"/>
                <a:gridCol w="565150"/>
                <a:gridCol w="565150"/>
                <a:gridCol w="565150"/>
                <a:gridCol w="565150"/>
                <a:gridCol w="56515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68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grpSp>
        <p:nvGrpSpPr>
          <p:cNvPr id="6" name="Group 53"/>
          <p:cNvGrpSpPr/>
          <p:nvPr/>
        </p:nvGrpSpPr>
        <p:grpSpPr>
          <a:xfrm>
            <a:off x="6986270" y="2325370"/>
            <a:ext cx="685800" cy="1088403"/>
            <a:chOff x="0" y="0"/>
            <a:chExt cx="432" cy="380"/>
          </a:xfrm>
        </p:grpSpPr>
        <p:sp>
          <p:nvSpPr>
            <p:cNvPr id="228405" name="Text Box 54"/>
            <p:cNvSpPr txBox="1"/>
            <p:nvPr/>
          </p:nvSpPr>
          <p:spPr>
            <a:xfrm>
              <a:off x="0" y="240"/>
              <a:ext cx="432" cy="14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high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406" name="Line 55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7" name="Group 56"/>
          <p:cNvGrpSpPr/>
          <p:nvPr/>
        </p:nvGrpSpPr>
        <p:grpSpPr>
          <a:xfrm>
            <a:off x="5144770" y="2290445"/>
            <a:ext cx="609600" cy="777875"/>
            <a:chOff x="0" y="0"/>
            <a:chExt cx="384" cy="490"/>
          </a:xfrm>
        </p:grpSpPr>
        <p:sp>
          <p:nvSpPr>
            <p:cNvPr id="228408" name="Text Box 57"/>
            <p:cNvSpPr txBox="1"/>
            <p:nvPr/>
          </p:nvSpPr>
          <p:spPr>
            <a:xfrm>
              <a:off x="0" y="24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low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409" name="Line 58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229435" name="Group 59"/>
          <p:cNvGraphicFramePr>
            <a:graphicFrameLocks noGrp="1"/>
          </p:cNvGraphicFramePr>
          <p:nvPr/>
        </p:nvGraphicFramePr>
        <p:xfrm>
          <a:off x="6859270" y="1873885"/>
          <a:ext cx="1695450" cy="396875"/>
        </p:xfrm>
        <a:graphic>
          <a:graphicData uri="http://schemas.openxmlformats.org/drawingml/2006/table">
            <a:tbl>
              <a:tblPr/>
              <a:tblGrid>
                <a:gridCol w="565150"/>
                <a:gridCol w="565150"/>
                <a:gridCol w="56515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CC"/>
                    </a:solidFill>
                  </a:tcPr>
                </a:tc>
              </a:tr>
            </a:tbl>
          </a:graphicData>
        </a:graphic>
      </p:graphicFrame>
      <p:grpSp>
        <p:nvGrpSpPr>
          <p:cNvPr id="8" name="Group 69"/>
          <p:cNvGrpSpPr/>
          <p:nvPr/>
        </p:nvGrpSpPr>
        <p:grpSpPr>
          <a:xfrm>
            <a:off x="6211570" y="2290445"/>
            <a:ext cx="762000" cy="777875"/>
            <a:chOff x="0" y="0"/>
            <a:chExt cx="480" cy="490"/>
          </a:xfrm>
        </p:grpSpPr>
        <p:sp>
          <p:nvSpPr>
            <p:cNvPr id="228421" name="Text Box 70"/>
            <p:cNvSpPr txBox="1"/>
            <p:nvPr/>
          </p:nvSpPr>
          <p:spPr>
            <a:xfrm>
              <a:off x="0" y="24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mid</a:t>
              </a:r>
              <a:endParaRPr lang="en-US" altLang="zh-CN" sz="200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422" name="Line 71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9" name="Group 72"/>
          <p:cNvGrpSpPr/>
          <p:nvPr/>
        </p:nvGrpSpPr>
        <p:grpSpPr>
          <a:xfrm>
            <a:off x="7430770" y="2290445"/>
            <a:ext cx="762000" cy="777875"/>
            <a:chOff x="0" y="0"/>
            <a:chExt cx="480" cy="490"/>
          </a:xfrm>
        </p:grpSpPr>
        <p:sp>
          <p:nvSpPr>
            <p:cNvPr id="228424" name="Text Box 73"/>
            <p:cNvSpPr txBox="1"/>
            <p:nvPr/>
          </p:nvSpPr>
          <p:spPr>
            <a:xfrm>
              <a:off x="0" y="240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rgbClr val="FF505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mid</a:t>
              </a:r>
              <a:endParaRPr lang="en-US" altLang="zh-CN" sz="2000" dirty="0">
                <a:solidFill>
                  <a:srgbClr val="FF5050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425" name="Line 74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0" name="Group 75"/>
          <p:cNvGrpSpPr/>
          <p:nvPr/>
        </p:nvGrpSpPr>
        <p:grpSpPr>
          <a:xfrm>
            <a:off x="6744970" y="2315845"/>
            <a:ext cx="609600" cy="777875"/>
            <a:chOff x="0" y="0"/>
            <a:chExt cx="384" cy="490"/>
          </a:xfrm>
        </p:grpSpPr>
        <p:sp>
          <p:nvSpPr>
            <p:cNvPr id="228427" name="Text Box 76"/>
            <p:cNvSpPr txBox="1"/>
            <p:nvPr/>
          </p:nvSpPr>
          <p:spPr>
            <a:xfrm>
              <a:off x="0" y="240"/>
              <a:ext cx="384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u="sng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low</a:t>
              </a:r>
              <a:endParaRPr lang="en-US" altLang="zh-CN" sz="20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428" name="Line 77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1" name="Group 78"/>
          <p:cNvGrpSpPr/>
          <p:nvPr/>
        </p:nvGrpSpPr>
        <p:grpSpPr>
          <a:xfrm>
            <a:off x="6363970" y="2315845"/>
            <a:ext cx="685800" cy="1088403"/>
            <a:chOff x="0" y="0"/>
            <a:chExt cx="432" cy="380"/>
          </a:xfrm>
        </p:grpSpPr>
        <p:sp>
          <p:nvSpPr>
            <p:cNvPr id="228430" name="Text Box 79"/>
            <p:cNvSpPr txBox="1"/>
            <p:nvPr/>
          </p:nvSpPr>
          <p:spPr>
            <a:xfrm>
              <a:off x="0" y="240"/>
              <a:ext cx="432" cy="14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u="sng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high</a:t>
              </a:r>
              <a:endParaRPr lang="en-US" altLang="zh-CN" sz="2000" u="sng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431" name="Line 80"/>
            <p:cNvSpPr/>
            <p:nvPr/>
          </p:nvSpPr>
          <p:spPr>
            <a:xfrm flipV="1">
              <a:off x="192" y="0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12" name="Group 81"/>
          <p:cNvGrpSpPr/>
          <p:nvPr/>
        </p:nvGrpSpPr>
        <p:grpSpPr>
          <a:xfrm>
            <a:off x="6638539" y="2300246"/>
            <a:ext cx="762000" cy="1029083"/>
            <a:chOff x="0" y="0"/>
            <a:chExt cx="480" cy="922"/>
          </a:xfrm>
        </p:grpSpPr>
        <p:sp>
          <p:nvSpPr>
            <p:cNvPr id="228433" name="Text Box 82"/>
            <p:cNvSpPr txBox="1"/>
            <p:nvPr/>
          </p:nvSpPr>
          <p:spPr>
            <a:xfrm>
              <a:off x="0" y="672"/>
              <a:ext cx="480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mid</a:t>
              </a:r>
              <a:endPara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28434" name="Line 83"/>
            <p:cNvSpPr/>
            <p:nvPr/>
          </p:nvSpPr>
          <p:spPr>
            <a:xfrm flipV="1">
              <a:off x="192" y="0"/>
              <a:ext cx="0" cy="72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aphicFrame>
        <p:nvGraphicFramePr>
          <p:cNvPr id="229460" name="Group 84"/>
          <p:cNvGraphicFramePr>
            <a:graphicFrameLocks noGrp="1"/>
          </p:cNvGraphicFramePr>
          <p:nvPr/>
        </p:nvGraphicFramePr>
        <p:xfrm>
          <a:off x="6845935" y="1888490"/>
          <a:ext cx="565150" cy="396875"/>
        </p:xfrm>
        <a:graphic>
          <a:graphicData uri="http://schemas.openxmlformats.org/drawingml/2006/table">
            <a:tbl>
              <a:tblPr/>
              <a:tblGrid>
                <a:gridCol w="565150"/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86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505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29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2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31974" y="324803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折半查找算法及分析</a:t>
            </a: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31051" y="1297623"/>
            <a:ext cx="10725785" cy="448437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int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Binsearch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sqlist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r,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keytype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k)    //</a:t>
            </a:r>
            <a:r>
              <a:rPr sz="2000" dirty="0">
                <a:solidFill>
                  <a:schemeClr val="bg1"/>
                </a:solidFill>
                <a:sym typeface="+mn-ea"/>
              </a:rPr>
              <a:t>对有序表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</a:t>
            </a:r>
            <a:r>
              <a:rPr sz="2000" dirty="0">
                <a:solidFill>
                  <a:schemeClr val="bg1"/>
                </a:solidFill>
                <a:sym typeface="+mn-ea"/>
              </a:rPr>
              <a:t>折半查找的算法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//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{  int low, high, mid;  low = 1;high =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r.len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;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while (low &lt;= high)   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{  mid = (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low+high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) / 2;  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if (k ==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[mid].key)  return (mid); 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if (k &lt; 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r.data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[mid].key) high = mid-1; 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else low = mid+1;</a:t>
            </a:r>
            <a:endParaRPr lang="en-US" altLang="zh-CN"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   }     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x-none" sz="2000" dirty="0">
                <a:solidFill>
                  <a:schemeClr val="bg1"/>
                </a:solidFill>
                <a:sym typeface="+mn-ea"/>
              </a:rPr>
              <a:t>  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return(0);</a:t>
            </a:r>
            <a:endParaRPr lang="en-US" altLang="zh-CN" sz="2000" dirty="0">
              <a:solidFill>
                <a:schemeClr val="bg1"/>
              </a:solidFill>
              <a:sym typeface="+mn-ea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 }     </a:t>
            </a:r>
            <a:endParaRPr lang="en-US" altLang="zh-CN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2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870606" y="4637405"/>
            <a:ext cx="8796020" cy="2144395"/>
          </a:xfrm>
          <a:prstGeom prst="roundRect">
            <a:avLst/>
          </a:prstGeom>
          <a:solidFill>
            <a:srgbClr val="C3DD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27354" y="250507"/>
            <a:ext cx="10681335" cy="416560"/>
          </a:xfrm>
        </p:spPr>
        <p:txBody>
          <a:bodyPr/>
          <a:lstStyle/>
          <a:p>
            <a:r>
              <a:rPr sz="4000" b="0" dirty="0">
                <a:solidFill>
                  <a:srgbClr val="01E1EF"/>
                </a:solidFill>
                <a:latin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折半查找算法及分析</a:t>
            </a:r>
            <a:br>
              <a:rPr lang="zh-CN" altLang="en-US" sz="4000" dirty="0">
                <a:latin typeface="微软雅黑" panose="020B0503020204020204" pitchFamily="34" charset="-122"/>
                <a:cs typeface="微软雅黑" panose="020B0503020204020204" pitchFamily="34" charset="-122"/>
              </a:rPr>
            </a:br>
            <a:endParaRPr lang="zh-CN" altLang="en-US" sz="4000" dirty="0"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27355" y="876300"/>
            <a:ext cx="9253220" cy="1117600"/>
          </a:xfrm>
        </p:spPr>
        <p:txBody>
          <a:bodyPr/>
          <a:lstStyle/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不失一般性，设表长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n=2</a:t>
            </a:r>
            <a:r>
              <a:rPr lang="en-US" altLang="zh-CN" sz="2000" baseline="30000" dirty="0">
                <a:solidFill>
                  <a:schemeClr val="bg1"/>
                </a:solidFill>
                <a:sym typeface="+mn-ea"/>
              </a:rPr>
              <a:t>h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-l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h=log</a:t>
            </a:r>
            <a:r>
              <a:rPr lang="en-US" altLang="zh-CN" sz="2000" baseline="-25000" dirty="0">
                <a:solidFill>
                  <a:schemeClr val="bg1"/>
                </a:solidFill>
                <a:sym typeface="+mn-ea"/>
              </a:rPr>
              <a:t>2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(n+1)</a:t>
            </a:r>
            <a:r>
              <a:rPr sz="2000" dirty="0">
                <a:solidFill>
                  <a:schemeClr val="bg1"/>
                </a:solidFill>
                <a:sym typeface="+mn-ea"/>
              </a:rPr>
              <a:t>。记录数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恰为一棵</a:t>
            </a:r>
            <a:r>
              <a:rPr lang="en-US" altLang="zh-CN" sz="2000" b="1" dirty="0">
                <a:solidFill>
                  <a:schemeClr val="bg1"/>
                </a:solidFill>
                <a:sym typeface="+mn-ea"/>
              </a:rPr>
              <a:t>h</a:t>
            </a:r>
            <a:r>
              <a:rPr sz="2000" dirty="0">
                <a:solidFill>
                  <a:schemeClr val="bg1"/>
                </a:solidFill>
                <a:sym typeface="+mn-ea"/>
              </a:rPr>
              <a:t>层的满二叉树的结点数。得出表的判定树及各记录的查找次数如图所示。 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31429" name="Text Box 5"/>
          <p:cNvSpPr txBox="1"/>
          <p:nvPr/>
        </p:nvSpPr>
        <p:spPr>
          <a:xfrm>
            <a:off x="4987925" y="1972310"/>
            <a:ext cx="3810000" cy="249936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	           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查找次数</a:t>
            </a:r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……………. ……... 1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endParaRPr lang="en-US" altLang="zh-CN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……………. 2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………. 3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endParaRPr lang="en-US" altLang="zh-CN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……… 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….. h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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h-1</a:t>
            </a:r>
            <a:endParaRPr lang="en-US" altLang="zh-CN" baseline="30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05" name="Text Box 6"/>
          <p:cNvSpPr txBox="1"/>
          <p:nvPr/>
        </p:nvSpPr>
        <p:spPr>
          <a:xfrm>
            <a:off x="2244725" y="3853180"/>
            <a:ext cx="4038600" cy="95410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………………………………………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ctr">
              <a:spcBef>
                <a:spcPct val="50000"/>
              </a:spcBef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…………………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06" name="Line 8"/>
          <p:cNvSpPr/>
          <p:nvPr/>
        </p:nvSpPr>
        <p:spPr>
          <a:xfrm flipH="1">
            <a:off x="3500438" y="2481580"/>
            <a:ext cx="792162" cy="457200"/>
          </a:xfrm>
          <a:prstGeom prst="line">
            <a:avLst/>
          </a:prstGeom>
          <a:ln w="19050" cap="flat" cmpd="sng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407" name="Line 9"/>
          <p:cNvSpPr/>
          <p:nvPr/>
        </p:nvSpPr>
        <p:spPr>
          <a:xfrm flipH="1">
            <a:off x="2787650" y="3014980"/>
            <a:ext cx="554038" cy="381000"/>
          </a:xfrm>
          <a:prstGeom prst="line">
            <a:avLst/>
          </a:prstGeom>
          <a:ln w="19050" cap="flat" cmpd="sng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408" name="Line 10"/>
          <p:cNvSpPr/>
          <p:nvPr/>
        </p:nvSpPr>
        <p:spPr>
          <a:xfrm>
            <a:off x="4292600" y="2481580"/>
            <a:ext cx="792163" cy="457200"/>
          </a:xfrm>
          <a:prstGeom prst="line">
            <a:avLst/>
          </a:prstGeom>
          <a:ln w="19050" cap="flat" cmpd="sng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409" name="Line 11"/>
          <p:cNvSpPr/>
          <p:nvPr/>
        </p:nvSpPr>
        <p:spPr>
          <a:xfrm>
            <a:off x="3500438" y="3014980"/>
            <a:ext cx="396875" cy="457200"/>
          </a:xfrm>
          <a:prstGeom prst="line">
            <a:avLst/>
          </a:prstGeom>
          <a:ln w="19050" cap="flat" cmpd="sng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410" name="Line 12"/>
          <p:cNvSpPr/>
          <p:nvPr/>
        </p:nvSpPr>
        <p:spPr>
          <a:xfrm>
            <a:off x="5084763" y="2938780"/>
            <a:ext cx="635000" cy="533400"/>
          </a:xfrm>
          <a:prstGeom prst="line">
            <a:avLst/>
          </a:prstGeom>
          <a:ln w="19050" cap="flat" cmpd="sng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411" name="Oval 13"/>
          <p:cNvSpPr/>
          <p:nvPr/>
        </p:nvSpPr>
        <p:spPr>
          <a:xfrm>
            <a:off x="4133850" y="2359660"/>
            <a:ext cx="396875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12" name="Oval 14"/>
          <p:cNvSpPr/>
          <p:nvPr/>
        </p:nvSpPr>
        <p:spPr>
          <a:xfrm>
            <a:off x="5561013" y="3319780"/>
            <a:ext cx="396875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13" name="Oval 15"/>
          <p:cNvSpPr/>
          <p:nvPr/>
        </p:nvSpPr>
        <p:spPr>
          <a:xfrm>
            <a:off x="3659188" y="3319780"/>
            <a:ext cx="395287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14" name="Oval 16"/>
          <p:cNvSpPr/>
          <p:nvPr/>
        </p:nvSpPr>
        <p:spPr>
          <a:xfrm>
            <a:off x="2549525" y="3319780"/>
            <a:ext cx="396875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15" name="Oval 17"/>
          <p:cNvSpPr/>
          <p:nvPr/>
        </p:nvSpPr>
        <p:spPr>
          <a:xfrm>
            <a:off x="6267450" y="4234180"/>
            <a:ext cx="396875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16" name="Oval 18"/>
          <p:cNvSpPr/>
          <p:nvPr/>
        </p:nvSpPr>
        <p:spPr>
          <a:xfrm>
            <a:off x="5429250" y="4234180"/>
            <a:ext cx="396875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17" name="Oval 19"/>
          <p:cNvSpPr/>
          <p:nvPr/>
        </p:nvSpPr>
        <p:spPr>
          <a:xfrm>
            <a:off x="2644775" y="4234180"/>
            <a:ext cx="395288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18" name="Line 20"/>
          <p:cNvSpPr/>
          <p:nvPr/>
        </p:nvSpPr>
        <p:spPr>
          <a:xfrm flipH="1">
            <a:off x="4530725" y="3014980"/>
            <a:ext cx="554038" cy="533400"/>
          </a:xfrm>
          <a:prstGeom prst="line">
            <a:avLst/>
          </a:prstGeom>
          <a:ln w="19050" cap="flat" cmpd="sng">
            <a:solidFill>
              <a:srgbClr val="9933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30419" name="Oval 21"/>
          <p:cNvSpPr/>
          <p:nvPr/>
        </p:nvSpPr>
        <p:spPr>
          <a:xfrm>
            <a:off x="4927600" y="2786380"/>
            <a:ext cx="395288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20" name="Oval 22"/>
          <p:cNvSpPr/>
          <p:nvPr/>
        </p:nvSpPr>
        <p:spPr>
          <a:xfrm>
            <a:off x="4371975" y="3319780"/>
            <a:ext cx="396875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21" name="Oval 23"/>
          <p:cNvSpPr/>
          <p:nvPr/>
        </p:nvSpPr>
        <p:spPr>
          <a:xfrm>
            <a:off x="1787525" y="4234180"/>
            <a:ext cx="395288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22" name="Oval 24"/>
          <p:cNvSpPr/>
          <p:nvPr/>
        </p:nvSpPr>
        <p:spPr>
          <a:xfrm>
            <a:off x="3235325" y="2786380"/>
            <a:ext cx="396875" cy="3048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30423" name="Object 24"/>
          <p:cNvGraphicFramePr>
            <a:graphicFrameLocks noChangeAspect="1"/>
          </p:cNvGraphicFramePr>
          <p:nvPr/>
        </p:nvGraphicFramePr>
        <p:xfrm>
          <a:off x="1668463" y="4606290"/>
          <a:ext cx="1643062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2" name="" r:id="rId1" imgW="1310005" imgH="470535" progId="Equation.3">
                  <p:embed/>
                </p:oleObj>
              </mc:Choice>
              <mc:Fallback>
                <p:oleObj name="" r:id="rId1" imgW="1310005" imgH="470535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68463" y="4606290"/>
                        <a:ext cx="1643062" cy="676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4" name="Object 25"/>
          <p:cNvGraphicFramePr>
            <a:graphicFrameLocks noChangeAspect="1"/>
          </p:cNvGraphicFramePr>
          <p:nvPr/>
        </p:nvGraphicFramePr>
        <p:xfrm>
          <a:off x="1482725" y="5215890"/>
          <a:ext cx="47244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3" name="" r:id="rId3" imgW="2832100" imgH="228600" progId="Equation.3">
                  <p:embed/>
                </p:oleObj>
              </mc:Choice>
              <mc:Fallback>
                <p:oleObj name="" r:id="rId3" imgW="2832100" imgH="2286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82725" y="5215890"/>
                        <a:ext cx="47244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5" name="Object 26"/>
          <p:cNvGraphicFramePr>
            <a:graphicFrameLocks noChangeAspect="1"/>
          </p:cNvGraphicFramePr>
          <p:nvPr/>
        </p:nvGraphicFramePr>
        <p:xfrm>
          <a:off x="2016125" y="5563553"/>
          <a:ext cx="48768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4" name="" r:id="rId5" imgW="3213100" imgH="228600" progId="Equation.3">
                  <p:embed/>
                </p:oleObj>
              </mc:Choice>
              <mc:Fallback>
                <p:oleObj name="" r:id="rId5" imgW="3213100" imgH="228600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016125" y="5563553"/>
                        <a:ext cx="4876800" cy="4143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6" name="Object 27"/>
          <p:cNvGraphicFramePr>
            <a:graphicFrameLocks noChangeAspect="1"/>
          </p:cNvGraphicFramePr>
          <p:nvPr/>
        </p:nvGraphicFramePr>
        <p:xfrm>
          <a:off x="7273925" y="5528628"/>
          <a:ext cx="226218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5" name="" r:id="rId7" imgW="1322070" imgH="215900" progId="Equation.3">
                  <p:embed/>
                </p:oleObj>
              </mc:Choice>
              <mc:Fallback>
                <p:oleObj name="" r:id="rId7" imgW="1322070" imgH="2159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273925" y="5528628"/>
                        <a:ext cx="2262188" cy="373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7" name="Object 28"/>
          <p:cNvGraphicFramePr>
            <a:graphicFrameLocks noChangeAspect="1"/>
          </p:cNvGraphicFramePr>
          <p:nvPr/>
        </p:nvGraphicFramePr>
        <p:xfrm>
          <a:off x="1939925" y="5977890"/>
          <a:ext cx="495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6" name="" r:id="rId9" imgW="2692400" imgH="228600" progId="Equation.3">
                  <p:embed/>
                </p:oleObj>
              </mc:Choice>
              <mc:Fallback>
                <p:oleObj name="" r:id="rId9" imgW="2692400" imgH="2286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39925" y="5977890"/>
                        <a:ext cx="4953000" cy="38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0428" name="Object 29"/>
          <p:cNvGraphicFramePr>
            <a:graphicFrameLocks noChangeAspect="1"/>
          </p:cNvGraphicFramePr>
          <p:nvPr/>
        </p:nvGraphicFramePr>
        <p:xfrm>
          <a:off x="1330325" y="6435090"/>
          <a:ext cx="704850" cy="29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7" name="" r:id="rId11" imgW="343535" imgH="140335" progId="Equation.3">
                  <p:embed/>
                </p:oleObj>
              </mc:Choice>
              <mc:Fallback>
                <p:oleObj name="" r:id="rId11" imgW="343535" imgH="140335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330325" y="6435090"/>
                        <a:ext cx="704850" cy="293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0429" name="Text Box 31"/>
          <p:cNvSpPr txBox="1"/>
          <p:nvPr/>
        </p:nvSpPr>
        <p:spPr>
          <a:xfrm>
            <a:off x="949325" y="4819015"/>
            <a:ext cx="1371600" cy="19240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ASL=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2S=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S=2S-S=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故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ASL=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50000"/>
              </a:spcBef>
            </a:pPr>
            <a:r>
              <a:rPr lang="en-US" altLang="x-none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30" name="Text Box 32"/>
          <p:cNvSpPr txBox="1"/>
          <p:nvPr/>
        </p:nvSpPr>
        <p:spPr>
          <a:xfrm>
            <a:off x="3387725" y="4834890"/>
            <a:ext cx="838200" cy="304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令</a:t>
            </a: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S=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31" name="Text Box 33"/>
          <p:cNvSpPr txBox="1"/>
          <p:nvPr/>
        </p:nvSpPr>
        <p:spPr>
          <a:xfrm>
            <a:off x="6969125" y="5596890"/>
            <a:ext cx="381000" cy="3067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=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32" name="Text Box 34"/>
          <p:cNvSpPr txBox="1"/>
          <p:nvPr/>
        </p:nvSpPr>
        <p:spPr>
          <a:xfrm>
            <a:off x="1939925" y="6403340"/>
            <a:ext cx="5410200" cy="33655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时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 ASL=O(log</a:t>
            </a:r>
            <a:r>
              <a:rPr lang="en-US" altLang="zh-CN" sz="16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(n+1))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，大大优于</a:t>
            </a:r>
            <a:r>
              <a:rPr lang="en-US" altLang="zh-CN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O(n)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16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0433" name="Text Box 35"/>
          <p:cNvSpPr txBox="1"/>
          <p:nvPr/>
        </p:nvSpPr>
        <p:spPr>
          <a:xfrm>
            <a:off x="2778125" y="4606290"/>
            <a:ext cx="609600" cy="735009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h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45000"/>
              </a:lnSpc>
              <a:spcBef>
                <a:spcPct val="50000"/>
              </a:spcBef>
            </a:pP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45000"/>
              </a:lnSpc>
              <a:spcBef>
                <a:spcPct val="50000"/>
              </a:spcBef>
            </a:pPr>
            <a:r>
              <a:rPr lang="en-US" altLang="zh-CN" sz="1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i=1</a:t>
            </a:r>
            <a:endParaRPr lang="en-US" altLang="zh-CN" sz="140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aphicFrame>
        <p:nvGraphicFramePr>
          <p:cNvPr id="230434" name="Object 35"/>
          <p:cNvGraphicFramePr>
            <a:graphicFrameLocks noChangeAspect="1"/>
          </p:cNvGraphicFramePr>
          <p:nvPr/>
        </p:nvGraphicFramePr>
        <p:xfrm>
          <a:off x="3828256" y="4668202"/>
          <a:ext cx="4757738" cy="652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58" name="" r:id="rId13" imgW="3465830" imgH="431800" progId="Equation.3">
                  <p:embed/>
                </p:oleObj>
              </mc:Choice>
              <mc:Fallback>
                <p:oleObj name="" r:id="rId13" imgW="3465830" imgH="431800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28256" y="4668202"/>
                        <a:ext cx="4757738" cy="652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314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15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2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289298"/>
            <a:ext cx="10681335" cy="416560"/>
          </a:xfrm>
        </p:spPr>
        <p:txBody>
          <a:bodyPr/>
          <a:lstStyle/>
          <a:p>
            <a:r>
              <a:rPr sz="40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分块查找算法及分析</a:t>
            </a:r>
            <a:br>
              <a:rPr lang="zh-CN" altLang="en-US" sz="4000" dirty="0"/>
            </a:br>
            <a:endParaRPr lang="zh-CN" altLang="en-US" sz="40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25830" y="901065"/>
            <a:ext cx="8432800" cy="3891915"/>
          </a:xfrm>
        </p:spPr>
        <p:txBody>
          <a:bodyPr/>
          <a:lstStyle/>
          <a:p>
            <a:pPr algn="just" eaLnBrk="1" hangingPunct="1">
              <a:lnSpc>
                <a:spcPct val="140000"/>
              </a:lnSpc>
            </a:pPr>
            <a:r>
              <a:rPr sz="2000" b="1" dirty="0">
                <a:solidFill>
                  <a:schemeClr val="bg1"/>
                </a:solidFill>
                <a:sym typeface="+mn-ea"/>
              </a:rPr>
              <a:t>分块</a:t>
            </a:r>
            <a:endParaRPr lang="zh-CN" altLang="en-US" sz="2000" b="1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设记录表长为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，将表的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sym typeface="+mn-ea"/>
              </a:rPr>
              <a:t>个记录分成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b=        </a:t>
            </a:r>
            <a:r>
              <a:rPr sz="2000" dirty="0">
                <a:solidFill>
                  <a:schemeClr val="bg1"/>
                </a:solidFill>
                <a:sym typeface="+mn-ea"/>
              </a:rPr>
              <a:t>个块，每块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s</a:t>
            </a:r>
            <a:r>
              <a:rPr sz="2000" dirty="0">
                <a:solidFill>
                  <a:schemeClr val="bg1"/>
                </a:solidFill>
                <a:sym typeface="+mn-ea"/>
              </a:rPr>
              <a:t>个记录（最后一块记录数可以少于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s</a:t>
            </a:r>
            <a:r>
              <a:rPr sz="2000" dirty="0">
                <a:solidFill>
                  <a:schemeClr val="bg1"/>
                </a:solidFill>
                <a:sym typeface="+mn-ea"/>
              </a:rPr>
              <a:t>个），即：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endParaRPr lang="zh-CN" altLang="en-US" sz="24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且表分块有序，即第</a:t>
            </a:r>
            <a:r>
              <a:rPr lang="en-US" altLang="zh-CN" sz="20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000" dirty="0">
                <a:solidFill>
                  <a:schemeClr val="bg1"/>
                </a:solidFill>
                <a:sym typeface="+mn-ea"/>
              </a:rPr>
              <a:t>（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1≤i≤b-1</a:t>
            </a:r>
            <a:r>
              <a:rPr sz="2000" dirty="0">
                <a:solidFill>
                  <a:schemeClr val="bg1"/>
                </a:solidFill>
                <a:sym typeface="+mn-ea"/>
              </a:rPr>
              <a:t>）块所有记录的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小于第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i+1</a:t>
            </a:r>
            <a:r>
              <a:rPr sz="2000" dirty="0">
                <a:solidFill>
                  <a:schemeClr val="bg1"/>
                </a:solidFill>
                <a:sym typeface="+mn-ea"/>
              </a:rPr>
              <a:t>块中记录的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sym typeface="+mn-ea"/>
              </a:rPr>
              <a:t>，但块内记录可以无序。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4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231429" name="Picture 5" descr="00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4945" y="2343417"/>
            <a:ext cx="5257800" cy="77946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6" name="组合 5"/>
          <p:cNvGrpSpPr/>
          <p:nvPr/>
        </p:nvGrpSpPr>
        <p:grpSpPr>
          <a:xfrm>
            <a:off x="5447030" y="1505585"/>
            <a:ext cx="694690" cy="325755"/>
            <a:chOff x="14906" y="3275"/>
            <a:chExt cx="1364" cy="736"/>
          </a:xfrm>
        </p:grpSpPr>
        <p:sp>
          <p:nvSpPr>
            <p:cNvPr id="3" name="矩形 2"/>
            <p:cNvSpPr/>
            <p:nvPr/>
          </p:nvSpPr>
          <p:spPr>
            <a:xfrm>
              <a:off x="14906" y="3275"/>
              <a:ext cx="1365" cy="73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aphicFrame>
          <p:nvGraphicFramePr>
            <p:cNvPr id="21506" name="Object 5"/>
            <p:cNvGraphicFramePr>
              <a:graphicFrameLocks noChangeAspect="1"/>
            </p:cNvGraphicFramePr>
            <p:nvPr/>
          </p:nvGraphicFramePr>
          <p:xfrm>
            <a:off x="15041" y="3379"/>
            <a:ext cx="1027" cy="6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13" name="" r:id="rId2" imgW="393700" imgH="228600" progId="Equation.3">
                    <p:embed/>
                  </p:oleObj>
                </mc:Choice>
                <mc:Fallback>
                  <p:oleObj name="" r:id="rId2" imgW="393700" imgH="228600" progId="Equation.3">
                    <p:embed/>
                    <p:pic>
                      <p:nvPicPr>
                        <p:cNvPr id="0" name="图片 3112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15041" y="3379"/>
                          <a:ext cx="1027" cy="60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545465" y="484505"/>
            <a:ext cx="10681335" cy="416560"/>
          </a:xfrm>
        </p:spPr>
        <p:txBody>
          <a:bodyPr>
            <a:normAutofit fontScale="90000"/>
          </a:bodyPr>
          <a:lstStyle/>
          <a:p>
            <a:r>
              <a:rPr kumimoji="1" lang="zh-CN" altLang="en-US" sz="4000" b="0" noProof="0" dirty="0" smtClean="0">
                <a:ln>
                  <a:noFill/>
                </a:ln>
                <a:solidFill>
                  <a:srgbClr val="01E1E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分块查找算法及分析</a:t>
            </a:r>
            <a:endParaRPr lang="zh-CN" altLang="en-US" sz="4000" dirty="0"/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721995" y="1313815"/>
            <a:ext cx="9008110" cy="1901825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140000"/>
              </a:lnSpc>
            </a:pPr>
            <a:r>
              <a:rPr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建立索引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每块对应一索引项：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just"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</a:t>
            </a: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en-US" altLang="zh-CN" sz="2000" baseline="-30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max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为该块内记录的最大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link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为该块第一记录的序号（或指针）。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231430" name="Group 7"/>
          <p:cNvGrpSpPr/>
          <p:nvPr/>
        </p:nvGrpSpPr>
        <p:grpSpPr>
          <a:xfrm>
            <a:off x="2705780" y="3315320"/>
            <a:ext cx="2209800" cy="533400"/>
            <a:chOff x="0" y="0"/>
            <a:chExt cx="1056" cy="240"/>
          </a:xfrm>
        </p:grpSpPr>
        <p:sp>
          <p:nvSpPr>
            <p:cNvPr id="231431" name="Rectangle 7"/>
            <p:cNvSpPr/>
            <p:nvPr/>
          </p:nvSpPr>
          <p:spPr>
            <a:xfrm>
              <a:off x="0" y="0"/>
              <a:ext cx="528" cy="240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k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max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231432" name="Rectangle 8"/>
            <p:cNvSpPr/>
            <p:nvPr/>
          </p:nvSpPr>
          <p:spPr>
            <a:xfrm>
              <a:off x="528" y="0"/>
              <a:ext cx="528" cy="240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pPr algn="ctr"/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link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424180" y="212249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分块查找</a:t>
            </a:r>
            <a:r>
              <a:rPr lang="en-US" altLang="zh-CN"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(</a:t>
            </a:r>
            <a:r>
              <a:rPr sz="4400" b="0" dirty="0">
                <a:solidFill>
                  <a:srgbClr val="01E1EF"/>
                </a:solidFill>
                <a:latin typeface="微软雅黑" panose="020B0503020204020204" pitchFamily="34" charset="-122"/>
                <a:sym typeface="+mn-ea"/>
              </a:rPr>
              <a:t>索引顺序查找）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01638" y="1111667"/>
            <a:ext cx="10725785" cy="4484370"/>
          </a:xfrm>
        </p:spPr>
        <p:txBody>
          <a:bodyPr/>
          <a:lstStyle/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设表长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n=19</a:t>
            </a:r>
            <a:r>
              <a:rPr sz="2000" dirty="0">
                <a:solidFill>
                  <a:schemeClr val="bg1"/>
                </a:solidFill>
                <a:sym typeface="+mn-ea"/>
              </a:rPr>
              <a:t>，取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s=5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b=             = 4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endParaRPr sz="2000" dirty="0">
              <a:solidFill>
                <a:schemeClr val="bg1"/>
              </a:solidFill>
              <a:sym typeface="+mn-ea"/>
            </a:endParaRPr>
          </a:p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分块索引查找分两步进行：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(1)</a:t>
            </a:r>
            <a:r>
              <a:rPr sz="2000" dirty="0">
                <a:solidFill>
                  <a:schemeClr val="bg1"/>
                </a:solidFill>
                <a:sym typeface="+mn-ea"/>
              </a:rPr>
              <a:t>由索引表确定待查找记录所在的块；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r>
              <a:rPr sz="2000" dirty="0">
                <a:solidFill>
                  <a:schemeClr val="bg1"/>
                </a:solidFill>
                <a:sym typeface="+mn-ea"/>
              </a:rPr>
              <a:t>   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(2)</a:t>
            </a:r>
            <a:r>
              <a:rPr sz="2000" dirty="0">
                <a:solidFill>
                  <a:schemeClr val="bg1"/>
                </a:solidFill>
                <a:sym typeface="+mn-ea"/>
              </a:rPr>
              <a:t>在块内顺序查找。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/>
            <a:endParaRPr lang="en-US" altLang="zh-CN" sz="2000" dirty="0">
              <a:solidFill>
                <a:schemeClr val="bg1"/>
              </a:solidFill>
            </a:endParaRPr>
          </a:p>
          <a:p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32452" name="Object 5"/>
          <p:cNvGraphicFramePr>
            <a:graphicFrameLocks noChangeAspect="1"/>
          </p:cNvGraphicFramePr>
          <p:nvPr/>
        </p:nvGraphicFramePr>
        <p:xfrm>
          <a:off x="3503295" y="1213485"/>
          <a:ext cx="838200" cy="36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4" name="" r:id="rId1" imgW="458470" imgH="229235" progId="Equation.3">
                  <p:embed/>
                </p:oleObj>
              </mc:Choice>
              <mc:Fallback>
                <p:oleObj name="" r:id="rId1" imgW="458470" imgH="229235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3295" y="1213485"/>
                        <a:ext cx="838200" cy="360680"/>
                      </a:xfrm>
                      <a:prstGeom prst="rect">
                        <a:avLst/>
                      </a:prstGeom>
                      <a:solidFill>
                        <a:srgbClr val="C3DDF7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3478" name="Group 6"/>
          <p:cNvGraphicFramePr>
            <a:graphicFrameLocks noGrp="1"/>
          </p:cNvGraphicFramePr>
          <p:nvPr/>
        </p:nvGraphicFramePr>
        <p:xfrm>
          <a:off x="7288530" y="1052513"/>
          <a:ext cx="1447800" cy="5811838"/>
        </p:xfrm>
        <a:graphic>
          <a:graphicData uri="http://schemas.openxmlformats.org/drawingml/2006/table">
            <a:tbl>
              <a:tblPr/>
              <a:tblGrid>
                <a:gridCol w="533400"/>
                <a:gridCol w="914400"/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25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14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233540" name="Text Box 68"/>
          <p:cNvSpPr txBox="1"/>
          <p:nvPr/>
        </p:nvSpPr>
        <p:spPr>
          <a:xfrm>
            <a:off x="455378" y="3448367"/>
            <a:ext cx="388620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如查找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k=19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的记录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ct val="50000"/>
              </a:spcBef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索引表是按照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en-US" altLang="zh-CN" sz="2000" baseline="-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有序的，可对其折半查找。而块内按顺序方法查找。 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33541" name="Group 69"/>
          <p:cNvGraphicFramePr>
            <a:graphicFrameLocks noGrp="1"/>
          </p:cNvGraphicFramePr>
          <p:nvPr/>
        </p:nvGraphicFramePr>
        <p:xfrm>
          <a:off x="4697730" y="3232150"/>
          <a:ext cx="1447800" cy="1600200"/>
        </p:xfrm>
        <a:graphic>
          <a:graphicData uri="http://schemas.openxmlformats.org/drawingml/2006/table">
            <a:tbl>
              <a:tblPr/>
              <a:tblGrid>
                <a:gridCol w="685800"/>
                <a:gridCol w="762000"/>
              </a:tblGrid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spcBef>
                          <a:spcPts val="6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76000"/>
                        <a:buFont typeface="Wingdings 3" panose="05040102010807070707" pitchFamily="18" charset="2"/>
                        <a:buNone/>
                      </a:pPr>
                      <a:endParaRPr kumimoji="0" lang="zh-CN" altLang="zh-CN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99FF"/>
                    </a:solidFill>
                  </a:tcPr>
                </a:tc>
              </a:tr>
            </a:tbl>
          </a:graphicData>
        </a:graphic>
      </p:graphicFrame>
      <p:sp>
        <p:nvSpPr>
          <p:cNvPr id="232533" name="Text Box 86"/>
          <p:cNvSpPr txBox="1"/>
          <p:nvPr/>
        </p:nvSpPr>
        <p:spPr>
          <a:xfrm>
            <a:off x="7288530" y="628411"/>
            <a:ext cx="1828801" cy="36933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序号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R.key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534" name="Text Box 87"/>
          <p:cNvSpPr txBox="1"/>
          <p:nvPr/>
        </p:nvSpPr>
        <p:spPr>
          <a:xfrm>
            <a:off x="4697730" y="2819400"/>
            <a:ext cx="1524000" cy="3968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K</a:t>
            </a:r>
            <a:r>
              <a:rPr lang="en-US" altLang="zh-CN" sz="2000" baseline="-25000" dirty="0">
                <a:latin typeface="Times New Roman" panose="02020603050405020304" pitchFamily="18" charset="0"/>
                <a:ea typeface="宋体" panose="02010600030101010101" pitchFamily="2" charset="-122"/>
              </a:rPr>
              <a:t>max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     </a:t>
            </a:r>
            <a:r>
              <a:rPr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rPr>
              <a:t>序号</a:t>
            </a:r>
            <a:endParaRPr lang="zh-CN" altLang="en-US" sz="20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2535" name="Text Box 88"/>
          <p:cNvSpPr txBox="1"/>
          <p:nvPr/>
        </p:nvSpPr>
        <p:spPr>
          <a:xfrm>
            <a:off x="4621530" y="4846638"/>
            <a:ext cx="1524000" cy="3048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索引表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2" name="Group 89"/>
          <p:cNvGrpSpPr/>
          <p:nvPr/>
        </p:nvGrpSpPr>
        <p:grpSpPr>
          <a:xfrm>
            <a:off x="5916930" y="1174750"/>
            <a:ext cx="1371600" cy="2209800"/>
            <a:chOff x="0" y="0"/>
            <a:chExt cx="864" cy="1392"/>
          </a:xfrm>
        </p:grpSpPr>
        <p:sp>
          <p:nvSpPr>
            <p:cNvPr id="232537" name="Line 90"/>
            <p:cNvSpPr/>
            <p:nvPr/>
          </p:nvSpPr>
          <p:spPr>
            <a:xfrm>
              <a:off x="0" y="1392"/>
              <a:ext cx="432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2538" name="Line 91"/>
            <p:cNvSpPr/>
            <p:nvPr/>
          </p:nvSpPr>
          <p:spPr>
            <a:xfrm flipV="1">
              <a:off x="432" y="0"/>
              <a:ext cx="0" cy="1392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2539" name="Line 92"/>
            <p:cNvSpPr/>
            <p:nvPr/>
          </p:nvSpPr>
          <p:spPr>
            <a:xfrm>
              <a:off x="432" y="0"/>
              <a:ext cx="432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6" name="Group 93"/>
          <p:cNvGrpSpPr/>
          <p:nvPr/>
        </p:nvGrpSpPr>
        <p:grpSpPr>
          <a:xfrm>
            <a:off x="5916930" y="2698750"/>
            <a:ext cx="1371600" cy="1143000"/>
            <a:chOff x="0" y="0"/>
            <a:chExt cx="864" cy="624"/>
          </a:xfrm>
        </p:grpSpPr>
        <p:sp>
          <p:nvSpPr>
            <p:cNvPr id="232541" name="Line 94"/>
            <p:cNvSpPr/>
            <p:nvPr/>
          </p:nvSpPr>
          <p:spPr>
            <a:xfrm>
              <a:off x="0" y="624"/>
              <a:ext cx="576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2542" name="Line 95"/>
            <p:cNvSpPr/>
            <p:nvPr/>
          </p:nvSpPr>
          <p:spPr>
            <a:xfrm flipV="1">
              <a:off x="576" y="0"/>
              <a:ext cx="0" cy="624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2543" name="Line 96"/>
            <p:cNvSpPr/>
            <p:nvPr/>
          </p:nvSpPr>
          <p:spPr>
            <a:xfrm>
              <a:off x="576" y="0"/>
              <a:ext cx="288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33569" name="Line 97"/>
          <p:cNvSpPr/>
          <p:nvPr/>
        </p:nvSpPr>
        <p:spPr>
          <a:xfrm flipV="1">
            <a:off x="5916930" y="4222750"/>
            <a:ext cx="1371600" cy="0"/>
          </a:xfrm>
          <a:prstGeom prst="line">
            <a:avLst/>
          </a:prstGeom>
          <a:ln w="19050" cap="flat" cmpd="sng">
            <a:solidFill>
              <a:schemeClr val="bg1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7" name="Group 98"/>
          <p:cNvGrpSpPr/>
          <p:nvPr/>
        </p:nvGrpSpPr>
        <p:grpSpPr>
          <a:xfrm>
            <a:off x="5916930" y="4603750"/>
            <a:ext cx="1371600" cy="1143000"/>
            <a:chOff x="0" y="0"/>
            <a:chExt cx="864" cy="912"/>
          </a:xfrm>
        </p:grpSpPr>
        <p:sp>
          <p:nvSpPr>
            <p:cNvPr id="232546" name="Line 99"/>
            <p:cNvSpPr/>
            <p:nvPr/>
          </p:nvSpPr>
          <p:spPr>
            <a:xfrm>
              <a:off x="0" y="0"/>
              <a:ext cx="432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2547" name="Line 100"/>
            <p:cNvSpPr/>
            <p:nvPr/>
          </p:nvSpPr>
          <p:spPr>
            <a:xfrm>
              <a:off x="432" y="0"/>
              <a:ext cx="0" cy="912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232548" name="Line 101"/>
            <p:cNvSpPr/>
            <p:nvPr/>
          </p:nvSpPr>
          <p:spPr>
            <a:xfrm>
              <a:off x="432" y="912"/>
              <a:ext cx="432" cy="0"/>
            </a:xfrm>
            <a:prstGeom prst="line">
              <a:avLst/>
            </a:prstGeom>
            <a:ln w="19050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233574" name="Rectangle 103"/>
          <p:cNvSpPr/>
          <p:nvPr/>
        </p:nvSpPr>
        <p:spPr>
          <a:xfrm>
            <a:off x="4850130" y="33083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18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75" name="Rectangle 104"/>
          <p:cNvSpPr/>
          <p:nvPr/>
        </p:nvSpPr>
        <p:spPr>
          <a:xfrm>
            <a:off x="5535930" y="33083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76" name="Rectangle 105"/>
          <p:cNvSpPr/>
          <p:nvPr/>
        </p:nvSpPr>
        <p:spPr>
          <a:xfrm>
            <a:off x="4850130" y="37655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50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77" name="Rectangle 106"/>
          <p:cNvSpPr/>
          <p:nvPr/>
        </p:nvSpPr>
        <p:spPr>
          <a:xfrm>
            <a:off x="5535930" y="37655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6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78" name="Rectangle 107"/>
          <p:cNvSpPr/>
          <p:nvPr/>
        </p:nvSpPr>
        <p:spPr>
          <a:xfrm>
            <a:off x="4850130" y="41465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84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79" name="Rectangle 108"/>
          <p:cNvSpPr/>
          <p:nvPr/>
        </p:nvSpPr>
        <p:spPr>
          <a:xfrm>
            <a:off x="5535930" y="41465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11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80" name="Rectangle 109"/>
          <p:cNvSpPr/>
          <p:nvPr/>
        </p:nvSpPr>
        <p:spPr>
          <a:xfrm>
            <a:off x="4850130" y="45275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108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33581" name="Rectangle 110"/>
          <p:cNvSpPr/>
          <p:nvPr/>
        </p:nvSpPr>
        <p:spPr>
          <a:xfrm>
            <a:off x="5535930" y="4527550"/>
            <a:ext cx="381000" cy="228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/>
          <a:p>
            <a:pPr algn="ctr"/>
            <a:r>
              <a:rPr lang="en-US" altLang="zh-CN" sz="1400" dirty="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16</a:t>
            </a:r>
            <a:endParaRPr lang="en-US" altLang="zh-CN" sz="1400" dirty="0">
              <a:solidFill>
                <a:schemeClr val="tx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3357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33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357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3357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3357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33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3358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3358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23354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shreg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23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33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/>
                                        <p:tgtEl>
                                          <p:spTgt spid="233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233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3540" grpId="0"/>
      <p:bldP spid="233574" grpId="0" bldLvl="0" animBg="1"/>
      <p:bldP spid="233575" grpId="0" bldLvl="0" animBg="1"/>
      <p:bldP spid="233576" grpId="0" bldLvl="0" animBg="1"/>
      <p:bldP spid="233577" grpId="0" bldLvl="0" animBg="1"/>
      <p:bldP spid="233578" grpId="0" bldLvl="0" animBg="1"/>
      <p:bldP spid="233579" grpId="0" bldLvl="0" animBg="1"/>
      <p:bldP spid="233580" grpId="0" bldLvl="0" animBg="1"/>
      <p:bldP spid="233581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 idx="4294967295"/>
          </p:nvPr>
        </p:nvSpPr>
        <p:spPr>
          <a:xfrm>
            <a:off x="383540" y="572770"/>
            <a:ext cx="10681335" cy="416560"/>
          </a:xfrm>
        </p:spPr>
        <p:txBody>
          <a:bodyPr>
            <a:normAutofit fontScale="90000"/>
          </a:bodyPr>
          <a:lstStyle/>
          <a:p>
            <a:r>
              <a:rPr lang="zh-CN" b="0" dirty="0">
                <a:solidFill>
                  <a:srgbClr val="01E1E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4294967295"/>
          </p:nvPr>
        </p:nvSpPr>
        <p:spPr>
          <a:xfrm>
            <a:off x="383540" y="1500505"/>
            <a:ext cx="8444230" cy="3680460"/>
          </a:xfrm>
        </p:spPr>
        <p:txBody>
          <a:bodyPr>
            <a:normAutofit/>
          </a:bodyPr>
          <a:lstStyle/>
          <a:p>
            <a:pPr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顺序、折半、分块查找和树表的查找中，其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ASL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的量级在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O(n)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～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O(log2n)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不论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ASL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在哪个量级，都与记录长度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有关。随着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的扩大，算法的效率会越来越低。</a:t>
            </a:r>
            <a:endParaRPr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ASL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有关是因为记录在存储器中的存放是随机的，或者说记录的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与记录的存放地址无关，因而查找只能建立在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的“比较”基础上。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3386</Words>
  <Application>WPS 演示</Application>
  <PresentationFormat>宽屏</PresentationFormat>
  <Paragraphs>403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20</vt:i4>
      </vt:variant>
    </vt:vector>
  </HeadingPairs>
  <TitlesOfParts>
    <vt:vector size="49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Symbol</vt:lpstr>
      <vt:lpstr>Calibri Light</vt:lpstr>
      <vt:lpstr>Segoe Print</vt:lpstr>
      <vt:lpstr>1_华清远见PPT模板（宽屏）-华清远见教育集团</vt:lpstr>
      <vt:lpstr>Office 主题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查找概念</vt:lpstr>
      <vt:lpstr>查找方法</vt:lpstr>
      <vt:lpstr>查找-平均查找长度</vt:lpstr>
      <vt:lpstr>查找-平均查找长度</vt:lpstr>
      <vt:lpstr>顺序表的查找 </vt:lpstr>
      <vt:lpstr>顺序表的查找</vt:lpstr>
      <vt:lpstr>顺序查找算法及分析 </vt:lpstr>
      <vt:lpstr>顺序查找算法及分析</vt:lpstr>
      <vt:lpstr>顺序查找算法及分析</vt:lpstr>
      <vt:lpstr>折半查找算法及分析 </vt:lpstr>
      <vt:lpstr>折半查找算法及分析 </vt:lpstr>
      <vt:lpstr>PowerPoint 演示文稿</vt:lpstr>
      <vt:lpstr>折半查找算法及分析</vt:lpstr>
      <vt:lpstr>折半查找算法及分析 </vt:lpstr>
      <vt:lpstr>分块查找算法及分析 </vt:lpstr>
      <vt:lpstr>分块查找算法及分析</vt:lpstr>
      <vt:lpstr>分块查找(索引顺序查找） </vt:lpstr>
      <vt:lpstr>总结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flm</cp:lastModifiedBy>
  <cp:revision>1132</cp:revision>
  <cp:lastPrinted>2011-09-16T06:19:00Z</cp:lastPrinted>
  <dcterms:created xsi:type="dcterms:W3CDTF">2016-04-14T04:36:00Z</dcterms:created>
  <dcterms:modified xsi:type="dcterms:W3CDTF">2019-09-25T05:04:54Z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