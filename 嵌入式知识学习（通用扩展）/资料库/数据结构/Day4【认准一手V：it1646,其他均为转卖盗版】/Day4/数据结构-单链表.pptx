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2"/>
  </p:handoutMasterIdLst>
  <p:sldIdLst>
    <p:sldId id="1031" r:id="rId4"/>
    <p:sldId id="790" r:id="rId6"/>
    <p:sldId id="791" r:id="rId7"/>
    <p:sldId id="792" r:id="rId8"/>
    <p:sldId id="793" r:id="rId9"/>
    <p:sldId id="1063" r:id="rId10"/>
    <p:sldId id="1089" r:id="rId11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6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27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线性表之单链表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02808" y="301784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线性表的链式存储结构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69950" y="1219200"/>
            <a:ext cx="9264015" cy="4739005"/>
          </a:xfrm>
        </p:spPr>
        <p:txBody>
          <a:bodyPr/>
          <a:lstStyle/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将线性表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L=(a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,……,a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中各元素分布在存储器的不同存储块，称为结点，通过地址或指针建立元素之间的联系  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    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                </a:t>
            </a: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结点的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data</a:t>
            </a:r>
            <a:r>
              <a:rPr sz="2000" dirty="0">
                <a:solidFill>
                  <a:schemeClr val="bg1"/>
                </a:solidFill>
                <a:sym typeface="+mn-ea"/>
              </a:rPr>
              <a:t>域存放数据元素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，而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next</a:t>
            </a:r>
            <a:r>
              <a:rPr sz="2000" dirty="0">
                <a:solidFill>
                  <a:schemeClr val="bg1"/>
                </a:solidFill>
                <a:sym typeface="+mn-ea"/>
              </a:rPr>
              <a:t>域是一个指针，指向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的直接后继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i+1</a:t>
            </a:r>
            <a:r>
              <a:rPr sz="2000" dirty="0">
                <a:solidFill>
                  <a:schemeClr val="bg1"/>
                </a:solidFill>
                <a:sym typeface="+mn-ea"/>
              </a:rPr>
              <a:t>所在的结点。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  L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/>
            <a:r>
              <a:rPr sz="2000" b="1" dirty="0">
                <a:solidFill>
                  <a:schemeClr val="bg1"/>
                </a:solidFill>
                <a:sym typeface="+mn-ea"/>
              </a:rPr>
              <a:t>		</a:t>
            </a:r>
            <a:endParaRPr lang="zh-CN" altLang="en-US" dirty="0"/>
          </a:p>
        </p:txBody>
      </p:sp>
      <p:grpSp>
        <p:nvGrpSpPr>
          <p:cNvPr id="63492" name="Group 5"/>
          <p:cNvGrpSpPr/>
          <p:nvPr/>
        </p:nvGrpSpPr>
        <p:grpSpPr>
          <a:xfrm>
            <a:off x="2477959" y="2392318"/>
            <a:ext cx="2667000" cy="533400"/>
            <a:chOff x="0" y="0"/>
            <a:chExt cx="1763" cy="384"/>
          </a:xfrm>
        </p:grpSpPr>
        <p:sp>
          <p:nvSpPr>
            <p:cNvPr id="63493" name="Rectangle 5"/>
            <p:cNvSpPr/>
            <p:nvPr/>
          </p:nvSpPr>
          <p:spPr>
            <a:xfrm>
              <a:off x="0" y="0"/>
              <a:ext cx="905" cy="384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4" name="Rectangle 6"/>
            <p:cNvSpPr/>
            <p:nvPr/>
          </p:nvSpPr>
          <p:spPr>
            <a:xfrm>
              <a:off x="858" y="0"/>
              <a:ext cx="905" cy="384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next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496" name="Group 9"/>
          <p:cNvGrpSpPr/>
          <p:nvPr/>
        </p:nvGrpSpPr>
        <p:grpSpPr>
          <a:xfrm rot="0">
            <a:off x="1530350" y="4128135"/>
            <a:ext cx="7924800" cy="457200"/>
            <a:chOff x="0" y="0"/>
            <a:chExt cx="4992" cy="288"/>
          </a:xfrm>
        </p:grpSpPr>
        <p:sp>
          <p:nvSpPr>
            <p:cNvPr id="63497" name="Rectangle 9"/>
            <p:cNvSpPr/>
            <p:nvPr/>
          </p:nvSpPr>
          <p:spPr>
            <a:xfrm>
              <a:off x="336" y="0"/>
              <a:ext cx="567" cy="288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8" name="Rectangle 10"/>
            <p:cNvSpPr/>
            <p:nvPr/>
          </p:nvSpPr>
          <p:spPr>
            <a:xfrm>
              <a:off x="873" y="0"/>
              <a:ext cx="567" cy="288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9" name="Rectangle 11"/>
            <p:cNvSpPr/>
            <p:nvPr/>
          </p:nvSpPr>
          <p:spPr>
            <a:xfrm>
              <a:off x="1776" y="0"/>
              <a:ext cx="567" cy="288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0" name="Rectangle 12"/>
            <p:cNvSpPr/>
            <p:nvPr/>
          </p:nvSpPr>
          <p:spPr>
            <a:xfrm>
              <a:off x="2313" y="0"/>
              <a:ext cx="567" cy="288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1" name="Rectangle 13"/>
            <p:cNvSpPr/>
            <p:nvPr/>
          </p:nvSpPr>
          <p:spPr>
            <a:xfrm>
              <a:off x="3888" y="0"/>
              <a:ext cx="567" cy="288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  <a:endParaRPr lang="en-US" altLang="zh-CN" sz="20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2" name="Rectangle 14"/>
            <p:cNvSpPr/>
            <p:nvPr/>
          </p:nvSpPr>
          <p:spPr>
            <a:xfrm>
              <a:off x="4425" y="0"/>
              <a:ext cx="567" cy="288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^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3" name="Line 15"/>
            <p:cNvSpPr/>
            <p:nvPr/>
          </p:nvSpPr>
          <p:spPr>
            <a:xfrm>
              <a:off x="0" y="144"/>
              <a:ext cx="33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504" name="Line 16"/>
            <p:cNvSpPr/>
            <p:nvPr/>
          </p:nvSpPr>
          <p:spPr>
            <a:xfrm>
              <a:off x="1152" y="144"/>
              <a:ext cx="62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505" name="Line 17"/>
            <p:cNvSpPr/>
            <p:nvPr/>
          </p:nvSpPr>
          <p:spPr>
            <a:xfrm>
              <a:off x="2592" y="144"/>
              <a:ext cx="52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506" name="Line 18"/>
            <p:cNvSpPr/>
            <p:nvPr/>
          </p:nvSpPr>
          <p:spPr>
            <a:xfrm>
              <a:off x="3504" y="144"/>
              <a:ext cx="38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63507" name="Text Box 19"/>
          <p:cNvSpPr txBox="1"/>
          <p:nvPr/>
        </p:nvSpPr>
        <p:spPr>
          <a:xfrm>
            <a:off x="3587115" y="4124960"/>
            <a:ext cx="6096000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		        ..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7" grpId="0"/>
      <p:bldP spid="6350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299085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线性表的链式存储结构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46578" y="1072991"/>
            <a:ext cx="10681335" cy="4507607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设线性表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L=(</a:t>
            </a:r>
            <a:r>
              <a:rPr sz="2000" dirty="0">
                <a:solidFill>
                  <a:schemeClr val="bg1"/>
                </a:solidFill>
                <a:sym typeface="+mn-ea"/>
              </a:rPr>
              <a:t>赵，钱，孙，李，周，吴，郑，王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，各元素在存储器中的分布如图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dirty="0">
                <a:sym typeface="+mn-ea"/>
              </a:rPr>
              <a:t>                                          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endParaRPr lang="zh-CN" altLang="en-US" dirty="0"/>
          </a:p>
        </p:txBody>
      </p:sp>
      <p:graphicFrame>
        <p:nvGraphicFramePr>
          <p:cNvPr id="66565" name="Group 5"/>
          <p:cNvGraphicFramePr>
            <a:graphicFrameLocks noGrp="1"/>
          </p:cNvGraphicFramePr>
          <p:nvPr/>
        </p:nvGraphicFramePr>
        <p:xfrm>
          <a:off x="936502" y="1667142"/>
          <a:ext cx="2209800" cy="403860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838200"/>
              </a:tblGrid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Next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孙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郑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CC"/>
                    </a:solidFill>
                  </a:tcPr>
                </a:tc>
              </a:tr>
            </a:tbl>
          </a:graphicData>
        </a:graphic>
      </p:graphicFrame>
      <p:sp>
        <p:nvSpPr>
          <p:cNvPr id="66608" name="Text Box 47"/>
          <p:cNvSpPr txBox="1"/>
          <p:nvPr/>
        </p:nvSpPr>
        <p:spPr>
          <a:xfrm>
            <a:off x="3774002" y="4659104"/>
            <a:ext cx="2743200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带头结点的单链表：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585" name="Group 50"/>
          <p:cNvGrpSpPr/>
          <p:nvPr/>
        </p:nvGrpSpPr>
        <p:grpSpPr>
          <a:xfrm rot="0">
            <a:off x="1337945" y="5883275"/>
            <a:ext cx="7926070" cy="457200"/>
            <a:chOff x="0" y="0"/>
            <a:chExt cx="4992" cy="288"/>
          </a:xfrm>
        </p:grpSpPr>
        <p:grpSp>
          <p:nvGrpSpPr>
            <p:cNvPr id="65586" name="Group 51"/>
            <p:cNvGrpSpPr/>
            <p:nvPr/>
          </p:nvGrpSpPr>
          <p:grpSpPr>
            <a:xfrm>
              <a:off x="0" y="0"/>
              <a:ext cx="4992" cy="288"/>
              <a:chOff x="0" y="0"/>
              <a:chExt cx="4992" cy="288"/>
            </a:xfrm>
          </p:grpSpPr>
          <p:grpSp>
            <p:nvGrpSpPr>
              <p:cNvPr id="65587" name="Group 52"/>
              <p:cNvGrpSpPr/>
              <p:nvPr/>
            </p:nvGrpSpPr>
            <p:grpSpPr>
              <a:xfrm>
                <a:off x="0" y="0"/>
                <a:ext cx="4992" cy="288"/>
                <a:chOff x="0" y="0"/>
                <a:chExt cx="4992" cy="288"/>
              </a:xfrm>
            </p:grpSpPr>
            <p:sp>
              <p:nvSpPr>
                <p:cNvPr id="65588" name="Rectangle 52"/>
                <p:cNvSpPr/>
                <p:nvPr/>
              </p:nvSpPr>
              <p:spPr>
                <a:xfrm>
                  <a:off x="336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89" name="Rectangle 53"/>
                <p:cNvSpPr/>
                <p:nvPr/>
              </p:nvSpPr>
              <p:spPr>
                <a:xfrm>
                  <a:off x="873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0" name="Rectangle 54"/>
                <p:cNvSpPr/>
                <p:nvPr/>
              </p:nvSpPr>
              <p:spPr>
                <a:xfrm>
                  <a:off x="1776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2400" baseline="-25000" dirty="0">
                      <a:solidFill>
                        <a:schemeClr val="tx1"/>
                      </a:solidFill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 dirty="0">
                    <a:solidFill>
                      <a:schemeClr val="tx1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1" name="Rectangle 55"/>
                <p:cNvSpPr/>
                <p:nvPr/>
              </p:nvSpPr>
              <p:spPr>
                <a:xfrm>
                  <a:off x="2313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2" name="Rectangle 56"/>
                <p:cNvSpPr/>
                <p:nvPr/>
              </p:nvSpPr>
              <p:spPr>
                <a:xfrm>
                  <a:off x="3888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2400" baseline="-25000" dirty="0">
                      <a:solidFill>
                        <a:schemeClr val="tx1"/>
                      </a:solidFill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n-1</a:t>
                  </a:r>
                  <a:endParaRPr lang="en-US" altLang="zh-CN" sz="2400" baseline="-25000" dirty="0">
                    <a:solidFill>
                      <a:schemeClr val="tx1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3" name="Rectangle 57"/>
                <p:cNvSpPr/>
                <p:nvPr/>
              </p:nvSpPr>
              <p:spPr>
                <a:xfrm>
                  <a:off x="4425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^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4" name="Line 58"/>
                <p:cNvSpPr/>
                <p:nvPr/>
              </p:nvSpPr>
              <p:spPr>
                <a:xfrm>
                  <a:off x="0" y="144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5595" name="Line 59"/>
                <p:cNvSpPr/>
                <p:nvPr/>
              </p:nvSpPr>
              <p:spPr>
                <a:xfrm>
                  <a:off x="1152" y="144"/>
                  <a:ext cx="62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5596" name="Line 60"/>
                <p:cNvSpPr/>
                <p:nvPr/>
              </p:nvSpPr>
              <p:spPr>
                <a:xfrm>
                  <a:off x="2592" y="14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5597" name="Line 61"/>
                <p:cNvSpPr/>
                <p:nvPr/>
              </p:nvSpPr>
              <p:spPr>
                <a:xfrm>
                  <a:off x="3504" y="144"/>
                  <a:ext cx="38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65598" name="Line 62"/>
              <p:cNvSpPr/>
              <p:nvPr/>
            </p:nvSpPr>
            <p:spPr>
              <a:xfrm flipH="1">
                <a:off x="336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599" name="Line 63"/>
              <p:cNvSpPr/>
              <p:nvPr/>
            </p:nvSpPr>
            <p:spPr>
              <a:xfrm flipH="1">
                <a:off x="528" y="0"/>
                <a:ext cx="336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00" name="Line 64"/>
              <p:cNvSpPr/>
              <p:nvPr/>
            </p:nvSpPr>
            <p:spPr>
              <a:xfrm flipH="1">
                <a:off x="336" y="0"/>
                <a:ext cx="336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5601" name="Line 65"/>
            <p:cNvSpPr/>
            <p:nvPr/>
          </p:nvSpPr>
          <p:spPr>
            <a:xfrm flipH="1">
              <a:off x="720" y="144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602" name="Text Box 66"/>
          <p:cNvSpPr txBox="1"/>
          <p:nvPr/>
        </p:nvSpPr>
        <p:spPr>
          <a:xfrm>
            <a:off x="1131570" y="5783580"/>
            <a:ext cx="586867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68"/>
          <p:cNvGrpSpPr/>
          <p:nvPr/>
        </p:nvGrpSpPr>
        <p:grpSpPr>
          <a:xfrm>
            <a:off x="3747432" y="2228800"/>
            <a:ext cx="5486400" cy="1471613"/>
            <a:chOff x="0" y="0"/>
            <a:chExt cx="3456" cy="927"/>
          </a:xfrm>
        </p:grpSpPr>
        <p:sp>
          <p:nvSpPr>
            <p:cNvPr id="65604" name="Text Box 68"/>
            <p:cNvSpPr txBox="1"/>
            <p:nvPr/>
          </p:nvSpPr>
          <p:spPr>
            <a:xfrm>
              <a:off x="0" y="0"/>
              <a:ext cx="192" cy="288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chemeClr val="bg1"/>
              </a:solidFill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05" name="Rectangle 69"/>
            <p:cNvSpPr/>
            <p:nvPr/>
          </p:nvSpPr>
          <p:spPr>
            <a:xfrm>
              <a:off x="473" y="50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赵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06" name="Rectangle 70"/>
            <p:cNvSpPr/>
            <p:nvPr/>
          </p:nvSpPr>
          <p:spPr>
            <a:xfrm>
              <a:off x="745" y="50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07" name="Rectangle 71"/>
            <p:cNvSpPr/>
            <p:nvPr/>
          </p:nvSpPr>
          <p:spPr>
            <a:xfrm>
              <a:off x="1290" y="50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钱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08" name="Rectangle 72"/>
            <p:cNvSpPr/>
            <p:nvPr/>
          </p:nvSpPr>
          <p:spPr>
            <a:xfrm>
              <a:off x="1560" y="48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09" name="Rectangle 73"/>
            <p:cNvSpPr/>
            <p:nvPr/>
          </p:nvSpPr>
          <p:spPr>
            <a:xfrm>
              <a:off x="2049" y="50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孙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0" name="Rectangle 74"/>
            <p:cNvSpPr/>
            <p:nvPr/>
          </p:nvSpPr>
          <p:spPr>
            <a:xfrm>
              <a:off x="2321" y="48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1" name="Rectangle 75"/>
            <p:cNvSpPr/>
            <p:nvPr/>
          </p:nvSpPr>
          <p:spPr>
            <a:xfrm>
              <a:off x="1290" y="667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吴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2" name="Rectangle 76"/>
            <p:cNvSpPr/>
            <p:nvPr/>
          </p:nvSpPr>
          <p:spPr>
            <a:xfrm>
              <a:off x="1560" y="667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3" name="Rectangle 77"/>
            <p:cNvSpPr/>
            <p:nvPr/>
          </p:nvSpPr>
          <p:spPr>
            <a:xfrm>
              <a:off x="2049" y="667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郑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4" name="Rectangle 78"/>
            <p:cNvSpPr/>
            <p:nvPr/>
          </p:nvSpPr>
          <p:spPr>
            <a:xfrm>
              <a:off x="2321" y="667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5" name="Rectangle 79"/>
            <p:cNvSpPr/>
            <p:nvPr/>
          </p:nvSpPr>
          <p:spPr>
            <a:xfrm>
              <a:off x="2810" y="667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王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6" name="Rectangle 80"/>
            <p:cNvSpPr/>
            <p:nvPr/>
          </p:nvSpPr>
          <p:spPr>
            <a:xfrm>
              <a:off x="3081" y="667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6000" rIns="54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^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17" name="Freeform 81"/>
            <p:cNvSpPr/>
            <p:nvPr/>
          </p:nvSpPr>
          <p:spPr>
            <a:xfrm>
              <a:off x="240" y="187"/>
              <a:ext cx="225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5" y="0"/>
                </a:cxn>
              </a:cxnLst>
              <a:rect l="0" t="0" r="0" b="0"/>
              <a:pathLst>
                <a:path w="435" h="1">
                  <a:moveTo>
                    <a:pt x="0" y="0"/>
                  </a:moveTo>
                  <a:lnTo>
                    <a:pt x="435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18" name="Freeform 82"/>
            <p:cNvSpPr/>
            <p:nvPr/>
          </p:nvSpPr>
          <p:spPr>
            <a:xfrm>
              <a:off x="908" y="187"/>
              <a:ext cx="38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0" y="0"/>
                </a:cxn>
              </a:cxnLst>
              <a:rect l="0" t="0" r="0" b="0"/>
              <a:pathLst>
                <a:path w="735" h="1">
                  <a:moveTo>
                    <a:pt x="0" y="0"/>
                  </a:moveTo>
                  <a:lnTo>
                    <a:pt x="735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19" name="Freeform 83"/>
            <p:cNvSpPr/>
            <p:nvPr/>
          </p:nvSpPr>
          <p:spPr>
            <a:xfrm>
              <a:off x="1715" y="187"/>
              <a:ext cx="334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4" y="0"/>
                </a:cxn>
              </a:cxnLst>
              <a:rect l="0" t="0" r="0" b="0"/>
              <a:pathLst>
                <a:path w="645" h="1">
                  <a:moveTo>
                    <a:pt x="0" y="0"/>
                  </a:moveTo>
                  <a:lnTo>
                    <a:pt x="645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0" name="Freeform 84"/>
            <p:cNvSpPr/>
            <p:nvPr/>
          </p:nvSpPr>
          <p:spPr>
            <a:xfrm>
              <a:off x="2484" y="177"/>
              <a:ext cx="326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</a:cxnLst>
              <a:rect l="0" t="0" r="0" b="0"/>
              <a:pathLst>
                <a:path w="630" h="1">
                  <a:moveTo>
                    <a:pt x="0" y="0"/>
                  </a:moveTo>
                  <a:lnTo>
                    <a:pt x="630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1" name="Freeform 85"/>
            <p:cNvSpPr/>
            <p:nvPr/>
          </p:nvSpPr>
          <p:spPr>
            <a:xfrm>
              <a:off x="923" y="800"/>
              <a:ext cx="365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5" y="0"/>
                </a:cxn>
              </a:cxnLst>
              <a:rect l="0" t="0" r="0" b="0"/>
              <a:pathLst>
                <a:path w="705" h="1">
                  <a:moveTo>
                    <a:pt x="0" y="0"/>
                  </a:moveTo>
                  <a:lnTo>
                    <a:pt x="705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2" name="Freeform 86"/>
            <p:cNvSpPr/>
            <p:nvPr/>
          </p:nvSpPr>
          <p:spPr>
            <a:xfrm>
              <a:off x="1723" y="811"/>
              <a:ext cx="326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</a:cxnLst>
              <a:rect l="0" t="0" r="0" b="0"/>
              <a:pathLst>
                <a:path w="630" h="1">
                  <a:moveTo>
                    <a:pt x="0" y="0"/>
                  </a:moveTo>
                  <a:lnTo>
                    <a:pt x="630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3" name="Freeform 87"/>
            <p:cNvSpPr/>
            <p:nvPr/>
          </p:nvSpPr>
          <p:spPr>
            <a:xfrm>
              <a:off x="2499" y="811"/>
              <a:ext cx="31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1" y="0"/>
                </a:cxn>
              </a:cxnLst>
              <a:rect l="0" t="0" r="0" b="0"/>
              <a:pathLst>
                <a:path w="600" h="1">
                  <a:moveTo>
                    <a:pt x="0" y="0"/>
                  </a:moveTo>
                  <a:lnTo>
                    <a:pt x="600" y="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4" name="Freeform 88"/>
            <p:cNvSpPr/>
            <p:nvPr/>
          </p:nvSpPr>
          <p:spPr>
            <a:xfrm>
              <a:off x="302" y="187"/>
              <a:ext cx="3154" cy="613"/>
            </a:xfrm>
            <a:custGeom>
              <a:avLst/>
              <a:gdLst/>
              <a:ahLst/>
              <a:cxnLst>
                <a:cxn ang="0">
                  <a:pos x="3023" y="0"/>
                </a:cxn>
                <a:cxn ang="0">
                  <a:pos x="3154" y="0"/>
                </a:cxn>
                <a:cxn ang="0">
                  <a:pos x="3154" y="307"/>
                </a:cxn>
                <a:cxn ang="0">
                  <a:pos x="0" y="307"/>
                </a:cxn>
                <a:cxn ang="0">
                  <a:pos x="0" y="613"/>
                </a:cxn>
                <a:cxn ang="0">
                  <a:pos x="177" y="613"/>
                </a:cxn>
              </a:cxnLst>
              <a:rect l="0" t="0" r="0" b="0"/>
              <a:pathLst>
                <a:path w="6150" h="870">
                  <a:moveTo>
                    <a:pt x="5895" y="0"/>
                  </a:moveTo>
                  <a:lnTo>
                    <a:pt x="6150" y="0"/>
                  </a:lnTo>
                  <a:lnTo>
                    <a:pt x="6150" y="435"/>
                  </a:lnTo>
                  <a:lnTo>
                    <a:pt x="0" y="435"/>
                  </a:lnTo>
                  <a:lnTo>
                    <a:pt x="0" y="870"/>
                  </a:lnTo>
                  <a:lnTo>
                    <a:pt x="345" y="870"/>
                  </a:lnTo>
                </a:path>
              </a:pathLst>
            </a:cu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625" name="Rectangle 89"/>
            <p:cNvSpPr/>
            <p:nvPr/>
          </p:nvSpPr>
          <p:spPr>
            <a:xfrm>
              <a:off x="3081" y="48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26" name="Rectangle 90"/>
            <p:cNvSpPr/>
            <p:nvPr/>
          </p:nvSpPr>
          <p:spPr>
            <a:xfrm>
              <a:off x="473" y="667"/>
              <a:ext cx="272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周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27" name="Rectangle 91"/>
            <p:cNvSpPr/>
            <p:nvPr/>
          </p:nvSpPr>
          <p:spPr>
            <a:xfrm>
              <a:off x="745" y="667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28" name="Rectangle 92"/>
            <p:cNvSpPr/>
            <p:nvPr/>
          </p:nvSpPr>
          <p:spPr>
            <a:xfrm>
              <a:off x="2810" y="50"/>
              <a:ext cx="271" cy="260"/>
            </a:xfrm>
            <a:prstGeom prst="rect">
              <a:avLst/>
            </a:prstGeom>
            <a:solidFill>
              <a:srgbClr val="F0F0CA">
                <a:alpha val="50195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36000" anchor="t"/>
            <a:lstStyle/>
            <a:p>
              <a:pPr algn="just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李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629" name="Line 93"/>
            <p:cNvSpPr/>
            <p:nvPr/>
          </p:nvSpPr>
          <p:spPr>
            <a:xfrm>
              <a:off x="3264" y="192"/>
              <a:ext cx="9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6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08" grpId="0"/>
      <p:bldP spid="66608" grpId="1"/>
      <p:bldP spid="65602" grpId="0"/>
      <p:bldP spid="6560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0565" y="356274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线性表的链式存储结构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491" y="1206406"/>
            <a:ext cx="7960027" cy="4968552"/>
          </a:xfrm>
        </p:spPr>
        <p:txBody>
          <a:bodyPr/>
          <a:lstStyle/>
          <a:p>
            <a:pPr algn="just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结点类型描述：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typedef   struct  node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  {   data</a:t>
            </a:r>
            <a:r>
              <a:rPr sz="2000" dirty="0">
                <a:solidFill>
                  <a:schemeClr val="bg1"/>
                </a:solidFill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data;   //</a:t>
            </a:r>
            <a:r>
              <a:rPr sz="2000" dirty="0">
                <a:solidFill>
                  <a:schemeClr val="bg1"/>
                </a:solidFill>
                <a:sym typeface="+mn-ea"/>
              </a:rPr>
              <a:t>结点的数据域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struct node *next;  //</a:t>
            </a:r>
            <a:r>
              <a:rPr sz="2000" dirty="0">
                <a:solidFill>
                  <a:schemeClr val="bg1"/>
                </a:solidFill>
                <a:sym typeface="+mn-ea"/>
              </a:rPr>
              <a:t>结点的后继指针域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}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listnode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, *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linklist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;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   </a:t>
            </a: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   </a:t>
            </a:r>
            <a:r>
              <a:rPr sz="2000" dirty="0">
                <a:solidFill>
                  <a:schemeClr val="bg1"/>
                </a:solidFill>
                <a:sym typeface="+mn-ea"/>
              </a:rPr>
              <a:t>若说明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listnode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A;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linklist</a:t>
            </a:r>
            <a:r>
              <a:rPr sz="20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 = &amp;A; 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67588" name="Group 5"/>
          <p:cNvGrpSpPr/>
          <p:nvPr/>
        </p:nvGrpSpPr>
        <p:grpSpPr>
          <a:xfrm>
            <a:off x="3907472" y="4533134"/>
            <a:ext cx="3200400" cy="854075"/>
            <a:chOff x="0" y="0"/>
            <a:chExt cx="2256" cy="837"/>
          </a:xfrm>
        </p:grpSpPr>
        <p:grpSp>
          <p:nvGrpSpPr>
            <p:cNvPr id="67589" name="Group 6"/>
            <p:cNvGrpSpPr/>
            <p:nvPr/>
          </p:nvGrpSpPr>
          <p:grpSpPr>
            <a:xfrm>
              <a:off x="576" y="336"/>
              <a:ext cx="1680" cy="336"/>
              <a:chOff x="0" y="0"/>
              <a:chExt cx="1763" cy="384"/>
            </a:xfrm>
          </p:grpSpPr>
          <p:sp>
            <p:nvSpPr>
              <p:cNvPr id="67590" name="Rectangle 6"/>
              <p:cNvSpPr/>
              <p:nvPr/>
            </p:nvSpPr>
            <p:spPr>
              <a:xfrm>
                <a:off x="0" y="0"/>
                <a:ext cx="905" cy="38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data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591" name="Rectangle 7"/>
              <p:cNvSpPr/>
              <p:nvPr/>
            </p:nvSpPr>
            <p:spPr>
              <a:xfrm>
                <a:off x="858" y="0"/>
                <a:ext cx="905" cy="384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next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7592" name="Text Box 8"/>
            <p:cNvSpPr txBox="1"/>
            <p:nvPr/>
          </p:nvSpPr>
          <p:spPr>
            <a:xfrm>
              <a:off x="0" y="0"/>
              <a:ext cx="528" cy="83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A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593" name="Line 9"/>
            <p:cNvSpPr/>
            <p:nvPr/>
          </p:nvSpPr>
          <p:spPr>
            <a:xfrm>
              <a:off x="144" y="192"/>
              <a:ext cx="384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0355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线性表的链式存储结构</a:t>
            </a:r>
            <a:br>
              <a:rPr dirty="0">
                <a:sym typeface="+mn-ea"/>
              </a:rPr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2790" y="1280160"/>
            <a:ext cx="9058275" cy="4601210"/>
          </a:xfrm>
        </p:spPr>
        <p:txBody>
          <a:bodyPr/>
          <a:lstStyle/>
          <a:p>
            <a:pPr algn="just" eaLnBrk="1" hangingPunct="1"/>
            <a:r>
              <a:rPr sz="2200" dirty="0">
                <a:solidFill>
                  <a:schemeClr val="bg1"/>
                </a:solidFill>
                <a:sym typeface="+mn-ea"/>
              </a:rPr>
              <a:t>设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</a:t>
            </a:r>
            <a:r>
              <a:rPr sz="2200" dirty="0">
                <a:solidFill>
                  <a:schemeClr val="bg1"/>
                </a:solidFill>
                <a:sym typeface="+mn-ea"/>
              </a:rPr>
              <a:t>指向链表中结点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i</a:t>
            </a:r>
            <a:endParaRPr lang="en-US" altLang="zh-CN" sz="2200" baseline="-30000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/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200" dirty="0">
                <a:solidFill>
                  <a:schemeClr val="bg1"/>
                </a:solidFill>
                <a:sym typeface="+mn-ea"/>
              </a:rPr>
              <a:t>获取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200" dirty="0">
                <a:solidFill>
                  <a:schemeClr val="bg1"/>
                </a:solidFill>
                <a:sym typeface="+mn-ea"/>
              </a:rPr>
              <a:t>，写作：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p-&gt;data</a:t>
            </a:r>
            <a:r>
              <a:rPr sz="2200" dirty="0">
                <a:solidFill>
                  <a:schemeClr val="bg1"/>
                </a:solidFill>
                <a:sym typeface="+mn-ea"/>
              </a:rPr>
              <a:t>；</a:t>
            </a:r>
            <a:endParaRPr sz="2200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sz="2200" dirty="0">
                <a:solidFill>
                  <a:schemeClr val="bg1"/>
                </a:solidFill>
                <a:sym typeface="+mn-ea"/>
              </a:rPr>
              <a:t>而取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i+1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,</a:t>
            </a:r>
            <a:r>
              <a:rPr sz="2200" dirty="0">
                <a:solidFill>
                  <a:schemeClr val="bg1"/>
                </a:solidFill>
                <a:sym typeface="+mn-ea"/>
              </a:rPr>
              <a:t>写作：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p-&gt;next-&gt;data</a:t>
            </a:r>
            <a:r>
              <a:rPr sz="2200" dirty="0">
                <a:solidFill>
                  <a:schemeClr val="bg1"/>
                </a:solidFill>
                <a:sym typeface="+mn-ea"/>
              </a:rPr>
              <a:t> </a:t>
            </a:r>
            <a:endParaRPr sz="2200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sz="2200" dirty="0">
                <a:solidFill>
                  <a:schemeClr val="bg1"/>
                </a:solidFill>
                <a:sym typeface="+mn-ea"/>
              </a:rPr>
              <a:t>若指针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</a:t>
            </a:r>
            <a:r>
              <a:rPr sz="2200" dirty="0">
                <a:solidFill>
                  <a:schemeClr val="bg1"/>
                </a:solidFill>
                <a:sym typeface="+mn-ea"/>
              </a:rPr>
              <a:t>的值为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NULL</a:t>
            </a:r>
            <a:r>
              <a:rPr sz="2200" dirty="0">
                <a:solidFill>
                  <a:schemeClr val="bg1"/>
                </a:solidFill>
                <a:sym typeface="+mn-ea"/>
              </a:rPr>
              <a:t>，则它不指向任何结点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, </a:t>
            </a:r>
            <a:r>
              <a:rPr sz="2200" dirty="0">
                <a:solidFill>
                  <a:schemeClr val="bg1"/>
                </a:solidFill>
                <a:sym typeface="+mn-ea"/>
              </a:rPr>
              <a:t>此时取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p-&gt;data</a:t>
            </a:r>
            <a:r>
              <a:rPr sz="2200" dirty="0">
                <a:solidFill>
                  <a:schemeClr val="bg1"/>
                </a:solidFill>
                <a:sym typeface="+mn-ea"/>
              </a:rPr>
              <a:t>或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p-&gt;next</a:t>
            </a:r>
            <a:r>
              <a:rPr sz="2200" dirty="0">
                <a:solidFill>
                  <a:schemeClr val="bg1"/>
                </a:solidFill>
                <a:sym typeface="+mn-ea"/>
              </a:rPr>
              <a:t>是错误的。  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200" dirty="0">
              <a:solidFill>
                <a:schemeClr val="bg1"/>
              </a:solidFill>
            </a:endParaRPr>
          </a:p>
        </p:txBody>
      </p:sp>
      <p:grpSp>
        <p:nvGrpSpPr>
          <p:cNvPr id="68612" name="Group 5"/>
          <p:cNvGrpSpPr/>
          <p:nvPr/>
        </p:nvGrpSpPr>
        <p:grpSpPr>
          <a:xfrm>
            <a:off x="1502733" y="2136815"/>
            <a:ext cx="4038600" cy="411163"/>
            <a:chOff x="0" y="0"/>
            <a:chExt cx="2736" cy="358"/>
          </a:xfrm>
        </p:grpSpPr>
        <p:sp>
          <p:nvSpPr>
            <p:cNvPr id="68613" name="Rectangle 5"/>
            <p:cNvSpPr/>
            <p:nvPr/>
          </p:nvSpPr>
          <p:spPr>
            <a:xfrm>
              <a:off x="574" y="0"/>
              <a:ext cx="648" cy="348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14" name="Rectangle 6"/>
            <p:cNvSpPr/>
            <p:nvPr/>
          </p:nvSpPr>
          <p:spPr>
            <a:xfrm>
              <a:off x="1850" y="0"/>
              <a:ext cx="649" cy="348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i+1</a:t>
              </a:r>
              <a:endPara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15" name="Text Box 7"/>
            <p:cNvSpPr txBox="1"/>
            <p:nvPr/>
          </p:nvSpPr>
          <p:spPr>
            <a:xfrm>
              <a:off x="0" y="12"/>
              <a:ext cx="288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16" name="Line 8"/>
            <p:cNvSpPr/>
            <p:nvPr/>
          </p:nvSpPr>
          <p:spPr>
            <a:xfrm>
              <a:off x="912" y="12"/>
              <a:ext cx="0" cy="33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7" name="Line 9"/>
            <p:cNvSpPr/>
            <p:nvPr/>
          </p:nvSpPr>
          <p:spPr>
            <a:xfrm>
              <a:off x="2208" y="0"/>
              <a:ext cx="0" cy="33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8" name="Line 10"/>
            <p:cNvSpPr/>
            <p:nvPr/>
          </p:nvSpPr>
          <p:spPr>
            <a:xfrm>
              <a:off x="240" y="144"/>
              <a:ext cx="33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19" name="Line 11"/>
            <p:cNvSpPr/>
            <p:nvPr/>
          </p:nvSpPr>
          <p:spPr>
            <a:xfrm>
              <a:off x="1056" y="144"/>
              <a:ext cx="76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20" name="Line 12"/>
            <p:cNvSpPr/>
            <p:nvPr/>
          </p:nvSpPr>
          <p:spPr>
            <a:xfrm>
              <a:off x="2352" y="144"/>
              <a:ext cx="38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45135" y="442595"/>
            <a:ext cx="10681335" cy="416560"/>
          </a:xfrm>
        </p:spPr>
        <p:txBody>
          <a:bodyPr>
            <a:normAutofit fontScale="90000"/>
          </a:bodyPr>
          <a:lstStyle/>
          <a:p>
            <a:br>
              <a:rPr sz="4400" b="0" dirty="0">
                <a:solidFill>
                  <a:srgbClr val="01E1EF"/>
                </a:solidFill>
                <a:sym typeface="+mn-ea"/>
              </a:rPr>
            </a:br>
            <a:br>
              <a:rPr sz="4400" b="0" dirty="0">
                <a:solidFill>
                  <a:srgbClr val="01E1EF"/>
                </a:solidFill>
                <a:sym typeface="+mn-ea"/>
              </a:rPr>
            </a:b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线性表的链式存储结构</a:t>
            </a:r>
            <a:b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610870" y="1280160"/>
            <a:ext cx="8515350" cy="460121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sz="2400" dirty="0">
                <a:solidFill>
                  <a:schemeClr val="bg1"/>
                </a:solidFill>
                <a:sym typeface="+mn-ea"/>
              </a:rPr>
              <a:t>可调用</a:t>
            </a:r>
            <a:r>
              <a:rPr lang="en-US" altLang="zh-CN" sz="2400" b="1" dirty="0">
                <a:solidFill>
                  <a:schemeClr val="bg1"/>
                </a:solidFill>
                <a:sym typeface="+mn-ea"/>
              </a:rPr>
              <a:t>C</a:t>
            </a:r>
            <a:r>
              <a:rPr sz="2400" dirty="0">
                <a:solidFill>
                  <a:schemeClr val="bg1"/>
                </a:solidFill>
                <a:sym typeface="+mn-ea"/>
              </a:rPr>
              <a:t>语言中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malloc()</a:t>
            </a:r>
            <a:r>
              <a:rPr sz="2400" dirty="0">
                <a:solidFill>
                  <a:schemeClr val="bg1"/>
                </a:solidFill>
                <a:sym typeface="+mn-ea"/>
              </a:rPr>
              <a:t>函数向系统申请结点的存储空间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marL="0" indent="0" algn="just" eaLnBrk="1" hangingPunct="1">
              <a:buNone/>
            </a:pPr>
            <a:r>
              <a:rPr sz="2400" dirty="0">
                <a:solidFill>
                  <a:schemeClr val="bg1"/>
                </a:solidFill>
                <a:sym typeface="+mn-ea"/>
              </a:rPr>
              <a:t>           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linklist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p; 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 = (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linklist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)malloc(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sizeof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listnode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));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sz="2400" dirty="0">
                <a:solidFill>
                  <a:schemeClr val="bg1"/>
                </a:solidFill>
                <a:sym typeface="+mn-ea"/>
              </a:rPr>
              <a:t>则创建一个类型为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linklist</a:t>
            </a:r>
            <a:r>
              <a:rPr sz="2400" dirty="0">
                <a:solidFill>
                  <a:schemeClr val="bg1"/>
                </a:solidFill>
                <a:sym typeface="+mn-ea"/>
              </a:rPr>
              <a:t>的结点，且该结点的地址已存入指针变量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p</a:t>
            </a:r>
            <a:r>
              <a:rPr sz="2400" dirty="0">
                <a:solidFill>
                  <a:schemeClr val="bg1"/>
                </a:solidFill>
                <a:sym typeface="+mn-ea"/>
              </a:rPr>
              <a:t>中：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 eaLnBrk="1" hangingPunct="1">
              <a:buNone/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68622" name="Group 15"/>
          <p:cNvGrpSpPr/>
          <p:nvPr/>
        </p:nvGrpSpPr>
        <p:grpSpPr>
          <a:xfrm>
            <a:off x="1317313" y="3695593"/>
            <a:ext cx="3768961" cy="638775"/>
            <a:chOff x="-339" y="282"/>
            <a:chExt cx="2595" cy="512"/>
          </a:xfrm>
        </p:grpSpPr>
        <p:grpSp>
          <p:nvGrpSpPr>
            <p:cNvPr id="68623" name="Group 16"/>
            <p:cNvGrpSpPr/>
            <p:nvPr/>
          </p:nvGrpSpPr>
          <p:grpSpPr>
            <a:xfrm>
              <a:off x="576" y="458"/>
              <a:ext cx="1680" cy="336"/>
              <a:chOff x="0" y="0"/>
              <a:chExt cx="1763" cy="384"/>
            </a:xfrm>
          </p:grpSpPr>
          <p:sp>
            <p:nvSpPr>
              <p:cNvPr id="68624" name="Rectangle 16"/>
              <p:cNvSpPr/>
              <p:nvPr/>
            </p:nvSpPr>
            <p:spPr>
              <a:xfrm>
                <a:off x="0" y="0"/>
                <a:ext cx="905" cy="38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data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625" name="Rectangle 17"/>
              <p:cNvSpPr/>
              <p:nvPr/>
            </p:nvSpPr>
            <p:spPr>
              <a:xfrm>
                <a:off x="858" y="0"/>
                <a:ext cx="905" cy="384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next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8626" name="Text Box 18"/>
            <p:cNvSpPr txBox="1"/>
            <p:nvPr/>
          </p:nvSpPr>
          <p:spPr>
            <a:xfrm>
              <a:off x="-339" y="282"/>
              <a:ext cx="526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p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27" name="Line 19"/>
            <p:cNvSpPr/>
            <p:nvPr/>
          </p:nvSpPr>
          <p:spPr>
            <a:xfrm>
              <a:off x="96" y="602"/>
              <a:ext cx="48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1117</Words>
  <Application>WPS 演示</Application>
  <PresentationFormat>宽屏</PresentationFormat>
  <Paragraphs>203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Wingdings 2</vt:lpstr>
      <vt:lpstr>Calibri Light</vt:lpstr>
      <vt:lpstr>Segoe Print</vt:lpstr>
      <vt:lpstr>1_华清远见PPT模板（宽屏）-华清远见教育集团</vt:lpstr>
      <vt:lpstr>Office 主题</vt:lpstr>
      <vt:lpstr>PowerPoint 演示文稿</vt:lpstr>
      <vt:lpstr>线性表的链式存储结构 </vt:lpstr>
      <vt:lpstr>线性表的链式存储结构 </vt:lpstr>
      <vt:lpstr>线性表的链式存储结构 </vt:lpstr>
      <vt:lpstr>线性表的链式存储结构  </vt:lpstr>
      <vt:lpstr>  线性表的链式存储结构 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1118</cp:revision>
  <cp:lastPrinted>2011-09-16T06:19:00Z</cp:lastPrinted>
  <dcterms:created xsi:type="dcterms:W3CDTF">2016-04-14T04:36:00Z</dcterms:created>
  <dcterms:modified xsi:type="dcterms:W3CDTF">2019-09-14T06:55:32Z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