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21"/>
  </p:handoutMasterIdLst>
  <p:sldIdLst>
    <p:sldId id="1031" r:id="rId4"/>
    <p:sldId id="771" r:id="rId6"/>
    <p:sldId id="1105" r:id="rId7"/>
    <p:sldId id="1106" r:id="rId8"/>
    <p:sldId id="772" r:id="rId9"/>
    <p:sldId id="773" r:id="rId10"/>
    <p:sldId id="1035" r:id="rId11"/>
    <p:sldId id="774" r:id="rId12"/>
    <p:sldId id="1072" r:id="rId13"/>
    <p:sldId id="1073" r:id="rId14"/>
    <p:sldId id="1074" r:id="rId15"/>
    <p:sldId id="1089" r:id="rId16"/>
    <p:sldId id="1075" r:id="rId17"/>
    <p:sldId id="1076" r:id="rId18"/>
    <p:sldId id="1077" r:id="rId19"/>
    <p:sldId id="1109" r:id="rId20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160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223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pPr algn="just" eaLnBrk="1" hangingPunct="1"/>
            <a:r>
              <a:rPr dirty="0">
                <a:solidFill>
                  <a:schemeClr val="bg1"/>
                </a:solidFill>
                <a:sym typeface="+mn-ea"/>
              </a:rPr>
              <a:t>表长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n=0</a:t>
            </a:r>
            <a:r>
              <a:rPr dirty="0">
                <a:solidFill>
                  <a:schemeClr val="bg1"/>
                </a:solidFill>
                <a:sym typeface="+mn-ea"/>
              </a:rPr>
              <a:t>时，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L</a:t>
            </a:r>
            <a:r>
              <a:rPr dirty="0">
                <a:solidFill>
                  <a:schemeClr val="bg1"/>
                </a:solidFill>
                <a:sym typeface="+mn-ea"/>
              </a:rPr>
              <a:t>为空表；</a:t>
            </a:r>
            <a:endParaRPr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dirty="0">
                <a:solidFill>
                  <a:schemeClr val="bg1"/>
                </a:solidFill>
                <a:sym typeface="+mn-ea"/>
              </a:rPr>
              <a:t>关系符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&lt;a</a:t>
            </a:r>
            <a:r>
              <a:rPr lang="en-US" altLang="zh-CN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, a</a:t>
            </a:r>
            <a:r>
              <a:rPr lang="en-US" altLang="zh-CN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&gt;</a:t>
            </a:r>
            <a:r>
              <a:rPr dirty="0">
                <a:solidFill>
                  <a:schemeClr val="bg1"/>
                </a:solidFill>
                <a:sym typeface="+mn-ea"/>
              </a:rPr>
              <a:t>在这里称为有序对</a:t>
            </a:r>
            <a:endParaRPr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dirty="0">
                <a:solidFill>
                  <a:schemeClr val="bg1"/>
                </a:solidFill>
                <a:sym typeface="+mn-ea"/>
              </a:rPr>
              <a:t>表示任意相邻的两个元素之间的一种先后次序关系，称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dirty="0">
                <a:solidFill>
                  <a:schemeClr val="bg1"/>
                </a:solidFill>
                <a:sym typeface="+mn-ea"/>
              </a:rPr>
              <a:t>是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dirty="0">
                <a:solidFill>
                  <a:schemeClr val="bg1"/>
                </a:solidFill>
                <a:sym typeface="+mn-ea"/>
              </a:rPr>
              <a:t>的直接前驱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,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dirty="0">
                <a:solidFill>
                  <a:schemeClr val="bg1"/>
                </a:solidFill>
                <a:sym typeface="+mn-ea"/>
              </a:rPr>
              <a:t>是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dirty="0">
                <a:solidFill>
                  <a:schemeClr val="bg1"/>
                </a:solidFill>
                <a:sym typeface="+mn-ea"/>
              </a:rPr>
              <a:t>的直接后继，当表长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n≤1</a:t>
            </a:r>
            <a:r>
              <a:rPr dirty="0">
                <a:solidFill>
                  <a:schemeClr val="bg1"/>
                </a:solidFill>
                <a:sym typeface="+mn-ea"/>
              </a:rPr>
              <a:t>时，关系集</a:t>
            </a:r>
            <a:r>
              <a:rPr lang="en-US" altLang="zh-CN" dirty="0">
                <a:solidFill>
                  <a:srgbClr val="FFC000"/>
                </a:solidFill>
                <a:sym typeface="+mn-ea"/>
              </a:rPr>
              <a:t>R</a:t>
            </a:r>
            <a:r>
              <a:rPr dirty="0">
                <a:solidFill>
                  <a:schemeClr val="bg1"/>
                </a:solidFill>
                <a:sym typeface="+mn-ea"/>
              </a:rPr>
              <a:t>为空集。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（3个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29344" y="592176"/>
            <a:ext cx="10363200" cy="533348"/>
          </a:xfr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defRPr lang="zh-CN" altLang="en-US"/>
            </a:lvl1pPr>
          </a:lstStyle>
          <a:p>
            <a:r>
              <a:rPr lang="zh-CN" altLang="en-US" sz="2000" b="1" kern="1200" noProof="0" dirty="0">
                <a:solidFill>
                  <a:srgbClr val="216F96"/>
                </a:solidFill>
                <a:latin typeface="华文细黑" panose="02010600040101010101" pitchFamily="2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rPr>
              <a:t>课程目录</a:t>
            </a:r>
            <a:endParaRPr lang="zh-CN" altLang="en-US" sz="2000" b="1" kern="1200" noProof="0" dirty="0">
              <a:solidFill>
                <a:srgbClr val="216F96"/>
              </a:solidFill>
              <a:latin typeface="华文细黑" panose="02010600040101010101" pitchFamily="2" charset="-122"/>
              <a:ea typeface="微软雅黑" panose="020B0503020204020204" pitchFamily="34" charset="-122"/>
              <a:cs typeface="+mj-cs"/>
              <a:sym typeface="Calibri" panose="020F0502020204030204" pitchFamily="34" charset="0"/>
            </a:endParaRPr>
          </a:p>
        </p:txBody>
      </p:sp>
      <p:sp>
        <p:nvSpPr>
          <p:cNvPr id="15" name="文本占位符 120"/>
          <p:cNvSpPr>
            <a:spLocks noGrp="1"/>
          </p:cNvSpPr>
          <p:nvPr>
            <p:ph type="body" sz="quarter" idx="13"/>
          </p:nvPr>
        </p:nvSpPr>
        <p:spPr>
          <a:xfrm>
            <a:off x="1391673" y="1701447"/>
            <a:ext cx="6778423" cy="3167570"/>
          </a:xfrm>
          <a:prstGeom prst="rect">
            <a:avLst/>
          </a:prstGeom>
        </p:spPr>
        <p:txBody>
          <a:bodyPr vert="horz" anchor="ctr"/>
          <a:lstStyle>
            <a:lvl1pPr marL="457200" marR="0" indent="-457200" algn="l" defTabSz="914400" rtl="0" eaLnBrk="1" fontAlgn="auto" latinLnBrk="0" hangingPunct="1">
              <a:lnSpc>
                <a:spcPct val="15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defRPr lang="zh-CN" altLang="en-US" sz="2400" b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线性表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739515" y="2762250"/>
            <a:ext cx="4243070" cy="501650"/>
          </a:xfrm>
        </p:spPr>
        <p:txBody>
          <a:bodyPr/>
          <a:lstStyle/>
          <a:p>
            <a:r>
              <a:rPr sz="4400" b="0" dirty="0">
                <a:solidFill>
                  <a:srgbClr val="FFFF00"/>
                </a:solidFill>
              </a:rPr>
              <a:t>什么是线性表</a:t>
            </a:r>
            <a:endParaRPr sz="4400" b="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8" name="Group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151" y="2286953"/>
          <a:ext cx="7270750" cy="2709137"/>
        </p:xfrm>
        <a:graphic>
          <a:graphicData uri="http://schemas.openxmlformats.org/drawingml/2006/table">
            <a:tbl>
              <a:tblPr/>
              <a:tblGrid>
                <a:gridCol w="818576"/>
                <a:gridCol w="1157399"/>
                <a:gridCol w="1140936"/>
                <a:gridCol w="1466916"/>
                <a:gridCol w="1185387"/>
                <a:gridCol w="711232"/>
                <a:gridCol w="790258"/>
              </a:tblGrid>
              <a:tr h="491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编号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书  名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作  者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出版社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出版日期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</a:tr>
              <a:tr h="491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科教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1998.7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</a:tr>
              <a:tr h="5739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国防工业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2002.2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</a:tr>
              <a:tr h="577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</a:tr>
              <a:tr h="5739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7"/>
                    </a:solidFill>
                  </a:tcPr>
                </a:tc>
              </a:tr>
            </a:tbl>
          </a:graphicData>
        </a:graphic>
      </p:graphicFrame>
      <p:sp>
        <p:nvSpPr>
          <p:cNvPr id="8" name="标题 3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华文细黑" panose="02010600040101010101" pitchFamily="2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/>
            <a:r>
              <a:rPr lang="zh-CN" altLang="en-US" sz="4400" b="0" dirty="0">
                <a:solidFill>
                  <a:srgbClr val="01E1EF"/>
                </a:solidFill>
                <a:latin typeface="微软雅黑" panose="020B0503020204020204" pitchFamily="34" charset="-122"/>
              </a:rPr>
              <a:t>数据结构举例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华文细黑" panose="02010600040101010101" pitchFamily="2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/>
            <a:r>
              <a:rPr lang="zh-CN" altLang="en-US" sz="4400" b="0" dirty="0">
                <a:solidFill>
                  <a:srgbClr val="01E1EF"/>
                </a:solidFill>
                <a:latin typeface="微软雅黑" panose="020B0503020204020204" pitchFamily="34" charset="-122"/>
              </a:rPr>
              <a:t>数据结构举例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内容占位符 1"/>
          <p:cNvPicPr>
            <a:picLocks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008380" y="1408430"/>
            <a:ext cx="2051685" cy="49891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230" y="1408430"/>
            <a:ext cx="3314700" cy="4619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40067" y="29845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</a:rPr>
              <a:t>目录结构</a:t>
            </a:r>
            <a:endParaRPr sz="4400" b="0" dirty="0">
              <a:solidFill>
                <a:srgbClr val="01E1E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8645" y="1176655"/>
            <a:ext cx="8635365" cy="4861560"/>
          </a:xfrm>
          <a:prstGeom prst="rect">
            <a:avLst/>
          </a:prstGeom>
          <a:solidFill>
            <a:srgbClr val="C3DD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Group 28"/>
          <p:cNvGrpSpPr/>
          <p:nvPr/>
        </p:nvGrpSpPr>
        <p:grpSpPr>
          <a:xfrm>
            <a:off x="4269739" y="3173094"/>
            <a:ext cx="2514600" cy="1600200"/>
            <a:chOff x="0" y="0"/>
            <a:chExt cx="1584" cy="1008"/>
          </a:xfrm>
        </p:grpSpPr>
        <p:grpSp>
          <p:nvGrpSpPr>
            <p:cNvPr id="44060" name="Group 29"/>
            <p:cNvGrpSpPr/>
            <p:nvPr/>
          </p:nvGrpSpPr>
          <p:grpSpPr>
            <a:xfrm>
              <a:off x="0" y="0"/>
              <a:ext cx="1536" cy="1008"/>
              <a:chOff x="0" y="0"/>
              <a:chExt cx="1536" cy="1008"/>
            </a:xfrm>
          </p:grpSpPr>
          <p:sp>
            <p:nvSpPr>
              <p:cNvPr id="44061" name="AutoShape 29"/>
              <p:cNvSpPr/>
              <p:nvPr/>
            </p:nvSpPr>
            <p:spPr>
              <a:xfrm>
                <a:off x="336" y="0"/>
                <a:ext cx="960" cy="288"/>
              </a:xfrm>
              <a:prstGeom prst="flowChartPredefinedProcess">
                <a:avLst/>
              </a:prstGeom>
              <a:solidFill>
                <a:srgbClr val="FFFF9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单链结构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62" name="AutoShape 30"/>
              <p:cNvSpPr/>
              <p:nvPr/>
            </p:nvSpPr>
            <p:spPr>
              <a:xfrm>
                <a:off x="336" y="720"/>
                <a:ext cx="960" cy="288"/>
              </a:xfrm>
              <a:prstGeom prst="flowChartPredefinedProcess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双链结构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63" name="Line 31"/>
              <p:cNvSpPr/>
              <p:nvPr/>
            </p:nvSpPr>
            <p:spPr>
              <a:xfrm>
                <a:off x="0" y="432"/>
                <a:ext cx="192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4" name="Line 32"/>
              <p:cNvSpPr/>
              <p:nvPr/>
            </p:nvSpPr>
            <p:spPr>
              <a:xfrm>
                <a:off x="192" y="144"/>
                <a:ext cx="0" cy="76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5" name="Line 33"/>
              <p:cNvSpPr/>
              <p:nvPr/>
            </p:nvSpPr>
            <p:spPr>
              <a:xfrm>
                <a:off x="1536" y="144"/>
                <a:ext cx="0" cy="72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6" name="Line 34"/>
              <p:cNvSpPr/>
              <p:nvPr/>
            </p:nvSpPr>
            <p:spPr>
              <a:xfrm>
                <a:off x="192" y="144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4067" name="Line 35"/>
              <p:cNvSpPr/>
              <p:nvPr/>
            </p:nvSpPr>
            <p:spPr>
              <a:xfrm>
                <a:off x="192" y="912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4068" name="Line 36"/>
              <p:cNvSpPr/>
              <p:nvPr/>
            </p:nvSpPr>
            <p:spPr>
              <a:xfrm>
                <a:off x="1296" y="144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9" name="Line 37"/>
              <p:cNvSpPr/>
              <p:nvPr/>
            </p:nvSpPr>
            <p:spPr>
              <a:xfrm>
                <a:off x="1296" y="864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4070" name="Oval 38"/>
            <p:cNvSpPr/>
            <p:nvPr/>
          </p:nvSpPr>
          <p:spPr>
            <a:xfrm>
              <a:off x="1488" y="96"/>
              <a:ext cx="96" cy="96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15"/>
          <p:cNvGrpSpPr/>
          <p:nvPr/>
        </p:nvGrpSpPr>
        <p:grpSpPr>
          <a:xfrm>
            <a:off x="2061974" y="2042202"/>
            <a:ext cx="6858000" cy="1371600"/>
            <a:chOff x="0" y="0"/>
            <a:chExt cx="4320" cy="864"/>
          </a:xfrm>
        </p:grpSpPr>
        <p:sp>
          <p:nvSpPr>
            <p:cNvPr id="44047" name="Rectangle 15"/>
            <p:cNvSpPr/>
            <p:nvPr/>
          </p:nvSpPr>
          <p:spPr>
            <a:xfrm>
              <a:off x="288" y="0"/>
              <a:ext cx="1200" cy="288"/>
            </a:xfrm>
            <a:prstGeom prst="rect">
              <a:avLst/>
            </a:pr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顺序存储结构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8" name="AutoShape 16"/>
            <p:cNvSpPr/>
            <p:nvPr/>
          </p:nvSpPr>
          <p:spPr>
            <a:xfrm>
              <a:off x="3264" y="336"/>
              <a:ext cx="1056" cy="528"/>
            </a:xfrm>
            <a:prstGeom prst="flowChartPunchedCard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算法实现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算法分析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9" name="Line 17"/>
            <p:cNvSpPr/>
            <p:nvPr/>
          </p:nvSpPr>
          <p:spPr>
            <a:xfrm>
              <a:off x="0" y="144"/>
              <a:ext cx="28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050" name="Line 18"/>
            <p:cNvSpPr/>
            <p:nvPr/>
          </p:nvSpPr>
          <p:spPr>
            <a:xfrm>
              <a:off x="1488" y="144"/>
              <a:ext cx="148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51" name="Line 19"/>
            <p:cNvSpPr/>
            <p:nvPr/>
          </p:nvSpPr>
          <p:spPr>
            <a:xfrm>
              <a:off x="2976" y="144"/>
              <a:ext cx="0" cy="5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52" name="Line 20"/>
            <p:cNvSpPr/>
            <p:nvPr/>
          </p:nvSpPr>
          <p:spPr>
            <a:xfrm>
              <a:off x="2976" y="720"/>
              <a:ext cx="28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5060" name="Oval 3"/>
          <p:cNvSpPr/>
          <p:nvPr/>
        </p:nvSpPr>
        <p:spPr>
          <a:xfrm>
            <a:off x="686261" y="3425190"/>
            <a:ext cx="990600" cy="838200"/>
          </a:xfrm>
          <a:prstGeom prst="ellipse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线性表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77013" y="1329690"/>
            <a:ext cx="3276600" cy="2514600"/>
            <a:chOff x="0" y="0"/>
            <a:chExt cx="2064" cy="1584"/>
          </a:xfrm>
        </p:grpSpPr>
        <p:sp>
          <p:nvSpPr>
            <p:cNvPr id="44038" name="Rectangle 6"/>
            <p:cNvSpPr/>
            <p:nvPr/>
          </p:nvSpPr>
          <p:spPr>
            <a:xfrm>
              <a:off x="528" y="0"/>
              <a:ext cx="1536" cy="288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定义、特点、运算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39" name="Line 7"/>
            <p:cNvSpPr/>
            <p:nvPr/>
          </p:nvSpPr>
          <p:spPr>
            <a:xfrm>
              <a:off x="0" y="1584"/>
              <a:ext cx="24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0" name="Line 8"/>
            <p:cNvSpPr/>
            <p:nvPr/>
          </p:nvSpPr>
          <p:spPr>
            <a:xfrm flipV="1">
              <a:off x="240" y="192"/>
              <a:ext cx="0" cy="139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1" name="Line 9"/>
            <p:cNvSpPr/>
            <p:nvPr/>
          </p:nvSpPr>
          <p:spPr>
            <a:xfrm>
              <a:off x="240" y="192"/>
              <a:ext cx="28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Group 11"/>
          <p:cNvGrpSpPr/>
          <p:nvPr/>
        </p:nvGrpSpPr>
        <p:grpSpPr>
          <a:xfrm>
            <a:off x="2069925" y="3809999"/>
            <a:ext cx="2514600" cy="2057400"/>
            <a:chOff x="0" y="0"/>
            <a:chExt cx="1584" cy="1296"/>
          </a:xfrm>
        </p:grpSpPr>
        <p:sp>
          <p:nvSpPr>
            <p:cNvPr id="44043" name="Rectangle 11"/>
            <p:cNvSpPr/>
            <p:nvPr/>
          </p:nvSpPr>
          <p:spPr>
            <a:xfrm>
              <a:off x="288" y="1008"/>
              <a:ext cx="1296" cy="288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应用举列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4" name="Line 12"/>
            <p:cNvSpPr/>
            <p:nvPr/>
          </p:nvSpPr>
          <p:spPr>
            <a:xfrm>
              <a:off x="0" y="0"/>
              <a:ext cx="0" cy="115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5" name="Line 13"/>
            <p:cNvSpPr/>
            <p:nvPr/>
          </p:nvSpPr>
          <p:spPr>
            <a:xfrm>
              <a:off x="0" y="1152"/>
              <a:ext cx="28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0" name="Group 22"/>
          <p:cNvGrpSpPr/>
          <p:nvPr/>
        </p:nvGrpSpPr>
        <p:grpSpPr>
          <a:xfrm>
            <a:off x="1993726" y="3124200"/>
            <a:ext cx="2362200" cy="914400"/>
            <a:chOff x="0" y="0"/>
            <a:chExt cx="1488" cy="576"/>
          </a:xfrm>
        </p:grpSpPr>
        <p:grpSp>
          <p:nvGrpSpPr>
            <p:cNvPr id="44054" name="Group 23"/>
            <p:cNvGrpSpPr/>
            <p:nvPr/>
          </p:nvGrpSpPr>
          <p:grpSpPr>
            <a:xfrm>
              <a:off x="48" y="0"/>
              <a:ext cx="1440" cy="576"/>
              <a:chOff x="0" y="0"/>
              <a:chExt cx="1440" cy="576"/>
            </a:xfrm>
          </p:grpSpPr>
          <p:sp>
            <p:nvSpPr>
              <p:cNvPr id="44055" name="Rectangle 23"/>
              <p:cNvSpPr/>
              <p:nvPr/>
            </p:nvSpPr>
            <p:spPr>
              <a:xfrm>
                <a:off x="240" y="288"/>
                <a:ext cx="1200" cy="288"/>
              </a:xfrm>
              <a:prstGeom prst="rect">
                <a:avLst/>
              </a:prstGeom>
              <a:solidFill>
                <a:srgbClr val="00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链式存储结构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6" name="AutoShape 24"/>
              <p:cNvSpPr/>
              <p:nvPr/>
            </p:nvSpPr>
            <p:spPr>
              <a:xfrm>
                <a:off x="528" y="0"/>
                <a:ext cx="576" cy="240"/>
              </a:xfrm>
              <a:prstGeom prst="wedgeEllipseCallout">
                <a:avLst>
                  <a:gd name="adj1" fmla="val -43750"/>
                  <a:gd name="adj2" fmla="val 70000"/>
                </a:avLst>
              </a:prstGeom>
              <a:solidFill>
                <a:srgbClr val="FF99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ctr"/>
                <a:r>
                  <a:rPr lang="zh-CN" alt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重点</a:t>
                </a:r>
                <a:endParaRPr lang="zh-CN" altLang="en-US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7" name="Line 25"/>
              <p:cNvSpPr/>
              <p:nvPr/>
            </p:nvSpPr>
            <p:spPr>
              <a:xfrm>
                <a:off x="0" y="432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44058" name="Oval 26"/>
            <p:cNvSpPr/>
            <p:nvPr/>
          </p:nvSpPr>
          <p:spPr>
            <a:xfrm>
              <a:off x="0" y="384"/>
              <a:ext cx="96" cy="96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43019" y="291783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42950" y="1233170"/>
            <a:ext cx="8547735" cy="410845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sz="2800" dirty="0">
                <a:solidFill>
                  <a:schemeClr val="bg1"/>
                </a:solidFill>
                <a:sym typeface="+mn-ea"/>
              </a:rPr>
              <a:t>线性表是包含若干数据元素的一个线性序列</a:t>
            </a:r>
            <a:endParaRPr sz="2800"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sz="2400" dirty="0">
                <a:solidFill>
                  <a:schemeClr val="bg1"/>
                </a:solidFill>
                <a:sym typeface="+mn-ea"/>
              </a:rPr>
              <a:t>记为： 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L=(a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 ...... 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i-1, 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i, 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i+1 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...... 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</a:t>
            </a:r>
            <a:endParaRPr lang="en-US" altLang="zh-CN" sz="2400"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endParaRPr sz="240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lang="en-US" altLang="zh-CN" sz="2400">
                <a:solidFill>
                  <a:srgbClr val="FFC000"/>
                </a:solidFill>
                <a:sym typeface="+mn-ea"/>
              </a:rPr>
              <a:t>L</a:t>
            </a:r>
            <a:r>
              <a:rPr sz="2400">
                <a:solidFill>
                  <a:schemeClr val="bg1"/>
                </a:solidFill>
                <a:sym typeface="+mn-ea"/>
              </a:rPr>
              <a:t>为表名，</a:t>
            </a:r>
            <a:r>
              <a:rPr lang="en-US" altLang="zh-CN" sz="240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sz="2400" baseline="-30000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sz="2400">
                <a:solidFill>
                  <a:srgbClr val="FFC000"/>
                </a:solidFill>
                <a:sym typeface="+mn-ea"/>
              </a:rPr>
              <a:t> (0≤i≤n-1)</a:t>
            </a:r>
            <a:r>
              <a:rPr sz="2400">
                <a:solidFill>
                  <a:schemeClr val="bg1"/>
                </a:solidFill>
                <a:sym typeface="+mn-ea"/>
              </a:rPr>
              <a:t>为数据元素；</a:t>
            </a:r>
            <a:endParaRPr sz="240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r>
              <a:rPr lang="en-US" altLang="zh-CN" sz="2400">
                <a:solidFill>
                  <a:srgbClr val="FFC000"/>
                </a:solidFill>
                <a:sym typeface="+mn-ea"/>
              </a:rPr>
              <a:t>n</a:t>
            </a:r>
            <a:r>
              <a:rPr sz="2400">
                <a:solidFill>
                  <a:schemeClr val="bg1"/>
                </a:solidFill>
                <a:sym typeface="+mn-ea"/>
              </a:rPr>
              <a:t>为表长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,</a:t>
            </a:r>
            <a:r>
              <a:rPr lang="en-US" altLang="zh-CN" sz="2400">
                <a:solidFill>
                  <a:srgbClr val="FFC000"/>
                </a:solidFill>
                <a:sym typeface="+mn-ea"/>
              </a:rPr>
              <a:t>n&gt;0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 </a:t>
            </a:r>
            <a:r>
              <a:rPr sz="2400">
                <a:solidFill>
                  <a:schemeClr val="bg1"/>
                </a:solidFill>
                <a:sym typeface="+mn-ea"/>
              </a:rPr>
              <a:t>时，线性表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L</a:t>
            </a:r>
            <a:r>
              <a:rPr sz="2400">
                <a:solidFill>
                  <a:schemeClr val="bg1"/>
                </a:solidFill>
                <a:sym typeface="+mn-ea"/>
              </a:rPr>
              <a:t>为非空表，否则为空表。</a:t>
            </a:r>
            <a:endParaRPr lang="en-US" altLang="zh-CN" sz="2400" b="1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43019" y="291783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42950" y="1238250"/>
            <a:ext cx="8341360" cy="540067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sz="2200" dirty="0">
                <a:solidFill>
                  <a:schemeClr val="bg1"/>
                </a:solidFill>
                <a:sym typeface="+mn-ea"/>
              </a:rPr>
              <a:t>线性表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L</a:t>
            </a:r>
            <a:r>
              <a:rPr sz="2200" dirty="0">
                <a:solidFill>
                  <a:schemeClr val="bg1"/>
                </a:solidFill>
                <a:sym typeface="+mn-ea"/>
              </a:rPr>
              <a:t>可用二元组形式描述：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r>
              <a:rPr sz="2200" dirty="0">
                <a:solidFill>
                  <a:schemeClr val="bg1"/>
                </a:solidFill>
                <a:sym typeface="+mn-ea"/>
              </a:rPr>
              <a:t>		</a:t>
            </a:r>
            <a:r>
              <a:rPr lang="en-US" altLang="zh-CN" sz="2200" dirty="0">
                <a:solidFill>
                  <a:srgbClr val="FFC000"/>
                </a:solidFill>
                <a:sym typeface="+mn-ea"/>
              </a:rPr>
              <a:t>L= (D,R)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r>
              <a:rPr sz="2200" dirty="0">
                <a:solidFill>
                  <a:schemeClr val="bg1"/>
                </a:solidFill>
                <a:sym typeface="+mn-ea"/>
              </a:rPr>
              <a:t>即线性表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L</a:t>
            </a:r>
            <a:r>
              <a:rPr sz="2200" dirty="0">
                <a:solidFill>
                  <a:schemeClr val="bg1"/>
                </a:solidFill>
                <a:sym typeface="+mn-ea"/>
              </a:rPr>
              <a:t>包含数据元素集合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D</a:t>
            </a:r>
            <a:r>
              <a:rPr sz="2200" dirty="0">
                <a:solidFill>
                  <a:schemeClr val="bg1"/>
                </a:solidFill>
                <a:sym typeface="+mn-ea"/>
              </a:rPr>
              <a:t>和关系集合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R</a:t>
            </a:r>
            <a:endParaRPr lang="en-US" altLang="zh-CN" sz="2200" dirty="0">
              <a:solidFill>
                <a:schemeClr val="bg1"/>
              </a:solidFill>
              <a:sym typeface="+mn-ea"/>
            </a:endParaRP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475" dirty="0">
                <a:sym typeface="+mn-ea"/>
              </a:rPr>
              <a:t> </a:t>
            </a:r>
            <a:r>
              <a:rPr sz="2475" dirty="0">
                <a:solidFill>
                  <a:srgbClr val="FFC000"/>
                </a:solidFill>
                <a:sym typeface="+mn-ea"/>
              </a:rPr>
              <a:t> 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D={a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 | </a:t>
            </a:r>
            <a:r>
              <a:rPr lang="en-US" altLang="zh-CN" sz="2475" dirty="0" err="1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sz="2475" baseline="-30000" dirty="0" err="1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sz="2475" dirty="0" err="1">
                <a:solidFill>
                  <a:srgbClr val="FFC000"/>
                </a:solidFill>
                <a:sym typeface="+mn-ea"/>
              </a:rPr>
              <a:t>∈datatype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 ,</a:t>
            </a:r>
            <a:r>
              <a:rPr lang="en-US" altLang="zh-CN" sz="2475" dirty="0" err="1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=0,1,2, ∙∙∙∙∙∙∙∙∙n-1 ,n≥0}</a:t>
            </a:r>
            <a:endParaRPr lang="en-US" altLang="zh-CN" sz="2475" dirty="0">
              <a:solidFill>
                <a:srgbClr val="FFC000"/>
              </a:solidFill>
            </a:endParaRP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  R={&lt;a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 , 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&gt; | 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 , 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∈D, 0≤i≤n-2}</a:t>
            </a:r>
            <a:endParaRPr lang="en-US" altLang="zh-CN" sz="2475" dirty="0">
              <a:solidFill>
                <a:srgbClr val="FFC000"/>
              </a:solidFill>
            </a:endParaRPr>
          </a:p>
          <a:p>
            <a:pPr lvl="2" algn="just" eaLnBrk="1" hangingPunct="1">
              <a:lnSpc>
                <a:spcPct val="140000"/>
              </a:lnSpc>
            </a:pPr>
            <a:r>
              <a:rPr sz="2475" dirty="0">
                <a:solidFill>
                  <a:schemeClr val="bg1"/>
                </a:solidFill>
                <a:sym typeface="+mn-ea"/>
              </a:rPr>
              <a:t>关系符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&lt;a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, 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&gt;</a:t>
            </a:r>
            <a:r>
              <a:rPr sz="2475" dirty="0">
                <a:solidFill>
                  <a:schemeClr val="bg1"/>
                </a:solidFill>
                <a:sym typeface="+mn-ea"/>
              </a:rPr>
              <a:t>在这里称为有序对</a:t>
            </a:r>
            <a:endParaRPr sz="2475" dirty="0">
              <a:solidFill>
                <a:schemeClr val="bg1"/>
              </a:solidFill>
              <a:sym typeface="+mn-ea"/>
            </a:endParaRPr>
          </a:p>
          <a:p>
            <a:pPr lvl="2" algn="just" eaLnBrk="1" hangingPunct="1">
              <a:lnSpc>
                <a:spcPct val="140000"/>
              </a:lnSpc>
            </a:pPr>
            <a:r>
              <a:rPr sz="2475" dirty="0">
                <a:solidFill>
                  <a:schemeClr val="bg1"/>
                </a:solidFill>
                <a:sym typeface="+mn-ea"/>
              </a:rPr>
              <a:t>表示任意相邻的两个元素之间的一种先后次序关系</a:t>
            </a:r>
            <a:endParaRPr sz="2475" dirty="0">
              <a:solidFill>
                <a:schemeClr val="bg1"/>
              </a:solidFill>
              <a:sym typeface="+mn-ea"/>
            </a:endParaRPr>
          </a:p>
          <a:p>
            <a:pPr lvl="2" algn="just" eaLnBrk="1" hangingPunct="1">
              <a:lnSpc>
                <a:spcPct val="140000"/>
              </a:lnSpc>
            </a:pP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sz="2475" dirty="0">
                <a:solidFill>
                  <a:schemeClr val="bg1"/>
                </a:solidFill>
                <a:sym typeface="+mn-ea"/>
              </a:rPr>
              <a:t>是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sz="2475" dirty="0">
                <a:solidFill>
                  <a:schemeClr val="bg1"/>
                </a:solidFill>
                <a:sym typeface="+mn-ea"/>
              </a:rPr>
              <a:t>的直接前驱</a:t>
            </a:r>
            <a:r>
              <a:rPr lang="en-US" altLang="zh-CN" sz="2475" dirty="0">
                <a:solidFill>
                  <a:schemeClr val="bg1"/>
                </a:solidFill>
                <a:sym typeface="+mn-ea"/>
              </a:rPr>
              <a:t>,</a:t>
            </a:r>
            <a:r>
              <a:rPr lang="en-US" altLang="zh-CN" sz="2475" dirty="0">
                <a:sym typeface="+mn-ea"/>
              </a:rPr>
              <a:t> 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i+1</a:t>
            </a:r>
            <a:r>
              <a:rPr sz="2475" dirty="0">
                <a:solidFill>
                  <a:schemeClr val="bg1"/>
                </a:solidFill>
                <a:sym typeface="+mn-ea"/>
              </a:rPr>
              <a:t>是</a:t>
            </a:r>
            <a:r>
              <a:rPr lang="en-US" altLang="zh-CN" sz="2475" dirty="0">
                <a:solidFill>
                  <a:srgbClr val="FFC000"/>
                </a:solidFill>
                <a:sym typeface="+mn-ea"/>
              </a:rPr>
              <a:t>a</a:t>
            </a:r>
            <a:r>
              <a:rPr lang="en-US" altLang="zh-CN" sz="2475" baseline="-30000" dirty="0">
                <a:solidFill>
                  <a:srgbClr val="FFC000"/>
                </a:solidFill>
                <a:sym typeface="+mn-ea"/>
              </a:rPr>
              <a:t>i</a:t>
            </a:r>
            <a:r>
              <a:rPr sz="2475" dirty="0">
                <a:solidFill>
                  <a:schemeClr val="bg1"/>
                </a:solidFill>
                <a:sym typeface="+mn-ea"/>
              </a:rPr>
              <a:t>的直接后继</a:t>
            </a:r>
            <a:endParaRPr lang="zh-CN" altLang="en-US" sz="2475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83818" y="119209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32790" y="970280"/>
            <a:ext cx="9227185" cy="448437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设有一个顺序表L={1,2,3,4,5,6};  他们的关系如图:</a:t>
            </a:r>
            <a:endParaRPr lang="zh-CN" altLang="en-US" sz="2000" baseline="-30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               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	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使用二元组描述L=(D,R),则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		D={1 , 2 , 3 , 4 , 5 , 6}(n=6)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		R={&lt;1,2&gt; , &lt;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,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</a:t>
            </a:r>
            <a:r>
              <a:rPr sz="2000" dirty="0">
                <a:solidFill>
                  <a:schemeClr val="bg1"/>
                </a:solidFill>
                <a:sym typeface="+mn-ea"/>
              </a:rPr>
              <a:t>&gt; , &lt;3,4&gt; , &lt;4,5&gt; , &lt;5,6&gt;}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47109" name="Object 6"/>
          <p:cNvGraphicFramePr/>
          <p:nvPr/>
        </p:nvGraphicFramePr>
        <p:xfrm>
          <a:off x="957231" y="1742336"/>
          <a:ext cx="43338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BMP 图像" r:id="rId1" imgW="4333875" imgH="523875" progId="Paint.Picture">
                  <p:embed/>
                </p:oleObj>
              </mc:Choice>
              <mc:Fallback>
                <p:oleObj name="BMP 图像" r:id="rId1" imgW="4333875" imgH="5238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7231" y="1742336"/>
                        <a:ext cx="4333875" cy="523875"/>
                      </a:xfrm>
                      <a:prstGeom prst="rect">
                        <a:avLst/>
                      </a:prstGeom>
                      <a:solidFill>
                        <a:srgbClr val="C3DDF7"/>
                      </a:solidFill>
                      <a:ln w="38100"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589915" y="55372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zh-CN" altLang="en-US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线性表</a:t>
            </a:r>
            <a:endParaRPr lang="zh-CN" altLang="en-US" b="0" dirty="0">
              <a:solidFill>
                <a:srgbClr val="01E1E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589915" y="1186815"/>
            <a:ext cx="9227185" cy="448437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buNone/>
            </a:pP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线性表的特征：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1) 对非空表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,a</a:t>
            </a:r>
            <a:r>
              <a:rPr lang="en-US" altLang="zh-CN" sz="24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是表头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无前驱；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2)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n-1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是表尾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无后继；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3) 其它的每个元素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有且仅有一个直接前驱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i-1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和一个直接后继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i+1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线性表顺序存储</a:t>
            </a:r>
            <a:endParaRPr lang="zh-CN" altLang="en-US" sz="4400" b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10845" y="85090"/>
            <a:ext cx="10515600" cy="1325563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顺序存储结构的表示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82600" y="1220470"/>
            <a:ext cx="8571230" cy="1211580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160000"/>
              </a:lnSpc>
              <a:buNone/>
            </a:pPr>
            <a:r>
              <a:rPr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若将线性表</a:t>
            </a:r>
            <a:r>
              <a: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L=(a</a:t>
            </a:r>
            <a:r>
              <a:rPr lang="en-US" altLang="zh-CN" sz="21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,a</a:t>
            </a:r>
            <a:r>
              <a:rPr lang="en-US" altLang="zh-CN" sz="21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……,a</a:t>
            </a:r>
            <a:r>
              <a:rPr lang="en-US" altLang="zh-CN" sz="21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n-1</a:t>
            </a:r>
            <a:r>
              <a: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中的各元素依次存储于计算机一片连续的存储空间。</a:t>
            </a:r>
            <a:endParaRPr sz="2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lnSpc>
                <a:spcPct val="160000"/>
              </a:lnSpc>
              <a:buNone/>
            </a:pPr>
            <a:r>
              <a:rPr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Loc(a</a:t>
            </a:r>
            <a:r>
              <a:rPr lang="en-US" altLang="zh-CN" sz="2100" baseline="-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100" baseline="-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的地址，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Loc(a</a:t>
            </a:r>
            <a:r>
              <a:rPr lang="en-US" altLang="zh-CN" sz="2100" baseline="-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)=b</a:t>
            </a:r>
            <a:r>
              <a:rPr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每个元素占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个单元</a:t>
            </a:r>
            <a:r>
              <a: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则：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Loc(a</a:t>
            </a:r>
            <a:r>
              <a:rPr lang="en-US" altLang="zh-CN" sz="2100" baseline="-30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)=</a:t>
            </a:r>
            <a:r>
              <a:rPr lang="en-US" altLang="zh-CN" sz="2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b+i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*d </a:t>
            </a:r>
            <a:r>
              <a: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endParaRPr lang="en-US" altLang="zh-CN" sz="2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2229" name="Group 5"/>
          <p:cNvGraphicFramePr>
            <a:graphicFrameLocks noGrp="1"/>
          </p:cNvGraphicFramePr>
          <p:nvPr/>
        </p:nvGraphicFramePr>
        <p:xfrm>
          <a:off x="2199948" y="3895440"/>
          <a:ext cx="990600" cy="2606041"/>
        </p:xfrm>
        <a:graphic>
          <a:graphicData uri="http://schemas.openxmlformats.org/drawingml/2006/table">
            <a:tbl>
              <a:tblPr/>
              <a:tblGrid>
                <a:gridCol w="990600"/>
              </a:tblGrid>
              <a:tr h="475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0CA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0C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0CA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0CA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0CA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n-1</a:t>
                      </a:r>
                      <a:endParaRPr kumimoji="0" lang="en-US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0CA"/>
                    </a:solidFill>
                  </a:tcPr>
                </a:tc>
              </a:tr>
            </a:tbl>
          </a:graphicData>
        </a:graphic>
      </p:graphicFrame>
      <p:sp>
        <p:nvSpPr>
          <p:cNvPr id="2" name="内容占位符 4"/>
          <p:cNvSpPr>
            <a:spLocks noGrp="1"/>
          </p:cNvSpPr>
          <p:nvPr/>
        </p:nvSpPr>
        <p:spPr>
          <a:xfrm>
            <a:off x="482600" y="3611245"/>
            <a:ext cx="9056370" cy="2743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60000"/>
              </a:lnSpc>
              <a:buNone/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b:                      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buNone/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b+d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		        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          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buNone/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b+i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*d:	          	        			             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b+(n-1)*d:	                           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T1x0pdXzRXXXXXXXXX_!!0-item_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480" y="1113790"/>
            <a:ext cx="4391025" cy="3148330"/>
          </a:xfrm>
          <a:prstGeom prst="round2DiagRect">
            <a:avLst/>
          </a:prstGeom>
          <a:effectLst>
            <a:softEdge rad="3175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顺序存储结构的特点</a:t>
            </a:r>
            <a:endParaRPr lang="zh-CN" altLang="en-US" sz="4400" b="1" dirty="0">
              <a:solidFill>
                <a:srgbClr val="01E1E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4294967295"/>
          </p:nvPr>
        </p:nvSpPr>
        <p:spPr>
          <a:xfrm>
            <a:off x="838200" y="1691005"/>
            <a:ext cx="8451850" cy="1655445"/>
          </a:xfrm>
        </p:spPr>
        <p:txBody>
          <a:bodyPr>
            <a:noAutofit/>
          </a:bodyPr>
          <a:lstStyle/>
          <a:p>
            <a:pPr eaLnBrk="1" hangingPunct="1">
              <a:lnSpc>
                <a:spcPct val="19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逻辑上相邻的元素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aseline="-250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i,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a</a:t>
            </a:r>
            <a:r>
              <a:rPr lang="en-US" altLang="zh-CN" sz="2400" baseline="-250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i+1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，其存储位置也是相邻的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9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对数据元素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aseline="-25000" dirty="0" err="1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的存取为随机存取或按地址存取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9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存储密度高</a:t>
            </a:r>
            <a:endParaRPr sz="240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90000"/>
              </a:lnSpc>
            </a:pPr>
            <a:r>
              <a:rPr sz="205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存储密度</a:t>
            </a:r>
            <a:r>
              <a:rPr lang="en-US" altLang="zh-CN" sz="205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en-US" altLang="zh-CN" sz="205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=(</a:t>
            </a:r>
            <a:r>
              <a:rPr sz="205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数据结构中元素所占存储空间</a:t>
            </a:r>
            <a:r>
              <a:rPr lang="en-US" altLang="zh-CN" sz="205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)/</a:t>
            </a:r>
            <a:r>
              <a:rPr sz="205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sz="205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整个数据结构所占空间</a:t>
            </a:r>
            <a:r>
              <a:rPr sz="205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205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顺序存储结构的表示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4294967295"/>
          </p:nvPr>
        </p:nvSpPr>
        <p:spPr>
          <a:xfrm>
            <a:off x="1046480" y="1691005"/>
            <a:ext cx="9144000" cy="1655445"/>
          </a:xfrm>
        </p:spPr>
        <p:txBody>
          <a:bodyPr>
            <a:normAutofit/>
          </a:bodyPr>
          <a:lstStyle/>
          <a:p>
            <a:pPr eaLnBrk="1" hangingPunct="1">
              <a:lnSpc>
                <a:spcPct val="190000"/>
              </a:lnSpc>
            </a:pP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顺序存储结构的不足：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9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对表的插入和删除等运算的时间复杂度较差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9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01980" y="69850"/>
            <a:ext cx="10515600" cy="1325563"/>
          </a:xfrm>
        </p:spPr>
        <p:txBody>
          <a:bodyPr/>
          <a:lstStyle/>
          <a:p>
            <a:r>
              <a:rPr sz="4400" b="1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顺序存储结构的表示</a:t>
            </a:r>
            <a:endParaRPr lang="zh-CN" altLang="en-US" sz="4400" b="1" dirty="0">
              <a:solidFill>
                <a:srgbClr val="01E1EF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4294967295"/>
          </p:nvPr>
        </p:nvSpPr>
        <p:spPr>
          <a:xfrm>
            <a:off x="753110" y="1348740"/>
            <a:ext cx="4975860" cy="4160520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13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语言中，可借助于一维数组类型来描述线性表的顺序存储结构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#define  N 100       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typedef   int  data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typedef  struct                  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  data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data[N]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表的存储空间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last;   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sqlist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sqlink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	             </a:t>
            </a: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                                                                                           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4276" name="Text Box 4"/>
          <p:cNvSpPr txBox="1"/>
          <p:nvPr/>
        </p:nvSpPr>
        <p:spPr>
          <a:xfrm>
            <a:off x="5728970" y="1868170"/>
            <a:ext cx="2186305" cy="4055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L-&gt;data[0]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L-&gt;data[L-&gt;last]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5305" name="Group 9"/>
          <p:cNvGraphicFramePr>
            <a:graphicFrameLocks noGrp="1"/>
          </p:cNvGraphicFramePr>
          <p:nvPr/>
        </p:nvGraphicFramePr>
        <p:xfrm>
          <a:off x="7692390" y="1868170"/>
          <a:ext cx="1468120" cy="3746500"/>
        </p:xfrm>
        <a:graphic>
          <a:graphicData uri="http://schemas.openxmlformats.org/drawingml/2006/table">
            <a:tbl>
              <a:tblPr/>
              <a:tblGrid>
                <a:gridCol w="1468120"/>
              </a:tblGrid>
              <a:tr h="467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 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n-1</a:t>
                      </a:r>
                      <a:endParaRPr kumimoji="0" lang="en-US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last</a:t>
                      </a:r>
                      <a:endParaRPr kumimoji="0" lang="zh-CN" altLang="en-US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/>
      <p:bldP spid="5427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UNIT_TABLE_BEAUTIFY" val="smartTable{360e85ff-2d73-4ad8-a521-d378b8a3c418}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1679</Words>
  <Application>WPS 演示</Application>
  <PresentationFormat>宽屏</PresentationFormat>
  <Paragraphs>226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Calibri Light</vt:lpstr>
      <vt:lpstr>Segoe Print</vt:lpstr>
      <vt:lpstr>1_华清远见PPT模板（宽屏）-华清远见教育集团</vt:lpstr>
      <vt:lpstr>Office 主题</vt:lpstr>
      <vt:lpstr>Paint.Picture</vt:lpstr>
      <vt:lpstr>PowerPoint 演示文稿</vt:lpstr>
      <vt:lpstr>PowerPoint 演示文稿</vt:lpstr>
      <vt:lpstr>PowerPoint 演示文稿</vt:lpstr>
      <vt:lpstr>PowerPoint 演示文稿</vt:lpstr>
      <vt:lpstr>目录结构</vt:lpstr>
      <vt:lpstr>线性表</vt:lpstr>
      <vt:lpstr>线性表</vt:lpstr>
      <vt:lpstr>线性表</vt:lpstr>
      <vt:lpstr>线性表</vt:lpstr>
      <vt:lpstr>线性表顺序存储</vt:lpstr>
      <vt:lpstr>顺序存储结构的表示</vt:lpstr>
      <vt:lpstr>PowerPoint 演示文稿</vt:lpstr>
      <vt:lpstr>顺序存储结构的特点</vt:lpstr>
      <vt:lpstr>顺序存储结构的表示</vt:lpstr>
      <vt:lpstr>顺序存储结构的表示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小美</cp:lastModifiedBy>
  <cp:revision>1138</cp:revision>
  <cp:lastPrinted>2011-09-16T06:19:00Z</cp:lastPrinted>
  <dcterms:created xsi:type="dcterms:W3CDTF">2016-04-14T04:36:00Z</dcterms:created>
  <dcterms:modified xsi:type="dcterms:W3CDTF">2019-09-12T03:31:21Z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