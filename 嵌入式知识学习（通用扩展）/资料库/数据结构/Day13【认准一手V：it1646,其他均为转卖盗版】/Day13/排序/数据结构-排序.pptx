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20"/>
  </p:handoutMasterIdLst>
  <p:sldIdLst>
    <p:sldId id="1031" r:id="rId4"/>
    <p:sldId id="1009" r:id="rId6"/>
    <p:sldId id="1057" r:id="rId7"/>
    <p:sldId id="1010" r:id="rId8"/>
    <p:sldId id="1011" r:id="rId9"/>
    <p:sldId id="1013" r:id="rId10"/>
    <p:sldId id="1014" r:id="rId11"/>
    <p:sldId id="1017" r:id="rId12"/>
    <p:sldId id="1018" r:id="rId13"/>
    <p:sldId id="1020" r:id="rId14"/>
    <p:sldId id="1021" r:id="rId15"/>
    <p:sldId id="1023" r:id="rId16"/>
    <p:sldId id="1025" r:id="rId17"/>
    <p:sldId id="1028" r:id="rId18"/>
    <p:sldId id="1058" r:id="rId19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00"/>
        <p:guide pos="4047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93"/>
        <p:guide pos="235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排序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排序定义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318" y="1455073"/>
            <a:ext cx="8480851" cy="4968552"/>
          </a:xfrm>
        </p:spPr>
        <p:txBody>
          <a:bodyPr/>
          <a:lstStyle/>
          <a:p>
            <a:pPr algn="just" eaLnBrk="1" hangingPunct="1">
              <a:lnSpc>
                <a:spcPct val="155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稳定排序和非稳定排序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设文件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f=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j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）中记录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i≠j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j=1……n</a:t>
            </a:r>
            <a:r>
              <a:rPr sz="2000" dirty="0">
                <a:solidFill>
                  <a:schemeClr val="bg1"/>
                </a:solidFill>
                <a:sym typeface="+mn-ea"/>
              </a:rPr>
              <a:t>）的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相等，即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若在排序前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领先于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sym typeface="+mn-ea"/>
              </a:rPr>
              <a:t>，排序后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仍领先于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j</a:t>
            </a:r>
            <a:r>
              <a:rPr sz="2000" dirty="0">
                <a:solidFill>
                  <a:schemeClr val="bg1"/>
                </a:solidFill>
                <a:sym typeface="+mn-ea"/>
              </a:rPr>
              <a:t>，则称这种排序是稳定的，其含义是它没有破坏原本已有序的次序。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525780" y="482600"/>
            <a:ext cx="10681335" cy="416560"/>
          </a:xfrm>
        </p:spPr>
        <p:txBody>
          <a:bodyPr>
            <a:normAutofit fontScale="90000"/>
          </a:bodyPr>
          <a:lstStyle/>
          <a:p>
            <a:r>
              <a:rPr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排序定义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386715" y="1393190"/>
            <a:ext cx="8481060" cy="496887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5000"/>
              </a:lnSpc>
            </a:pP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内排序和外排序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若待排文件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在计算机的内存储器中，且排序过程也在内存中进行，称这种排序为内排序。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若排序中的文件存入外存储器，排序过程借助于内外存数据交换（或归并）来完成，则称这种排序为外排序。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5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内排序方法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565" y="1341155"/>
            <a:ext cx="10725785" cy="4484370"/>
          </a:xfrm>
        </p:spPr>
        <p:txBody>
          <a:bodyPr/>
          <a:lstStyle/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各种内排序方法可归纳为以下五类：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sym typeface="+mn-ea"/>
              </a:rPr>
              <a:t>）插入排序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）交换排序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</a:t>
            </a:r>
            <a:r>
              <a:rPr sz="2000" dirty="0">
                <a:solidFill>
                  <a:schemeClr val="bg1"/>
                </a:solidFill>
                <a:sym typeface="+mn-ea"/>
              </a:rPr>
              <a:t>）选择排序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4</a:t>
            </a:r>
            <a:r>
              <a:rPr sz="2000" dirty="0">
                <a:solidFill>
                  <a:schemeClr val="bg1"/>
                </a:solidFill>
                <a:sym typeface="+mn-ea"/>
              </a:rPr>
              <a:t>）归并排序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......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9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0565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66195" y="1186815"/>
            <a:ext cx="10725785" cy="4484370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直接插入排序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折半插入排序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链表插入排序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Shell</a:t>
            </a:r>
            <a:r>
              <a:rPr sz="2000" dirty="0">
                <a:solidFill>
                  <a:schemeClr val="bg1"/>
                </a:solidFill>
                <a:sym typeface="+mn-ea"/>
              </a:rPr>
              <a:t>（希尔）排序</a:t>
            </a:r>
            <a:endParaRPr lang="en-US" altLang="x-none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</a:t>
            </a:r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直接插入排序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2790" y="1269365"/>
            <a:ext cx="8055610" cy="4968240"/>
          </a:xfrm>
        </p:spPr>
        <p:txBody>
          <a:bodyPr/>
          <a:lstStyle/>
          <a:p>
            <a:pPr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设待排文件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f=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）相应的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集合为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k={k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k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 sz="2000" baseline="-30000" dirty="0" err="1">
                <a:solidFill>
                  <a:schemeClr val="bg1"/>
                </a:solidFill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}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5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排序方法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5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先将文件中的（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sz="2000" dirty="0">
                <a:solidFill>
                  <a:schemeClr val="bg1"/>
                </a:solidFill>
                <a:sym typeface="+mn-ea"/>
              </a:rPr>
              <a:t>）看成只含一个记录的有序子文件，然后从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起，逐个将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sz="2000" dirty="0">
                <a:solidFill>
                  <a:schemeClr val="bg1"/>
                </a:solidFill>
                <a:sym typeface="+mn-ea"/>
              </a:rPr>
              <a:t>至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按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插入到当前有序子文件中，最后得到一个有序的文件。插入的过程上是一个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的比较过程，即每插入一个记录时，将其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与当前有序子表中的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进行比较，找到待插入记录的位置后，将其插入即可。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55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2576932" y="2468880"/>
            <a:ext cx="5544616" cy="406475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24361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直接插入排序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74687" y="1092834"/>
            <a:ext cx="9350013" cy="4424046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设文件记录的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集合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k={50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36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66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76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95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25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u="sng" dirty="0">
                <a:solidFill>
                  <a:schemeClr val="bg1"/>
                </a:solidFill>
                <a:sym typeface="+mn-ea"/>
              </a:rPr>
              <a:t>36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59077" name="Text Box 4"/>
          <p:cNvSpPr txBox="1"/>
          <p:nvPr/>
        </p:nvSpPr>
        <p:spPr>
          <a:xfrm>
            <a:off x="3063240" y="2468880"/>
            <a:ext cx="12954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[50]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78" name="Text Box 5"/>
          <p:cNvSpPr txBox="1"/>
          <p:nvPr/>
        </p:nvSpPr>
        <p:spPr>
          <a:xfrm>
            <a:off x="3063240" y="3002280"/>
            <a:ext cx="1828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[36,   50]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66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79" name="Line 6"/>
          <p:cNvSpPr/>
          <p:nvPr/>
        </p:nvSpPr>
        <p:spPr>
          <a:xfrm>
            <a:off x="3368040" y="2773680"/>
            <a:ext cx="6096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80" name="Text Box 7"/>
          <p:cNvSpPr txBox="1"/>
          <p:nvPr/>
        </p:nvSpPr>
        <p:spPr>
          <a:xfrm>
            <a:off x="3063240" y="3383280"/>
            <a:ext cx="2514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[36,   50,   66] 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76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81" name="Line 8"/>
          <p:cNvSpPr/>
          <p:nvPr/>
        </p:nvSpPr>
        <p:spPr>
          <a:xfrm flipH="1">
            <a:off x="3291840" y="2773680"/>
            <a:ext cx="533400" cy="304800"/>
          </a:xfrm>
          <a:prstGeom prst="line">
            <a:avLst/>
          </a:prstGeom>
          <a:ln w="9525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82" name="Text Box 9"/>
          <p:cNvSpPr txBox="1"/>
          <p:nvPr/>
        </p:nvSpPr>
        <p:spPr>
          <a:xfrm>
            <a:off x="3063240" y="3840480"/>
            <a:ext cx="32004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[36,   50,   66,  76 ]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95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83" name="Text Box 10"/>
          <p:cNvSpPr txBox="1"/>
          <p:nvPr/>
        </p:nvSpPr>
        <p:spPr>
          <a:xfrm>
            <a:off x="3063240" y="4221480"/>
            <a:ext cx="3657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[36,   50,   66,  76,   95 ]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84" name="Text Box 11"/>
          <p:cNvSpPr txBox="1"/>
          <p:nvPr/>
        </p:nvSpPr>
        <p:spPr>
          <a:xfrm>
            <a:off x="3063240" y="4831080"/>
            <a:ext cx="43434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[12,   36,   50,   66,  76,   95 ] 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444240" y="4602480"/>
            <a:ext cx="2819400" cy="304800"/>
            <a:chOff x="0" y="0"/>
            <a:chExt cx="1776" cy="192"/>
          </a:xfrm>
        </p:grpSpPr>
        <p:sp>
          <p:nvSpPr>
            <p:cNvPr id="254989" name="Line 13"/>
            <p:cNvSpPr/>
            <p:nvPr/>
          </p:nvSpPr>
          <p:spPr>
            <a:xfrm>
              <a:off x="48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0" name="Line 14"/>
            <p:cNvSpPr/>
            <p:nvPr/>
          </p:nvSpPr>
          <p:spPr>
            <a:xfrm>
              <a:off x="384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1" name="Line 15"/>
            <p:cNvSpPr/>
            <p:nvPr/>
          </p:nvSpPr>
          <p:spPr>
            <a:xfrm>
              <a:off x="720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2" name="Line 16"/>
            <p:cNvSpPr/>
            <p:nvPr/>
          </p:nvSpPr>
          <p:spPr>
            <a:xfrm>
              <a:off x="1104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3" name="Line 17"/>
            <p:cNvSpPr/>
            <p:nvPr/>
          </p:nvSpPr>
          <p:spPr>
            <a:xfrm>
              <a:off x="1440" y="0"/>
              <a:ext cx="33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4" name="Line 18"/>
            <p:cNvSpPr/>
            <p:nvPr/>
          </p:nvSpPr>
          <p:spPr>
            <a:xfrm flipH="1">
              <a:off x="0" y="0"/>
              <a:ext cx="1776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59092" name="Text Box 19"/>
          <p:cNvSpPr txBox="1"/>
          <p:nvPr/>
        </p:nvSpPr>
        <p:spPr>
          <a:xfrm>
            <a:off x="3063240" y="5440680"/>
            <a:ext cx="480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[12,   25,   36,   50,   66,  76,  95 ]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endParaRPr lang="en-US" altLang="zh-CN" sz="2000" u="sng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93" name="Text Box 20"/>
          <p:cNvSpPr txBox="1"/>
          <p:nvPr/>
        </p:nvSpPr>
        <p:spPr>
          <a:xfrm>
            <a:off x="3063240" y="5974080"/>
            <a:ext cx="50292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[12,  25,   36,   </a:t>
            </a:r>
            <a:r>
              <a: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 50,   66,  76,   95 ]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4053840" y="5212080"/>
            <a:ext cx="2819400" cy="304800"/>
            <a:chOff x="0" y="0"/>
            <a:chExt cx="1776" cy="192"/>
          </a:xfrm>
        </p:grpSpPr>
        <p:sp>
          <p:nvSpPr>
            <p:cNvPr id="254998" name="Line 22"/>
            <p:cNvSpPr/>
            <p:nvPr/>
          </p:nvSpPr>
          <p:spPr>
            <a:xfrm flipH="1">
              <a:off x="0" y="0"/>
              <a:ext cx="1776" cy="192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4999" name="Line 23"/>
            <p:cNvSpPr/>
            <p:nvPr/>
          </p:nvSpPr>
          <p:spPr>
            <a:xfrm>
              <a:off x="0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0" name="Line 24"/>
            <p:cNvSpPr/>
            <p:nvPr/>
          </p:nvSpPr>
          <p:spPr>
            <a:xfrm>
              <a:off x="336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1" name="Line 25"/>
            <p:cNvSpPr/>
            <p:nvPr/>
          </p:nvSpPr>
          <p:spPr>
            <a:xfrm>
              <a:off x="672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2" name="Line 26"/>
            <p:cNvSpPr/>
            <p:nvPr/>
          </p:nvSpPr>
          <p:spPr>
            <a:xfrm>
              <a:off x="1056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3" name="Line 27"/>
            <p:cNvSpPr/>
            <p:nvPr/>
          </p:nvSpPr>
          <p:spPr>
            <a:xfrm>
              <a:off x="1440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29"/>
          <p:cNvGrpSpPr/>
          <p:nvPr/>
        </p:nvGrpSpPr>
        <p:grpSpPr>
          <a:xfrm>
            <a:off x="5196840" y="5745480"/>
            <a:ext cx="2209800" cy="304800"/>
            <a:chOff x="0" y="0"/>
            <a:chExt cx="1392" cy="192"/>
          </a:xfrm>
        </p:grpSpPr>
        <p:sp>
          <p:nvSpPr>
            <p:cNvPr id="255005" name="Line 29"/>
            <p:cNvSpPr/>
            <p:nvPr/>
          </p:nvSpPr>
          <p:spPr>
            <a:xfrm flipH="1">
              <a:off x="48" y="48"/>
              <a:ext cx="1344" cy="144"/>
            </a:xfrm>
            <a:prstGeom prst="line">
              <a:avLst/>
            </a:prstGeom>
            <a:ln w="9525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6" name="Line 30"/>
            <p:cNvSpPr/>
            <p:nvPr/>
          </p:nvSpPr>
          <p:spPr>
            <a:xfrm>
              <a:off x="0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7" name="Line 31"/>
            <p:cNvSpPr/>
            <p:nvPr/>
          </p:nvSpPr>
          <p:spPr>
            <a:xfrm>
              <a:off x="384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8" name="Line 32"/>
            <p:cNvSpPr/>
            <p:nvPr/>
          </p:nvSpPr>
          <p:spPr>
            <a:xfrm>
              <a:off x="720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5009" name="Line 33"/>
            <p:cNvSpPr/>
            <p:nvPr/>
          </p:nvSpPr>
          <p:spPr>
            <a:xfrm>
              <a:off x="1104" y="0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5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9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7" grpId="0"/>
      <p:bldP spid="259078" grpId="0"/>
      <p:bldP spid="259080" grpId="0"/>
      <p:bldP spid="259082" grpId="0"/>
      <p:bldP spid="259083" grpId="0"/>
      <p:bldP spid="259084" grpId="0"/>
      <p:bldP spid="259092" grpId="0"/>
      <p:bldP spid="2590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3545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折半插入排序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12149" y="980475"/>
            <a:ext cx="7781055" cy="5040560"/>
          </a:xfrm>
        </p:spPr>
        <p:txBody>
          <a:bodyPr/>
          <a:lstStyle/>
          <a:p>
            <a:pPr algn="just"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排序算法的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T(n)=O(n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),</a:t>
            </a:r>
            <a:r>
              <a:rPr sz="2000" dirty="0">
                <a:solidFill>
                  <a:schemeClr val="bg1"/>
                </a:solidFill>
                <a:sym typeface="+mn-ea"/>
              </a:rPr>
              <a:t>是内排序时耗最高的时间复杂度。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8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8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折半插入排序方法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8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先将（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R[1]</a:t>
            </a:r>
            <a:r>
              <a:rPr sz="2000" dirty="0">
                <a:solidFill>
                  <a:schemeClr val="bg1"/>
                </a:solidFill>
                <a:sym typeface="+mn-ea"/>
              </a:rPr>
              <a:t>）看成一个子文件，然后依次插入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R[2]……R[n]</a:t>
            </a:r>
            <a:r>
              <a:rPr sz="2000" dirty="0">
                <a:solidFill>
                  <a:schemeClr val="bg1"/>
                </a:solidFill>
                <a:sym typeface="+mn-ea"/>
              </a:rPr>
              <a:t>。但在插入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时，子表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[R[1]……R[i-1]]</a:t>
            </a:r>
            <a:r>
              <a:rPr sz="2000" dirty="0">
                <a:solidFill>
                  <a:schemeClr val="bg1"/>
                </a:solidFill>
                <a:sym typeface="+mn-ea"/>
              </a:rPr>
              <a:t>已是有序的，查找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sym typeface="+mn-ea"/>
              </a:rPr>
              <a:t>在子表中的位置可按折半查找方法进行，从而降低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的比较次数。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09994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折半插入排序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9376" y="1186815"/>
            <a:ext cx="10725785" cy="4484370"/>
          </a:xfrm>
        </p:spPr>
        <p:txBody>
          <a:bodyPr/>
          <a:lstStyle/>
          <a:p>
            <a:pPr eaLnBrk="1" hangingPunct="1"/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    </a:t>
            </a:r>
            <a:r>
              <a:rPr sz="1800" dirty="0">
                <a:solidFill>
                  <a:schemeClr val="bg1"/>
                </a:solidFill>
                <a:sym typeface="+mn-ea"/>
              </a:rPr>
              <a:t>设当前子表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key</a:t>
            </a:r>
            <a:r>
              <a:rPr sz="1800" dirty="0">
                <a:solidFill>
                  <a:schemeClr val="bg1"/>
                </a:solidFill>
                <a:sym typeface="+mn-ea"/>
              </a:rPr>
              <a:t>序列及插入的</a:t>
            </a:r>
            <a:r>
              <a:rPr lang="en-US" altLang="zh-CN" sz="1800" dirty="0" err="1">
                <a:solidFill>
                  <a:schemeClr val="bg1"/>
                </a:solidFill>
                <a:sym typeface="+mn-ea"/>
              </a:rPr>
              <a:t>k</a:t>
            </a:r>
            <a:r>
              <a:rPr lang="en-US" altLang="zh-CN" sz="1800" baseline="-30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=28</a:t>
            </a:r>
            <a:r>
              <a:rPr sz="1800" dirty="0">
                <a:solidFill>
                  <a:schemeClr val="bg1"/>
                </a:solidFill>
                <a:sym typeface="+mn-ea"/>
              </a:rPr>
              <a:t>如下：</a:t>
            </a:r>
            <a:endParaRPr lang="zh-CN" altLang="en-US" sz="1800" dirty="0">
              <a:solidFill>
                <a:schemeClr val="bg1"/>
              </a:solidFill>
            </a:endParaRPr>
          </a:p>
          <a:p>
            <a:pPr eaLnBrk="1" hangingPunct="1"/>
            <a:r>
              <a:rPr sz="1800" dirty="0">
                <a:solidFill>
                  <a:schemeClr val="bg1"/>
                </a:solidFill>
                <a:sym typeface="+mn-ea"/>
              </a:rPr>
              <a:t>         序号：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1        2        3        4        5        6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x-none" sz="1800" dirty="0">
                <a:solidFill>
                  <a:schemeClr val="bg1"/>
                </a:solidFill>
                <a:sym typeface="+mn-ea"/>
              </a:rPr>
              <a:t> 	    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[15      20      25     3 0      35      40] 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 28</a:t>
            </a:r>
            <a:endParaRPr lang="en-US" altLang="zh-CN" sz="1800" b="1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1800" b="1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	     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low	                                         high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 </a:t>
            </a:r>
            <a:endParaRPr lang="en-US" altLang="zh-CN" sz="1800" b="1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      </a:t>
            </a:r>
            <a:endParaRPr lang="en-US" altLang="zh-CN" sz="1800" b="1" dirty="0">
              <a:solidFill>
                <a:schemeClr val="bg1"/>
              </a:solidFill>
            </a:endParaRPr>
          </a:p>
          <a:p>
            <a:pPr eaLnBrk="1" hangingPunct="1"/>
            <a:r>
              <a:rPr sz="1800" b="1" dirty="0">
                <a:solidFill>
                  <a:schemeClr val="bg1"/>
                </a:solidFill>
                <a:sym typeface="+mn-ea"/>
              </a:rPr>
              <a:t>     令</a:t>
            </a:r>
            <a:r>
              <a:rPr sz="1800" dirty="0">
                <a:solidFill>
                  <a:schemeClr val="bg1"/>
                </a:solidFill>
                <a:sym typeface="+mn-ea"/>
              </a:rPr>
              <a:t> ：</a:t>
            </a:r>
            <a:endParaRPr lang="zh-CN" altLang="en-US" sz="18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259076" name="Line 4"/>
          <p:cNvSpPr/>
          <p:nvPr/>
        </p:nvSpPr>
        <p:spPr>
          <a:xfrm flipV="1">
            <a:off x="1981200" y="2362200"/>
            <a:ext cx="0" cy="4572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077" name="Line 5"/>
          <p:cNvSpPr/>
          <p:nvPr/>
        </p:nvSpPr>
        <p:spPr>
          <a:xfrm flipV="1">
            <a:off x="5181600" y="2362200"/>
            <a:ext cx="0" cy="3810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59078" name="Object 7"/>
          <p:cNvGraphicFramePr>
            <a:graphicFrameLocks noChangeAspect="1"/>
          </p:cNvGraphicFramePr>
          <p:nvPr/>
        </p:nvGraphicFramePr>
        <p:xfrm>
          <a:off x="944245" y="4277360"/>
          <a:ext cx="2693670" cy="426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" r:id="rId1" imgW="1449705" imgH="228600" progId="Equation.3">
                  <p:embed/>
                </p:oleObj>
              </mc:Choice>
              <mc:Fallback>
                <p:oleObj name="" r:id="rId1" imgW="1449705" imgH="2286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4245" y="4277360"/>
                        <a:ext cx="2693670" cy="426085"/>
                      </a:xfrm>
                      <a:prstGeom prst="rect">
                        <a:avLst/>
                      </a:prstGeom>
                      <a:solidFill>
                        <a:srgbClr val="C3DD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9" name="Line 7"/>
          <p:cNvSpPr/>
          <p:nvPr/>
        </p:nvSpPr>
        <p:spPr>
          <a:xfrm flipV="1">
            <a:off x="3276600" y="2286000"/>
            <a:ext cx="0" cy="12192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" name="Group 9"/>
          <p:cNvGrpSpPr/>
          <p:nvPr/>
        </p:nvGrpSpPr>
        <p:grpSpPr>
          <a:xfrm>
            <a:off x="3352800" y="2362200"/>
            <a:ext cx="609600" cy="777875"/>
            <a:chOff x="0" y="0"/>
            <a:chExt cx="384" cy="490"/>
          </a:xfrm>
        </p:grpSpPr>
        <p:sp>
          <p:nvSpPr>
            <p:cNvPr id="259081" name="Text Box 9"/>
            <p:cNvSpPr txBox="1"/>
            <p:nvPr/>
          </p:nvSpPr>
          <p:spPr>
            <a:xfrm>
              <a:off x="0" y="24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low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9082" name="Line 10"/>
            <p:cNvSpPr/>
            <p:nvPr/>
          </p:nvSpPr>
          <p:spPr>
            <a:xfrm flipV="1">
              <a:off x="288" y="0"/>
              <a:ext cx="0" cy="28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63180" name="Line 11"/>
          <p:cNvSpPr/>
          <p:nvPr/>
        </p:nvSpPr>
        <p:spPr>
          <a:xfrm flipV="1">
            <a:off x="4495800" y="2286000"/>
            <a:ext cx="0" cy="12192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" name="Group 13"/>
          <p:cNvGrpSpPr/>
          <p:nvPr/>
        </p:nvGrpSpPr>
        <p:grpSpPr>
          <a:xfrm>
            <a:off x="3810000" y="2286000"/>
            <a:ext cx="762000" cy="1143000"/>
            <a:chOff x="0" y="0"/>
            <a:chExt cx="480" cy="720"/>
          </a:xfrm>
        </p:grpSpPr>
        <p:sp>
          <p:nvSpPr>
            <p:cNvPr id="259085" name="Text Box 13"/>
            <p:cNvSpPr txBox="1"/>
            <p:nvPr/>
          </p:nvSpPr>
          <p:spPr>
            <a:xfrm>
              <a:off x="0" y="47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high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9086" name="Line 14"/>
            <p:cNvSpPr/>
            <p:nvPr/>
          </p:nvSpPr>
          <p:spPr>
            <a:xfrm flipV="1">
              <a:off x="96" y="0"/>
              <a:ext cx="0" cy="49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63184" name="Line 15"/>
          <p:cNvSpPr/>
          <p:nvPr/>
        </p:nvSpPr>
        <p:spPr>
          <a:xfrm flipV="1">
            <a:off x="3886200" y="2286000"/>
            <a:ext cx="0" cy="121920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7" name="Group 17"/>
          <p:cNvGrpSpPr/>
          <p:nvPr/>
        </p:nvGrpSpPr>
        <p:grpSpPr>
          <a:xfrm>
            <a:off x="2667000" y="2286000"/>
            <a:ext cx="762000" cy="1143000"/>
            <a:chOff x="0" y="0"/>
            <a:chExt cx="480" cy="720"/>
          </a:xfrm>
        </p:grpSpPr>
        <p:sp>
          <p:nvSpPr>
            <p:cNvPr id="259089" name="Text Box 17"/>
            <p:cNvSpPr txBox="1"/>
            <p:nvPr/>
          </p:nvSpPr>
          <p:spPr>
            <a:xfrm>
              <a:off x="0" y="47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high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9090" name="Line 18"/>
            <p:cNvSpPr/>
            <p:nvPr/>
          </p:nvSpPr>
          <p:spPr>
            <a:xfrm flipV="1">
              <a:off x="336" y="0"/>
              <a:ext cx="0" cy="49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链表插入排序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6" y="1245523"/>
            <a:ext cx="7838440" cy="4608512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设待排序文件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f=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），对应的存储结构为单链表结构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endParaRPr sz="2000" b="1" dirty="0">
              <a:solidFill>
                <a:schemeClr val="bg1"/>
              </a:solidFill>
              <a:sym typeface="+mn-ea"/>
            </a:endParaRPr>
          </a:p>
          <a:p>
            <a:pPr algn="just" eaLnBrk="1" hangingPunct="1"/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链表插入排序实际上是一个对链表遍历的过程。先将表置为空表，然后依次扫描链表中每个结点，设其指针为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</a:t>
            </a:r>
            <a:r>
              <a:rPr sz="2000" dirty="0">
                <a:solidFill>
                  <a:schemeClr val="bg1"/>
                </a:solidFill>
                <a:sym typeface="+mn-ea"/>
              </a:rPr>
              <a:t>，搜索到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p</a:t>
            </a:r>
            <a:r>
              <a:rPr sz="2000" dirty="0">
                <a:solidFill>
                  <a:schemeClr val="bg1"/>
                </a:solidFill>
                <a:sym typeface="+mn-ea"/>
              </a:rPr>
              <a:t>结点在当前子表的适当位置，将其插入。  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61141" name="Text Box 22"/>
          <p:cNvSpPr txBox="1"/>
          <p:nvPr/>
        </p:nvSpPr>
        <p:spPr>
          <a:xfrm>
            <a:off x="588596" y="2040107"/>
            <a:ext cx="7620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L                                          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1124" name="Group 5"/>
          <p:cNvGrpSpPr/>
          <p:nvPr/>
        </p:nvGrpSpPr>
        <p:grpSpPr>
          <a:xfrm>
            <a:off x="909320" y="2268795"/>
            <a:ext cx="7924800" cy="457200"/>
            <a:chOff x="0" y="0"/>
            <a:chExt cx="4992" cy="288"/>
          </a:xfrm>
        </p:grpSpPr>
        <p:grpSp>
          <p:nvGrpSpPr>
            <p:cNvPr id="261125" name="Group 6"/>
            <p:cNvGrpSpPr/>
            <p:nvPr/>
          </p:nvGrpSpPr>
          <p:grpSpPr>
            <a:xfrm>
              <a:off x="0" y="0"/>
              <a:ext cx="4992" cy="288"/>
              <a:chOff x="0" y="0"/>
              <a:chExt cx="4992" cy="288"/>
            </a:xfrm>
          </p:grpSpPr>
          <p:grpSp>
            <p:nvGrpSpPr>
              <p:cNvPr id="261126" name="Group 7"/>
              <p:cNvGrpSpPr/>
              <p:nvPr/>
            </p:nvGrpSpPr>
            <p:grpSpPr>
              <a:xfrm>
                <a:off x="0" y="0"/>
                <a:ext cx="4992" cy="288"/>
                <a:chOff x="0" y="0"/>
                <a:chExt cx="4992" cy="288"/>
              </a:xfrm>
            </p:grpSpPr>
            <p:sp>
              <p:nvSpPr>
                <p:cNvPr id="261127" name="Rectangle 8"/>
                <p:cNvSpPr/>
                <p:nvPr/>
              </p:nvSpPr>
              <p:spPr>
                <a:xfrm>
                  <a:off x="336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1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</a:t>
                  </a:r>
                  <a:endPara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28" name="Rectangle 9"/>
                <p:cNvSpPr/>
                <p:nvPr/>
              </p:nvSpPr>
              <p:spPr>
                <a:xfrm>
                  <a:off x="873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endPara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29" name="Rectangle 10"/>
                <p:cNvSpPr/>
                <p:nvPr/>
              </p:nvSpPr>
              <p:spPr>
                <a:xfrm>
                  <a:off x="1776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20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30" name="Rectangle 11"/>
                <p:cNvSpPr/>
                <p:nvPr/>
              </p:nvSpPr>
              <p:spPr>
                <a:xfrm>
                  <a:off x="2313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1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   </a:t>
                  </a:r>
                  <a:endPara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31" name="Rectangle 12"/>
                <p:cNvSpPr/>
                <p:nvPr/>
              </p:nvSpPr>
              <p:spPr>
                <a:xfrm>
                  <a:off x="3888" y="0"/>
                  <a:ext cx="567" cy="288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ctr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2000" baseline="-30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n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32" name="Rectangle 13"/>
                <p:cNvSpPr/>
                <p:nvPr/>
              </p:nvSpPr>
              <p:spPr>
                <a:xfrm>
                  <a:off x="4425" y="0"/>
                  <a:ext cx="567" cy="288"/>
                </a:xfrm>
                <a:prstGeom prst="rect">
                  <a:avLst/>
                </a:prstGeom>
                <a:solidFill>
                  <a:srgbClr val="FFCC0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pPr algn="just" eaLnBrk="0" hangingPunct="0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  ^</a:t>
                  </a:r>
                  <a:endPara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just" eaLnBrk="0" hangingPunct="0"/>
                  <a:r>
                    <a:rPr lang="en-US" altLang="zh-CN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  </a:t>
                  </a:r>
                  <a:endPara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133" name="Line 14"/>
                <p:cNvSpPr/>
                <p:nvPr/>
              </p:nvSpPr>
              <p:spPr>
                <a:xfrm>
                  <a:off x="0" y="144"/>
                  <a:ext cx="336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61134" name="Line 15"/>
                <p:cNvSpPr/>
                <p:nvPr/>
              </p:nvSpPr>
              <p:spPr>
                <a:xfrm>
                  <a:off x="1152" y="144"/>
                  <a:ext cx="62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61135" name="Line 16"/>
                <p:cNvSpPr/>
                <p:nvPr/>
              </p:nvSpPr>
              <p:spPr>
                <a:xfrm>
                  <a:off x="2592" y="144"/>
                  <a:ext cx="528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61136" name="Line 17"/>
                <p:cNvSpPr/>
                <p:nvPr/>
              </p:nvSpPr>
              <p:spPr>
                <a:xfrm>
                  <a:off x="3504" y="144"/>
                  <a:ext cx="384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261137" name="Line 18"/>
              <p:cNvSpPr/>
              <p:nvPr/>
            </p:nvSpPr>
            <p:spPr>
              <a:xfrm flipH="1">
                <a:off x="336" y="0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1138" name="Line 19"/>
              <p:cNvSpPr/>
              <p:nvPr/>
            </p:nvSpPr>
            <p:spPr>
              <a:xfrm flipH="1">
                <a:off x="528" y="0"/>
                <a:ext cx="336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1139" name="Line 20"/>
              <p:cNvSpPr/>
              <p:nvPr/>
            </p:nvSpPr>
            <p:spPr>
              <a:xfrm flipH="1">
                <a:off x="336" y="0"/>
                <a:ext cx="336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61140" name="Line 21"/>
            <p:cNvSpPr/>
            <p:nvPr/>
          </p:nvSpPr>
          <p:spPr>
            <a:xfrm flipH="1">
              <a:off x="720" y="144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812745" y="1628800"/>
            <a:ext cx="9217024" cy="509267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6385" y="320868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链表插入排序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84530" y="1074420"/>
            <a:ext cx="10736580" cy="56007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</a:t>
            </a:r>
            <a:r>
              <a:rPr sz="2000" dirty="0">
                <a:solidFill>
                  <a:schemeClr val="bg1"/>
                </a:solidFill>
                <a:sym typeface="+mn-ea"/>
              </a:rPr>
              <a:t>设含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4</a:t>
            </a:r>
            <a:r>
              <a:rPr sz="2000" dirty="0">
                <a:solidFill>
                  <a:schemeClr val="bg1"/>
                </a:solidFill>
                <a:sym typeface="+mn-ea"/>
              </a:rPr>
              <a:t>个记录的链表如图：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000" b="1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Group 5"/>
          <p:cNvGrpSpPr/>
          <p:nvPr/>
        </p:nvGrpSpPr>
        <p:grpSpPr>
          <a:xfrm>
            <a:off x="1122045" y="2468880"/>
            <a:ext cx="1870075" cy="457200"/>
            <a:chOff x="0" y="0"/>
            <a:chExt cx="1178" cy="288"/>
          </a:xfrm>
        </p:grpSpPr>
        <p:sp>
          <p:nvSpPr>
            <p:cNvPr id="262149" name="Rectangle 5"/>
            <p:cNvSpPr/>
            <p:nvPr/>
          </p:nvSpPr>
          <p:spPr>
            <a:xfrm>
              <a:off x="440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50" name="Rectangle 6"/>
            <p:cNvSpPr/>
            <p:nvPr/>
          </p:nvSpPr>
          <p:spPr>
            <a:xfrm>
              <a:off x="799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51" name="Line 7"/>
            <p:cNvSpPr/>
            <p:nvPr/>
          </p:nvSpPr>
          <p:spPr>
            <a:xfrm>
              <a:off x="215" y="160"/>
              <a:ext cx="2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2152" name="Line 8"/>
            <p:cNvSpPr/>
            <p:nvPr/>
          </p:nvSpPr>
          <p:spPr>
            <a:xfrm flipH="1">
              <a:off x="439" y="32"/>
              <a:ext cx="129" cy="1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2153" name="Line 9"/>
            <p:cNvSpPr/>
            <p:nvPr/>
          </p:nvSpPr>
          <p:spPr>
            <a:xfrm flipH="1">
              <a:off x="568" y="32"/>
              <a:ext cx="225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2154" name="Line 10"/>
            <p:cNvSpPr/>
            <p:nvPr/>
          </p:nvSpPr>
          <p:spPr>
            <a:xfrm flipH="1">
              <a:off x="439" y="32"/>
              <a:ext cx="225" cy="2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2155" name="Line 11"/>
            <p:cNvSpPr/>
            <p:nvPr/>
          </p:nvSpPr>
          <p:spPr>
            <a:xfrm flipH="1">
              <a:off x="672" y="168"/>
              <a:ext cx="125" cy="1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2156" name="Text Box 12"/>
            <p:cNvSpPr txBox="1"/>
            <p:nvPr/>
          </p:nvSpPr>
          <p:spPr>
            <a:xfrm>
              <a:off x="0" y="0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4"/>
          <p:cNvGrpSpPr/>
          <p:nvPr/>
        </p:nvGrpSpPr>
        <p:grpSpPr>
          <a:xfrm>
            <a:off x="3220720" y="2392680"/>
            <a:ext cx="6477000" cy="609600"/>
            <a:chOff x="0" y="0"/>
            <a:chExt cx="4080" cy="384"/>
          </a:xfrm>
        </p:grpSpPr>
        <p:grpSp>
          <p:nvGrpSpPr>
            <p:cNvPr id="262158" name="Group 15"/>
            <p:cNvGrpSpPr/>
            <p:nvPr/>
          </p:nvGrpSpPr>
          <p:grpSpPr>
            <a:xfrm>
              <a:off x="103" y="112"/>
              <a:ext cx="3977" cy="272"/>
              <a:chOff x="0" y="0"/>
              <a:chExt cx="3977" cy="272"/>
            </a:xfrm>
          </p:grpSpPr>
          <p:sp>
            <p:nvSpPr>
              <p:cNvPr id="262159" name="Rectangle 15"/>
              <p:cNvSpPr/>
              <p:nvPr/>
            </p:nvSpPr>
            <p:spPr>
              <a:xfrm>
                <a:off x="417" y="0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50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0" name="Rectangle 16"/>
              <p:cNvSpPr/>
              <p:nvPr/>
            </p:nvSpPr>
            <p:spPr>
              <a:xfrm>
                <a:off x="776" y="0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1" name="Rectangle 17"/>
              <p:cNvSpPr/>
              <p:nvPr/>
            </p:nvSpPr>
            <p:spPr>
              <a:xfrm>
                <a:off x="1319" y="0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36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2" name="Rectangle 18"/>
              <p:cNvSpPr/>
              <p:nvPr/>
            </p:nvSpPr>
            <p:spPr>
              <a:xfrm>
                <a:off x="1678" y="0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3" name="Line 19"/>
              <p:cNvSpPr/>
              <p:nvPr/>
            </p:nvSpPr>
            <p:spPr>
              <a:xfrm>
                <a:off x="963" y="128"/>
                <a:ext cx="35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</p:spPr>
          </p:sp>
          <p:sp>
            <p:nvSpPr>
              <p:cNvPr id="262164" name="Rectangle 20"/>
              <p:cNvSpPr/>
              <p:nvPr/>
            </p:nvSpPr>
            <p:spPr>
              <a:xfrm>
                <a:off x="2279" y="16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66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5" name="Rectangle 21"/>
              <p:cNvSpPr/>
              <p:nvPr/>
            </p:nvSpPr>
            <p:spPr>
              <a:xfrm>
                <a:off x="2638" y="16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6" name="Rectangle 22"/>
              <p:cNvSpPr/>
              <p:nvPr/>
            </p:nvSpPr>
            <p:spPr>
              <a:xfrm>
                <a:off x="3239" y="16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12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7" name="Rectangle 23"/>
              <p:cNvSpPr/>
              <p:nvPr/>
            </p:nvSpPr>
            <p:spPr>
              <a:xfrm>
                <a:off x="3598" y="16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^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68" name="Line 24"/>
              <p:cNvSpPr/>
              <p:nvPr/>
            </p:nvSpPr>
            <p:spPr>
              <a:xfrm>
                <a:off x="1878" y="160"/>
                <a:ext cx="40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</p:spPr>
          </p:sp>
          <p:sp>
            <p:nvSpPr>
              <p:cNvPr id="262169" name="Line 25"/>
              <p:cNvSpPr/>
              <p:nvPr/>
            </p:nvSpPr>
            <p:spPr>
              <a:xfrm>
                <a:off x="2838" y="160"/>
                <a:ext cx="40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</p:spPr>
          </p:sp>
          <p:sp>
            <p:nvSpPr>
              <p:cNvPr id="262170" name="Line 26"/>
              <p:cNvSpPr/>
              <p:nvPr/>
            </p:nvSpPr>
            <p:spPr>
              <a:xfrm>
                <a:off x="0" y="128"/>
                <a:ext cx="41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oval" w="med" len="med"/>
                <a:tailEnd type="triangle" w="med" len="med"/>
              </a:ln>
            </p:spPr>
          </p:sp>
        </p:grpSp>
        <p:sp>
          <p:nvSpPr>
            <p:cNvPr id="262171" name="Text Box 27"/>
            <p:cNvSpPr txBox="1"/>
            <p:nvPr/>
          </p:nvSpPr>
          <p:spPr>
            <a:xfrm>
              <a:off x="0" y="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269" name="Text Box 28"/>
          <p:cNvSpPr txBox="1"/>
          <p:nvPr/>
        </p:nvSpPr>
        <p:spPr>
          <a:xfrm>
            <a:off x="1239520" y="3002280"/>
            <a:ext cx="1905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0" name="Text Box 29"/>
          <p:cNvSpPr txBox="1"/>
          <p:nvPr/>
        </p:nvSpPr>
        <p:spPr>
          <a:xfrm>
            <a:off x="1163320" y="2164080"/>
            <a:ext cx="1905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初始化 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" name="Group 31"/>
          <p:cNvGrpSpPr/>
          <p:nvPr/>
        </p:nvGrpSpPr>
        <p:grpSpPr>
          <a:xfrm>
            <a:off x="1087120" y="3383280"/>
            <a:ext cx="3429000" cy="457200"/>
            <a:chOff x="0" y="0"/>
            <a:chExt cx="2160" cy="288"/>
          </a:xfrm>
        </p:grpSpPr>
        <p:grpSp>
          <p:nvGrpSpPr>
            <p:cNvPr id="262175" name="Group 32"/>
            <p:cNvGrpSpPr/>
            <p:nvPr/>
          </p:nvGrpSpPr>
          <p:grpSpPr>
            <a:xfrm>
              <a:off x="0" y="0"/>
              <a:ext cx="1178" cy="288"/>
              <a:chOff x="0" y="0"/>
              <a:chExt cx="1178" cy="288"/>
            </a:xfrm>
          </p:grpSpPr>
          <p:sp>
            <p:nvSpPr>
              <p:cNvPr id="262176" name="Rectangle 32"/>
              <p:cNvSpPr/>
              <p:nvPr/>
            </p:nvSpPr>
            <p:spPr>
              <a:xfrm>
                <a:off x="440" y="32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77" name="Rectangle 33"/>
              <p:cNvSpPr/>
              <p:nvPr/>
            </p:nvSpPr>
            <p:spPr>
              <a:xfrm>
                <a:off x="799" y="32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ctr" eaLnBrk="0" hangingPunct="0"/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178" name="Line 34"/>
              <p:cNvSpPr/>
              <p:nvPr/>
            </p:nvSpPr>
            <p:spPr>
              <a:xfrm>
                <a:off x="215" y="160"/>
                <a:ext cx="2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2179" name="Line 35"/>
              <p:cNvSpPr/>
              <p:nvPr/>
            </p:nvSpPr>
            <p:spPr>
              <a:xfrm flipH="1">
                <a:off x="439" y="32"/>
                <a:ext cx="129" cy="1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180" name="Line 36"/>
              <p:cNvSpPr/>
              <p:nvPr/>
            </p:nvSpPr>
            <p:spPr>
              <a:xfrm flipH="1">
                <a:off x="568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181" name="Line 37"/>
              <p:cNvSpPr/>
              <p:nvPr/>
            </p:nvSpPr>
            <p:spPr>
              <a:xfrm flipH="1">
                <a:off x="439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182" name="Line 38"/>
              <p:cNvSpPr/>
              <p:nvPr/>
            </p:nvSpPr>
            <p:spPr>
              <a:xfrm flipH="1">
                <a:off x="672" y="168"/>
                <a:ext cx="125" cy="1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183" name="Text Box 39"/>
              <p:cNvSpPr txBox="1"/>
              <p:nvPr/>
            </p:nvSpPr>
            <p:spPr>
              <a:xfrm>
                <a:off x="0" y="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184" name="Rectangle 40"/>
            <p:cNvSpPr/>
            <p:nvPr/>
          </p:nvSpPr>
          <p:spPr>
            <a:xfrm>
              <a:off x="1422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50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85" name="Rectangle 41"/>
            <p:cNvSpPr/>
            <p:nvPr/>
          </p:nvSpPr>
          <p:spPr>
            <a:xfrm>
              <a:off x="1781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^  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86" name="Line 42"/>
            <p:cNvSpPr/>
            <p:nvPr/>
          </p:nvSpPr>
          <p:spPr>
            <a:xfrm>
              <a:off x="1008" y="14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8" name="Group 44"/>
          <p:cNvGrpSpPr/>
          <p:nvPr/>
        </p:nvGrpSpPr>
        <p:grpSpPr>
          <a:xfrm>
            <a:off x="4668520" y="3307080"/>
            <a:ext cx="4953000" cy="609600"/>
            <a:chOff x="0" y="0"/>
            <a:chExt cx="3120" cy="384"/>
          </a:xfrm>
        </p:grpSpPr>
        <p:sp>
          <p:nvSpPr>
            <p:cNvPr id="262188" name="Rectangle 44"/>
            <p:cNvSpPr/>
            <p:nvPr/>
          </p:nvSpPr>
          <p:spPr>
            <a:xfrm>
              <a:off x="462" y="11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89" name="Rectangle 45"/>
            <p:cNvSpPr/>
            <p:nvPr/>
          </p:nvSpPr>
          <p:spPr>
            <a:xfrm>
              <a:off x="821" y="11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90" name="Line 46"/>
            <p:cNvSpPr/>
            <p:nvPr/>
          </p:nvSpPr>
          <p:spPr>
            <a:xfrm>
              <a:off x="106" y="240"/>
              <a:ext cx="3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191" name="Rectangle 47"/>
            <p:cNvSpPr/>
            <p:nvPr/>
          </p:nvSpPr>
          <p:spPr>
            <a:xfrm>
              <a:off x="1422" y="12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66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92" name="Rectangle 48"/>
            <p:cNvSpPr/>
            <p:nvPr/>
          </p:nvSpPr>
          <p:spPr>
            <a:xfrm>
              <a:off x="1781" y="12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93" name="Rectangle 49"/>
            <p:cNvSpPr/>
            <p:nvPr/>
          </p:nvSpPr>
          <p:spPr>
            <a:xfrm>
              <a:off x="2382" y="12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12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94" name="Rectangle 50"/>
            <p:cNvSpPr/>
            <p:nvPr/>
          </p:nvSpPr>
          <p:spPr>
            <a:xfrm>
              <a:off x="2741" y="12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195" name="Line 51"/>
            <p:cNvSpPr/>
            <p:nvPr/>
          </p:nvSpPr>
          <p:spPr>
            <a:xfrm>
              <a:off x="1021" y="27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196" name="Line 52"/>
            <p:cNvSpPr/>
            <p:nvPr/>
          </p:nvSpPr>
          <p:spPr>
            <a:xfrm>
              <a:off x="1981" y="27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197" name="Text Box 53"/>
            <p:cNvSpPr txBox="1"/>
            <p:nvPr/>
          </p:nvSpPr>
          <p:spPr>
            <a:xfrm>
              <a:off x="0" y="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295" name="Text Box 54"/>
          <p:cNvSpPr txBox="1"/>
          <p:nvPr/>
        </p:nvSpPr>
        <p:spPr>
          <a:xfrm>
            <a:off x="1239520" y="3916680"/>
            <a:ext cx="1905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Group 56"/>
          <p:cNvGrpSpPr/>
          <p:nvPr/>
        </p:nvGrpSpPr>
        <p:grpSpPr>
          <a:xfrm>
            <a:off x="1087120" y="4297680"/>
            <a:ext cx="4829175" cy="457200"/>
            <a:chOff x="0" y="0"/>
            <a:chExt cx="3042" cy="288"/>
          </a:xfrm>
        </p:grpSpPr>
        <p:grpSp>
          <p:nvGrpSpPr>
            <p:cNvPr id="262200" name="Group 57"/>
            <p:cNvGrpSpPr/>
            <p:nvPr/>
          </p:nvGrpSpPr>
          <p:grpSpPr>
            <a:xfrm>
              <a:off x="0" y="0"/>
              <a:ext cx="1178" cy="288"/>
              <a:chOff x="0" y="0"/>
              <a:chExt cx="1178" cy="288"/>
            </a:xfrm>
          </p:grpSpPr>
          <p:sp>
            <p:nvSpPr>
              <p:cNvPr id="262201" name="Rectangle 57"/>
              <p:cNvSpPr/>
              <p:nvPr/>
            </p:nvSpPr>
            <p:spPr>
              <a:xfrm>
                <a:off x="440" y="32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02" name="Rectangle 58"/>
              <p:cNvSpPr/>
              <p:nvPr/>
            </p:nvSpPr>
            <p:spPr>
              <a:xfrm>
                <a:off x="799" y="32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03" name="Line 59"/>
              <p:cNvSpPr/>
              <p:nvPr/>
            </p:nvSpPr>
            <p:spPr>
              <a:xfrm>
                <a:off x="215" y="160"/>
                <a:ext cx="2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2204" name="Line 60"/>
              <p:cNvSpPr/>
              <p:nvPr/>
            </p:nvSpPr>
            <p:spPr>
              <a:xfrm flipH="1">
                <a:off x="439" y="32"/>
                <a:ext cx="129" cy="1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05" name="Line 61"/>
              <p:cNvSpPr/>
              <p:nvPr/>
            </p:nvSpPr>
            <p:spPr>
              <a:xfrm flipH="1">
                <a:off x="568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06" name="Line 62"/>
              <p:cNvSpPr/>
              <p:nvPr/>
            </p:nvSpPr>
            <p:spPr>
              <a:xfrm flipH="1">
                <a:off x="439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07" name="Line 63"/>
              <p:cNvSpPr/>
              <p:nvPr/>
            </p:nvSpPr>
            <p:spPr>
              <a:xfrm flipH="1">
                <a:off x="672" y="168"/>
                <a:ext cx="125" cy="1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08" name="Text Box 64"/>
              <p:cNvSpPr txBox="1"/>
              <p:nvPr/>
            </p:nvSpPr>
            <p:spPr>
              <a:xfrm>
                <a:off x="0" y="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209" name="Rectangle 65"/>
            <p:cNvSpPr/>
            <p:nvPr/>
          </p:nvSpPr>
          <p:spPr>
            <a:xfrm>
              <a:off x="1402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36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0" name="Rectangle 66"/>
            <p:cNvSpPr/>
            <p:nvPr/>
          </p:nvSpPr>
          <p:spPr>
            <a:xfrm>
              <a:off x="1761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1" name="Rectangle 67"/>
            <p:cNvSpPr/>
            <p:nvPr/>
          </p:nvSpPr>
          <p:spPr>
            <a:xfrm>
              <a:off x="2304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2" name="Rectangle 68"/>
            <p:cNvSpPr/>
            <p:nvPr/>
          </p:nvSpPr>
          <p:spPr>
            <a:xfrm>
              <a:off x="2663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3" name="Line 69"/>
            <p:cNvSpPr/>
            <p:nvPr/>
          </p:nvSpPr>
          <p:spPr>
            <a:xfrm>
              <a:off x="1948" y="160"/>
              <a:ext cx="3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14" name="Line 70"/>
            <p:cNvSpPr/>
            <p:nvPr/>
          </p:nvSpPr>
          <p:spPr>
            <a:xfrm>
              <a:off x="985" y="160"/>
              <a:ext cx="4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0" name="Group 72"/>
          <p:cNvGrpSpPr/>
          <p:nvPr/>
        </p:nvGrpSpPr>
        <p:grpSpPr>
          <a:xfrm>
            <a:off x="6192520" y="4145280"/>
            <a:ext cx="3505200" cy="609600"/>
            <a:chOff x="0" y="0"/>
            <a:chExt cx="2208" cy="384"/>
          </a:xfrm>
        </p:grpSpPr>
        <p:sp>
          <p:nvSpPr>
            <p:cNvPr id="262216" name="Rectangle 72"/>
            <p:cNvSpPr/>
            <p:nvPr/>
          </p:nvSpPr>
          <p:spPr>
            <a:xfrm>
              <a:off x="510" y="12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66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7" name="Rectangle 73"/>
            <p:cNvSpPr/>
            <p:nvPr/>
          </p:nvSpPr>
          <p:spPr>
            <a:xfrm>
              <a:off x="869" y="12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8" name="Rectangle 74"/>
            <p:cNvSpPr/>
            <p:nvPr/>
          </p:nvSpPr>
          <p:spPr>
            <a:xfrm>
              <a:off x="1470" y="12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12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19" name="Rectangle 75"/>
            <p:cNvSpPr/>
            <p:nvPr/>
          </p:nvSpPr>
          <p:spPr>
            <a:xfrm>
              <a:off x="1829" y="12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20" name="Line 76"/>
            <p:cNvSpPr/>
            <p:nvPr/>
          </p:nvSpPr>
          <p:spPr>
            <a:xfrm>
              <a:off x="109" y="27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21" name="Line 77"/>
            <p:cNvSpPr/>
            <p:nvPr/>
          </p:nvSpPr>
          <p:spPr>
            <a:xfrm>
              <a:off x="1069" y="27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22" name="Text Box 78"/>
            <p:cNvSpPr txBox="1"/>
            <p:nvPr/>
          </p:nvSpPr>
          <p:spPr>
            <a:xfrm>
              <a:off x="0" y="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320" name="Text Box 79"/>
          <p:cNvSpPr txBox="1"/>
          <p:nvPr/>
        </p:nvSpPr>
        <p:spPr>
          <a:xfrm>
            <a:off x="1239520" y="4831080"/>
            <a:ext cx="1905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66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" name="Group 81"/>
          <p:cNvGrpSpPr/>
          <p:nvPr/>
        </p:nvGrpSpPr>
        <p:grpSpPr>
          <a:xfrm>
            <a:off x="1087120" y="5198110"/>
            <a:ext cx="6353175" cy="482600"/>
            <a:chOff x="0" y="0"/>
            <a:chExt cx="4002" cy="304"/>
          </a:xfrm>
        </p:grpSpPr>
        <p:grpSp>
          <p:nvGrpSpPr>
            <p:cNvPr id="262225" name="Group 82"/>
            <p:cNvGrpSpPr/>
            <p:nvPr/>
          </p:nvGrpSpPr>
          <p:grpSpPr>
            <a:xfrm>
              <a:off x="0" y="0"/>
              <a:ext cx="1178" cy="288"/>
              <a:chOff x="0" y="0"/>
              <a:chExt cx="1178" cy="288"/>
            </a:xfrm>
          </p:grpSpPr>
          <p:sp>
            <p:nvSpPr>
              <p:cNvPr id="262226" name="Rectangle 82"/>
              <p:cNvSpPr/>
              <p:nvPr/>
            </p:nvSpPr>
            <p:spPr>
              <a:xfrm>
                <a:off x="440" y="32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27" name="Rectangle 83"/>
              <p:cNvSpPr/>
              <p:nvPr/>
            </p:nvSpPr>
            <p:spPr>
              <a:xfrm>
                <a:off x="799" y="32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28" name="Line 84"/>
              <p:cNvSpPr/>
              <p:nvPr/>
            </p:nvSpPr>
            <p:spPr>
              <a:xfrm>
                <a:off x="215" y="160"/>
                <a:ext cx="2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2229" name="Line 85"/>
              <p:cNvSpPr/>
              <p:nvPr/>
            </p:nvSpPr>
            <p:spPr>
              <a:xfrm flipH="1">
                <a:off x="439" y="32"/>
                <a:ext cx="129" cy="1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30" name="Line 86"/>
              <p:cNvSpPr/>
              <p:nvPr/>
            </p:nvSpPr>
            <p:spPr>
              <a:xfrm flipH="1">
                <a:off x="568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31" name="Line 87"/>
              <p:cNvSpPr/>
              <p:nvPr/>
            </p:nvSpPr>
            <p:spPr>
              <a:xfrm flipH="1">
                <a:off x="439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32" name="Line 88"/>
              <p:cNvSpPr/>
              <p:nvPr/>
            </p:nvSpPr>
            <p:spPr>
              <a:xfrm flipH="1">
                <a:off x="672" y="168"/>
                <a:ext cx="125" cy="1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33" name="Text Box 89"/>
              <p:cNvSpPr txBox="1"/>
              <p:nvPr/>
            </p:nvSpPr>
            <p:spPr>
              <a:xfrm>
                <a:off x="0" y="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234" name="Rectangle 90"/>
            <p:cNvSpPr/>
            <p:nvPr/>
          </p:nvSpPr>
          <p:spPr>
            <a:xfrm>
              <a:off x="1402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36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35" name="Rectangle 91"/>
            <p:cNvSpPr/>
            <p:nvPr/>
          </p:nvSpPr>
          <p:spPr>
            <a:xfrm>
              <a:off x="1761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36" name="Rectangle 92"/>
            <p:cNvSpPr/>
            <p:nvPr/>
          </p:nvSpPr>
          <p:spPr>
            <a:xfrm>
              <a:off x="2304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37" name="Rectangle 93"/>
            <p:cNvSpPr/>
            <p:nvPr/>
          </p:nvSpPr>
          <p:spPr>
            <a:xfrm>
              <a:off x="2663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38" name="Line 94"/>
            <p:cNvSpPr/>
            <p:nvPr/>
          </p:nvSpPr>
          <p:spPr>
            <a:xfrm>
              <a:off x="1948" y="160"/>
              <a:ext cx="3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39" name="Rectangle 95"/>
            <p:cNvSpPr/>
            <p:nvPr/>
          </p:nvSpPr>
          <p:spPr>
            <a:xfrm>
              <a:off x="3264" y="4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66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40" name="Rectangle 96"/>
            <p:cNvSpPr/>
            <p:nvPr/>
          </p:nvSpPr>
          <p:spPr>
            <a:xfrm>
              <a:off x="3623" y="4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41" name="Line 97"/>
            <p:cNvSpPr/>
            <p:nvPr/>
          </p:nvSpPr>
          <p:spPr>
            <a:xfrm>
              <a:off x="2863" y="19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42" name="Line 98"/>
            <p:cNvSpPr/>
            <p:nvPr/>
          </p:nvSpPr>
          <p:spPr>
            <a:xfrm>
              <a:off x="985" y="160"/>
              <a:ext cx="4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3" name="Group 100"/>
          <p:cNvGrpSpPr/>
          <p:nvPr/>
        </p:nvGrpSpPr>
        <p:grpSpPr>
          <a:xfrm>
            <a:off x="7564120" y="5059680"/>
            <a:ext cx="1981200" cy="609600"/>
            <a:chOff x="0" y="0"/>
            <a:chExt cx="1248" cy="384"/>
          </a:xfrm>
        </p:grpSpPr>
        <p:sp>
          <p:nvSpPr>
            <p:cNvPr id="262244" name="Rectangle 100"/>
            <p:cNvSpPr/>
            <p:nvPr/>
          </p:nvSpPr>
          <p:spPr>
            <a:xfrm>
              <a:off x="510" y="12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12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45" name="Rectangle 101"/>
            <p:cNvSpPr/>
            <p:nvPr/>
          </p:nvSpPr>
          <p:spPr>
            <a:xfrm>
              <a:off x="869" y="12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46" name="Line 102"/>
            <p:cNvSpPr/>
            <p:nvPr/>
          </p:nvSpPr>
          <p:spPr>
            <a:xfrm>
              <a:off x="109" y="27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47" name="Text Box 103"/>
            <p:cNvSpPr txBox="1"/>
            <p:nvPr/>
          </p:nvSpPr>
          <p:spPr>
            <a:xfrm>
              <a:off x="0" y="0"/>
              <a:ext cx="28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6345" name="Text Box 104"/>
          <p:cNvSpPr txBox="1"/>
          <p:nvPr/>
        </p:nvSpPr>
        <p:spPr>
          <a:xfrm>
            <a:off x="1239520" y="5669280"/>
            <a:ext cx="19050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" name="Group 106"/>
          <p:cNvGrpSpPr/>
          <p:nvPr/>
        </p:nvGrpSpPr>
        <p:grpSpPr>
          <a:xfrm>
            <a:off x="1087120" y="6024880"/>
            <a:ext cx="7877175" cy="482600"/>
            <a:chOff x="0" y="0"/>
            <a:chExt cx="4962" cy="304"/>
          </a:xfrm>
        </p:grpSpPr>
        <p:grpSp>
          <p:nvGrpSpPr>
            <p:cNvPr id="262250" name="Group 107"/>
            <p:cNvGrpSpPr/>
            <p:nvPr/>
          </p:nvGrpSpPr>
          <p:grpSpPr>
            <a:xfrm>
              <a:off x="0" y="0"/>
              <a:ext cx="1178" cy="288"/>
              <a:chOff x="0" y="0"/>
              <a:chExt cx="1178" cy="288"/>
            </a:xfrm>
          </p:grpSpPr>
          <p:sp>
            <p:nvSpPr>
              <p:cNvPr id="262251" name="Rectangle 107"/>
              <p:cNvSpPr/>
              <p:nvPr/>
            </p:nvSpPr>
            <p:spPr>
              <a:xfrm>
                <a:off x="440" y="32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52" name="Rectangle 108"/>
              <p:cNvSpPr/>
              <p:nvPr/>
            </p:nvSpPr>
            <p:spPr>
              <a:xfrm>
                <a:off x="799" y="32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53" name="Line 109"/>
              <p:cNvSpPr/>
              <p:nvPr/>
            </p:nvSpPr>
            <p:spPr>
              <a:xfrm>
                <a:off x="215" y="160"/>
                <a:ext cx="2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2254" name="Line 110"/>
              <p:cNvSpPr/>
              <p:nvPr/>
            </p:nvSpPr>
            <p:spPr>
              <a:xfrm flipH="1">
                <a:off x="439" y="32"/>
                <a:ext cx="129" cy="1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55" name="Line 111"/>
              <p:cNvSpPr/>
              <p:nvPr/>
            </p:nvSpPr>
            <p:spPr>
              <a:xfrm flipH="1">
                <a:off x="568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56" name="Line 112"/>
              <p:cNvSpPr/>
              <p:nvPr/>
            </p:nvSpPr>
            <p:spPr>
              <a:xfrm flipH="1">
                <a:off x="439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57" name="Line 113"/>
              <p:cNvSpPr/>
              <p:nvPr/>
            </p:nvSpPr>
            <p:spPr>
              <a:xfrm flipH="1">
                <a:off x="672" y="168"/>
                <a:ext cx="125" cy="1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58" name="Text Box 114"/>
              <p:cNvSpPr txBox="1"/>
              <p:nvPr/>
            </p:nvSpPr>
            <p:spPr>
              <a:xfrm>
                <a:off x="0" y="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259" name="Rectangle 115"/>
            <p:cNvSpPr/>
            <p:nvPr/>
          </p:nvSpPr>
          <p:spPr>
            <a:xfrm>
              <a:off x="1402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0" name="Rectangle 116"/>
            <p:cNvSpPr/>
            <p:nvPr/>
          </p:nvSpPr>
          <p:spPr>
            <a:xfrm>
              <a:off x="1761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1" name="Rectangle 117"/>
            <p:cNvSpPr/>
            <p:nvPr/>
          </p:nvSpPr>
          <p:spPr>
            <a:xfrm>
              <a:off x="2304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2" name="Rectangle 118"/>
            <p:cNvSpPr/>
            <p:nvPr/>
          </p:nvSpPr>
          <p:spPr>
            <a:xfrm>
              <a:off x="2663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3" name="Line 119"/>
            <p:cNvSpPr/>
            <p:nvPr/>
          </p:nvSpPr>
          <p:spPr>
            <a:xfrm>
              <a:off x="1948" y="160"/>
              <a:ext cx="3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64" name="Rectangle 120"/>
            <p:cNvSpPr/>
            <p:nvPr/>
          </p:nvSpPr>
          <p:spPr>
            <a:xfrm>
              <a:off x="3264" y="4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5" name="Rectangle 121"/>
            <p:cNvSpPr/>
            <p:nvPr/>
          </p:nvSpPr>
          <p:spPr>
            <a:xfrm>
              <a:off x="3623" y="4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6" name="Rectangle 122"/>
            <p:cNvSpPr/>
            <p:nvPr/>
          </p:nvSpPr>
          <p:spPr>
            <a:xfrm>
              <a:off x="4224" y="4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7" name="Rectangle 123"/>
            <p:cNvSpPr/>
            <p:nvPr/>
          </p:nvSpPr>
          <p:spPr>
            <a:xfrm>
              <a:off x="4583" y="4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68" name="Line 124"/>
            <p:cNvSpPr/>
            <p:nvPr/>
          </p:nvSpPr>
          <p:spPr>
            <a:xfrm>
              <a:off x="2863" y="19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69" name="Line 125"/>
            <p:cNvSpPr/>
            <p:nvPr/>
          </p:nvSpPr>
          <p:spPr>
            <a:xfrm>
              <a:off x="3823" y="19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70" name="Line 126"/>
            <p:cNvSpPr/>
            <p:nvPr/>
          </p:nvSpPr>
          <p:spPr>
            <a:xfrm>
              <a:off x="985" y="160"/>
              <a:ext cx="4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  <p:grpSp>
        <p:nvGrpSpPr>
          <p:cNvPr id="16" name="Group 128"/>
          <p:cNvGrpSpPr/>
          <p:nvPr/>
        </p:nvGrpSpPr>
        <p:grpSpPr>
          <a:xfrm>
            <a:off x="1363345" y="1757680"/>
            <a:ext cx="7877175" cy="482600"/>
            <a:chOff x="0" y="0"/>
            <a:chExt cx="4962" cy="304"/>
          </a:xfrm>
        </p:grpSpPr>
        <p:grpSp>
          <p:nvGrpSpPr>
            <p:cNvPr id="262272" name="Group 129"/>
            <p:cNvGrpSpPr/>
            <p:nvPr/>
          </p:nvGrpSpPr>
          <p:grpSpPr>
            <a:xfrm>
              <a:off x="0" y="0"/>
              <a:ext cx="1178" cy="288"/>
              <a:chOff x="0" y="0"/>
              <a:chExt cx="1178" cy="288"/>
            </a:xfrm>
          </p:grpSpPr>
          <p:sp>
            <p:nvSpPr>
              <p:cNvPr id="262273" name="Rectangle 129"/>
              <p:cNvSpPr/>
              <p:nvPr/>
            </p:nvSpPr>
            <p:spPr>
              <a:xfrm>
                <a:off x="440" y="32"/>
                <a:ext cx="379" cy="256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74" name="Rectangle 130"/>
              <p:cNvSpPr/>
              <p:nvPr/>
            </p:nvSpPr>
            <p:spPr>
              <a:xfrm>
                <a:off x="799" y="32"/>
                <a:ext cx="379" cy="256"/>
              </a:xfrm>
              <a:prstGeom prst="rect">
                <a:avLst/>
              </a:prstGeom>
              <a:solidFill>
                <a:srgbClr val="FFCC0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algn="just" eaLnBrk="0" hangingPunct="0"/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just" eaLnBrk="0" hangingPunct="0"/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275" name="Line 131"/>
              <p:cNvSpPr/>
              <p:nvPr/>
            </p:nvSpPr>
            <p:spPr>
              <a:xfrm>
                <a:off x="215" y="160"/>
                <a:ext cx="22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2276" name="Line 132"/>
              <p:cNvSpPr/>
              <p:nvPr/>
            </p:nvSpPr>
            <p:spPr>
              <a:xfrm flipH="1">
                <a:off x="439" y="32"/>
                <a:ext cx="129" cy="12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77" name="Line 133"/>
              <p:cNvSpPr/>
              <p:nvPr/>
            </p:nvSpPr>
            <p:spPr>
              <a:xfrm flipH="1">
                <a:off x="568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78" name="Line 134"/>
              <p:cNvSpPr/>
              <p:nvPr/>
            </p:nvSpPr>
            <p:spPr>
              <a:xfrm flipH="1">
                <a:off x="439" y="32"/>
                <a:ext cx="225" cy="2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79" name="Line 135"/>
              <p:cNvSpPr/>
              <p:nvPr/>
            </p:nvSpPr>
            <p:spPr>
              <a:xfrm flipH="1">
                <a:off x="672" y="168"/>
                <a:ext cx="125" cy="1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2280" name="Text Box 136"/>
              <p:cNvSpPr txBox="1"/>
              <p:nvPr/>
            </p:nvSpPr>
            <p:spPr>
              <a:xfrm>
                <a:off x="0" y="0"/>
                <a:ext cx="240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62281" name="Rectangle 137"/>
            <p:cNvSpPr/>
            <p:nvPr/>
          </p:nvSpPr>
          <p:spPr>
            <a:xfrm>
              <a:off x="1402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2" name="Rectangle 138"/>
            <p:cNvSpPr/>
            <p:nvPr/>
          </p:nvSpPr>
          <p:spPr>
            <a:xfrm>
              <a:off x="1761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3" name="Rectangle 139"/>
            <p:cNvSpPr/>
            <p:nvPr/>
          </p:nvSpPr>
          <p:spPr>
            <a:xfrm>
              <a:off x="2304" y="32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4" name="Rectangle 140"/>
            <p:cNvSpPr/>
            <p:nvPr/>
          </p:nvSpPr>
          <p:spPr>
            <a:xfrm>
              <a:off x="2663" y="32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5" name="Line 141"/>
            <p:cNvSpPr/>
            <p:nvPr/>
          </p:nvSpPr>
          <p:spPr>
            <a:xfrm>
              <a:off x="1948" y="160"/>
              <a:ext cx="3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86" name="Rectangle 142"/>
            <p:cNvSpPr/>
            <p:nvPr/>
          </p:nvSpPr>
          <p:spPr>
            <a:xfrm>
              <a:off x="3264" y="4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66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7" name="Rectangle 143"/>
            <p:cNvSpPr/>
            <p:nvPr/>
          </p:nvSpPr>
          <p:spPr>
            <a:xfrm>
              <a:off x="3623" y="4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8" name="Rectangle 144"/>
            <p:cNvSpPr/>
            <p:nvPr/>
          </p:nvSpPr>
          <p:spPr>
            <a:xfrm>
              <a:off x="4224" y="48"/>
              <a:ext cx="379" cy="25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12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89" name="Rectangle 145"/>
            <p:cNvSpPr/>
            <p:nvPr/>
          </p:nvSpPr>
          <p:spPr>
            <a:xfrm>
              <a:off x="4583" y="48"/>
              <a:ext cx="379" cy="256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^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0" hangingPunct="0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2290" name="Line 146"/>
            <p:cNvSpPr/>
            <p:nvPr/>
          </p:nvSpPr>
          <p:spPr>
            <a:xfrm>
              <a:off x="2863" y="19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91" name="Line 147"/>
            <p:cNvSpPr/>
            <p:nvPr/>
          </p:nvSpPr>
          <p:spPr>
            <a:xfrm>
              <a:off x="3823" y="192"/>
              <a:ext cx="40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262292" name="Line 148"/>
            <p:cNvSpPr/>
            <p:nvPr/>
          </p:nvSpPr>
          <p:spPr>
            <a:xfrm>
              <a:off x="985" y="160"/>
              <a:ext cx="4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6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6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26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9" grpId="0"/>
      <p:bldP spid="266270" grpId="0"/>
      <p:bldP spid="266295" grpId="0"/>
      <p:bldP spid="266320" grpId="0"/>
      <p:bldP spid="2663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9750" y="46736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交换排序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19405" y="1330325"/>
            <a:ext cx="10725785" cy="3434080"/>
          </a:xfrm>
        </p:spPr>
        <p:txBody>
          <a:bodyPr/>
          <a:lstStyle/>
          <a:p>
            <a:pPr eaLnBrk="1" hangingPunct="1">
              <a:buNone/>
            </a:pP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“</a:t>
            </a:r>
            <a:r>
              <a:rPr sz="2400" dirty="0">
                <a:solidFill>
                  <a:schemeClr val="bg1"/>
                </a:solidFill>
                <a:sym typeface="+mn-ea"/>
              </a:rPr>
              <a:t>起泡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”</a:t>
            </a:r>
            <a:r>
              <a:rPr sz="2400" dirty="0">
                <a:solidFill>
                  <a:schemeClr val="bg1"/>
                </a:solidFill>
                <a:sym typeface="+mn-ea"/>
              </a:rPr>
              <a:t>排序（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Bubble Sort</a:t>
            </a:r>
            <a:r>
              <a:rPr sz="2400" dirty="0">
                <a:solidFill>
                  <a:schemeClr val="bg1"/>
                </a:solidFill>
                <a:sym typeface="+mn-ea"/>
              </a:rPr>
              <a:t>）</a:t>
            </a:r>
            <a:endParaRPr lang="en-US" altLang="x-none" sz="2400" dirty="0">
              <a:solidFill>
                <a:schemeClr val="bg1"/>
              </a:solidFill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</a:endParaRPr>
          </a:p>
          <a:p>
            <a:pPr eaLnBrk="1" hangingPunct="1"/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“</a:t>
            </a:r>
            <a:r>
              <a:rPr sz="2400" dirty="0">
                <a:solidFill>
                  <a:schemeClr val="bg1"/>
                </a:solidFill>
                <a:sym typeface="+mn-ea"/>
              </a:rPr>
              <a:t>快速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”</a:t>
            </a:r>
            <a:r>
              <a:rPr sz="2400" dirty="0">
                <a:solidFill>
                  <a:schemeClr val="bg1"/>
                </a:solidFill>
                <a:sym typeface="+mn-ea"/>
              </a:rPr>
              <a:t>排序（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Quick Sort</a:t>
            </a:r>
            <a:r>
              <a:rPr sz="2400" dirty="0">
                <a:solidFill>
                  <a:schemeClr val="bg1"/>
                </a:solidFill>
                <a:sym typeface="+mn-ea"/>
              </a:rPr>
              <a:t>）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45769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起泡排序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13193" y="1007362"/>
            <a:ext cx="10725785" cy="448437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 </a:t>
            </a:r>
            <a:r>
              <a:rPr sz="2400" dirty="0">
                <a:solidFill>
                  <a:schemeClr val="bg1"/>
                </a:solidFill>
                <a:sym typeface="+mn-ea"/>
              </a:rPr>
              <a:t>设记录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key</a:t>
            </a:r>
            <a:r>
              <a:rPr sz="2400" dirty="0">
                <a:solidFill>
                  <a:schemeClr val="bg1"/>
                </a:solidFill>
                <a:sym typeface="+mn-ea"/>
              </a:rPr>
              <a:t>集合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k={50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36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66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76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95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12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25</a:t>
            </a:r>
            <a:r>
              <a:rPr sz="24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36}</a:t>
            </a:r>
            <a:r>
              <a:rPr sz="2400" dirty="0">
                <a:solidFill>
                  <a:schemeClr val="bg1"/>
                </a:solidFill>
                <a:sym typeface="+mn-ea"/>
              </a:rPr>
              <a:t>，排序过程如下：</a:t>
            </a:r>
            <a:r>
              <a:rPr sz="2400" dirty="0">
                <a:solidFill>
                  <a:schemeClr val="bg1"/>
                </a:solidFill>
                <a:sym typeface="+mn-ea"/>
              </a:rPr>
              <a:t> 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400" dirty="0">
              <a:solidFill>
                <a:schemeClr val="bg1"/>
              </a:solidFill>
            </a:endParaRPr>
          </a:p>
          <a:p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70341" name="Text Box 4"/>
          <p:cNvSpPr txBox="1"/>
          <p:nvPr/>
        </p:nvSpPr>
        <p:spPr>
          <a:xfrm>
            <a:off x="7662228" y="2371725"/>
            <a:ext cx="1392237" cy="4476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just" eaLnBrk="0" hangingPunct="0"/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排序完毕</a:t>
            </a:r>
            <a:endParaRPr lang="zh-CN" altLang="en-US" sz="2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0342" name="Text Box 5"/>
          <p:cNvSpPr txBox="1"/>
          <p:nvPr/>
        </p:nvSpPr>
        <p:spPr>
          <a:xfrm>
            <a:off x="977265" y="1905000"/>
            <a:ext cx="762000" cy="35115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66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76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95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25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endParaRPr lang="en-US" altLang="zh-CN" sz="2000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967865" y="1919288"/>
            <a:ext cx="990600" cy="3643312"/>
            <a:chOff x="0" y="0"/>
            <a:chExt cx="624" cy="2247"/>
          </a:xfrm>
        </p:grpSpPr>
        <p:sp>
          <p:nvSpPr>
            <p:cNvPr id="266247" name="Oval 7"/>
            <p:cNvSpPr/>
            <p:nvPr/>
          </p:nvSpPr>
          <p:spPr>
            <a:xfrm>
              <a:off x="83" y="1968"/>
              <a:ext cx="445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95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48" name="Text Box 8"/>
            <p:cNvSpPr txBox="1"/>
            <p:nvPr/>
          </p:nvSpPr>
          <p:spPr>
            <a:xfrm>
              <a:off x="0" y="0"/>
              <a:ext cx="624" cy="19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u="sng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0"/>
          <p:cNvGrpSpPr/>
          <p:nvPr/>
        </p:nvGrpSpPr>
        <p:grpSpPr>
          <a:xfrm>
            <a:off x="2958465" y="1905000"/>
            <a:ext cx="990600" cy="3176588"/>
            <a:chOff x="0" y="0"/>
            <a:chExt cx="624" cy="2001"/>
          </a:xfrm>
        </p:grpSpPr>
        <p:sp>
          <p:nvSpPr>
            <p:cNvPr id="266250" name="Oval 10"/>
            <p:cNvSpPr/>
            <p:nvPr/>
          </p:nvSpPr>
          <p:spPr>
            <a:xfrm>
              <a:off x="56" y="1722"/>
              <a:ext cx="472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51" name="Text Box 11"/>
            <p:cNvSpPr txBox="1"/>
            <p:nvPr/>
          </p:nvSpPr>
          <p:spPr>
            <a:xfrm>
              <a:off x="0" y="0"/>
              <a:ext cx="624" cy="17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u="sng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3"/>
          <p:cNvGrpSpPr/>
          <p:nvPr/>
        </p:nvGrpSpPr>
        <p:grpSpPr>
          <a:xfrm>
            <a:off x="3949065" y="1905000"/>
            <a:ext cx="990600" cy="2743200"/>
            <a:chOff x="0" y="0"/>
            <a:chExt cx="624" cy="1728"/>
          </a:xfrm>
        </p:grpSpPr>
        <p:sp>
          <p:nvSpPr>
            <p:cNvPr id="266253" name="Oval 13"/>
            <p:cNvSpPr/>
            <p:nvPr/>
          </p:nvSpPr>
          <p:spPr>
            <a:xfrm>
              <a:off x="66" y="1449"/>
              <a:ext cx="462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54" name="Text Box 14"/>
            <p:cNvSpPr txBox="1"/>
            <p:nvPr/>
          </p:nvSpPr>
          <p:spPr>
            <a:xfrm>
              <a:off x="0" y="0"/>
              <a:ext cx="624" cy="14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u="sng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6"/>
          <p:cNvGrpSpPr/>
          <p:nvPr/>
        </p:nvGrpSpPr>
        <p:grpSpPr>
          <a:xfrm>
            <a:off x="4939665" y="1905000"/>
            <a:ext cx="990600" cy="2424113"/>
            <a:chOff x="0" y="0"/>
            <a:chExt cx="624" cy="1527"/>
          </a:xfrm>
        </p:grpSpPr>
        <p:sp>
          <p:nvSpPr>
            <p:cNvPr id="266256" name="Oval 16"/>
            <p:cNvSpPr/>
            <p:nvPr/>
          </p:nvSpPr>
          <p:spPr>
            <a:xfrm>
              <a:off x="56" y="1248"/>
              <a:ext cx="472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just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57" name="Text Box 17"/>
            <p:cNvSpPr txBox="1"/>
            <p:nvPr/>
          </p:nvSpPr>
          <p:spPr>
            <a:xfrm>
              <a:off x="0" y="0"/>
              <a:ext cx="624" cy="1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u="sng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9"/>
          <p:cNvGrpSpPr/>
          <p:nvPr/>
        </p:nvGrpSpPr>
        <p:grpSpPr>
          <a:xfrm>
            <a:off x="5930265" y="1905000"/>
            <a:ext cx="990600" cy="1966913"/>
            <a:chOff x="0" y="0"/>
            <a:chExt cx="624" cy="1239"/>
          </a:xfrm>
        </p:grpSpPr>
        <p:sp>
          <p:nvSpPr>
            <p:cNvPr id="266259" name="Text Box 19"/>
            <p:cNvSpPr txBox="1"/>
            <p:nvPr/>
          </p:nvSpPr>
          <p:spPr>
            <a:xfrm>
              <a:off x="0" y="0"/>
              <a:ext cx="624" cy="96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5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60" name="Oval 20"/>
            <p:cNvSpPr/>
            <p:nvPr/>
          </p:nvSpPr>
          <p:spPr>
            <a:xfrm>
              <a:off x="0" y="960"/>
              <a:ext cx="528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2000" u="sng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22"/>
          <p:cNvGrpSpPr/>
          <p:nvPr/>
        </p:nvGrpSpPr>
        <p:grpSpPr>
          <a:xfrm>
            <a:off x="6844665" y="1904999"/>
            <a:ext cx="990600" cy="1686339"/>
            <a:chOff x="0" y="0"/>
            <a:chExt cx="624" cy="960"/>
          </a:xfrm>
        </p:grpSpPr>
        <p:sp>
          <p:nvSpPr>
            <p:cNvPr id="266262" name="Text Box 22"/>
            <p:cNvSpPr txBox="1"/>
            <p:nvPr/>
          </p:nvSpPr>
          <p:spPr>
            <a:xfrm>
              <a:off x="0" y="0"/>
              <a:ext cx="624" cy="6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第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6</a:t>
              </a: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趟</a:t>
              </a:r>
              <a:endParaRPr lang="zh-CN" altLang="en-US" sz="20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sz="2000" u="sng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263" name="Oval 23"/>
            <p:cNvSpPr/>
            <p:nvPr/>
          </p:nvSpPr>
          <p:spPr>
            <a:xfrm>
              <a:off x="48" y="681"/>
              <a:ext cx="432" cy="279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1" grpId="0"/>
      <p:bldP spid="27034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/>
        </p:nvSpPr>
        <p:spPr>
          <a:xfrm>
            <a:off x="1415480" y="1818701"/>
            <a:ext cx="7748107" cy="4901472"/>
          </a:xfrm>
          <a:prstGeom prst="roundRect">
            <a:avLst/>
          </a:prstGeom>
          <a:solidFill>
            <a:srgbClr val="C3DD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95934" y="7874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快速排序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9895" y="815975"/>
            <a:ext cx="8987790" cy="97409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</a:t>
            </a:r>
            <a:r>
              <a:rPr sz="1800" dirty="0">
                <a:solidFill>
                  <a:schemeClr val="bg1"/>
                </a:solidFill>
                <a:sym typeface="+mn-ea"/>
              </a:rPr>
              <a:t>设记录的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key</a:t>
            </a:r>
            <a:r>
              <a:rPr sz="1800" dirty="0">
                <a:solidFill>
                  <a:schemeClr val="bg1"/>
                </a:solidFill>
                <a:sym typeface="+mn-ea"/>
              </a:rPr>
              <a:t>集合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k={50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36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66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76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36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12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25</a:t>
            </a:r>
            <a:r>
              <a:rPr sz="1800" b="1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1800" b="1" dirty="0">
                <a:solidFill>
                  <a:schemeClr val="bg1"/>
                </a:solidFill>
                <a:sym typeface="+mn-ea"/>
              </a:rPr>
              <a:t>95}</a:t>
            </a:r>
            <a:r>
              <a:rPr sz="1800" dirty="0">
                <a:solidFill>
                  <a:schemeClr val="bg1"/>
                </a:solidFill>
                <a:sym typeface="+mn-ea"/>
              </a:rPr>
              <a:t>，每次以集合中第一个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key</a:t>
            </a:r>
            <a:r>
              <a:rPr sz="1800" dirty="0">
                <a:solidFill>
                  <a:schemeClr val="bg1"/>
                </a:solidFill>
                <a:sym typeface="+mn-ea"/>
              </a:rPr>
              <a:t>为基准的快速排序过程如下： </a:t>
            </a:r>
            <a:endParaRPr lang="zh-CN" altLang="en-US" sz="1800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73413" name="Text Box 4"/>
          <p:cNvSpPr txBox="1"/>
          <p:nvPr/>
        </p:nvSpPr>
        <p:spPr>
          <a:xfrm>
            <a:off x="1798320" y="2453005"/>
            <a:ext cx="7848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k={   50         36         66         76           </a:t>
            </a:r>
            <a:r>
              <a: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12         25         95  }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407920" y="1859280"/>
            <a:ext cx="1371600" cy="609600"/>
            <a:chOff x="0" y="0"/>
            <a:chExt cx="864" cy="384"/>
          </a:xfrm>
        </p:grpSpPr>
        <p:sp>
          <p:nvSpPr>
            <p:cNvPr id="269318" name="Line 6"/>
            <p:cNvSpPr/>
            <p:nvPr/>
          </p:nvSpPr>
          <p:spPr>
            <a:xfrm flipV="1">
              <a:off x="96" y="19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19" name="Text Box 7"/>
            <p:cNvSpPr txBox="1"/>
            <p:nvPr/>
          </p:nvSpPr>
          <p:spPr>
            <a:xfrm>
              <a:off x="0" y="0"/>
              <a:ext cx="8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X(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基准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9"/>
          <p:cNvGrpSpPr/>
          <p:nvPr/>
        </p:nvGrpSpPr>
        <p:grpSpPr>
          <a:xfrm>
            <a:off x="2407920" y="2773680"/>
            <a:ext cx="304800" cy="595313"/>
            <a:chOff x="0" y="0"/>
            <a:chExt cx="192" cy="375"/>
          </a:xfrm>
        </p:grpSpPr>
        <p:sp>
          <p:nvSpPr>
            <p:cNvPr id="269321" name="Line 9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22" name="Text Box 10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2"/>
          <p:cNvGrpSpPr/>
          <p:nvPr/>
        </p:nvGrpSpPr>
        <p:grpSpPr>
          <a:xfrm>
            <a:off x="8351520" y="2773680"/>
            <a:ext cx="304800" cy="595313"/>
            <a:chOff x="0" y="0"/>
            <a:chExt cx="192" cy="375"/>
          </a:xfrm>
        </p:grpSpPr>
        <p:sp>
          <p:nvSpPr>
            <p:cNvPr id="269324" name="Line 12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25" name="Text Box 13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15"/>
          <p:cNvGrpSpPr/>
          <p:nvPr/>
        </p:nvGrpSpPr>
        <p:grpSpPr>
          <a:xfrm>
            <a:off x="7513320" y="2773680"/>
            <a:ext cx="304800" cy="595313"/>
            <a:chOff x="0" y="0"/>
            <a:chExt cx="192" cy="375"/>
          </a:xfrm>
        </p:grpSpPr>
        <p:sp>
          <p:nvSpPr>
            <p:cNvPr id="269327" name="Line 15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28" name="Text Box 16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8"/>
          <p:cNvGrpSpPr/>
          <p:nvPr/>
        </p:nvGrpSpPr>
        <p:grpSpPr>
          <a:xfrm>
            <a:off x="2636520" y="2849880"/>
            <a:ext cx="4953000" cy="838200"/>
            <a:chOff x="0" y="0"/>
            <a:chExt cx="3024" cy="528"/>
          </a:xfrm>
        </p:grpSpPr>
        <p:sp>
          <p:nvSpPr>
            <p:cNvPr id="269330" name="Line 18"/>
            <p:cNvSpPr/>
            <p:nvPr/>
          </p:nvSpPr>
          <p:spPr>
            <a:xfrm flipH="1">
              <a:off x="2688" y="0"/>
              <a:ext cx="336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31" name="Line 19"/>
            <p:cNvSpPr/>
            <p:nvPr/>
          </p:nvSpPr>
          <p:spPr>
            <a:xfrm flipH="1">
              <a:off x="144" y="528"/>
              <a:ext cx="25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32" name="Line 20"/>
            <p:cNvSpPr/>
            <p:nvPr/>
          </p:nvSpPr>
          <p:spPr>
            <a:xfrm flipH="1" flipV="1">
              <a:off x="48" y="288"/>
              <a:ext cx="96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33" name="Oval 21"/>
            <p:cNvSpPr/>
            <p:nvPr/>
          </p:nvSpPr>
          <p:spPr>
            <a:xfrm>
              <a:off x="0" y="4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23"/>
          <p:cNvGrpSpPr/>
          <p:nvPr/>
        </p:nvGrpSpPr>
        <p:grpSpPr>
          <a:xfrm>
            <a:off x="3246120" y="2773680"/>
            <a:ext cx="304800" cy="595313"/>
            <a:chOff x="0" y="0"/>
            <a:chExt cx="192" cy="375"/>
          </a:xfrm>
        </p:grpSpPr>
        <p:sp>
          <p:nvSpPr>
            <p:cNvPr id="269335" name="Line 23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36" name="Text Box 24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26"/>
          <p:cNvGrpSpPr/>
          <p:nvPr/>
        </p:nvGrpSpPr>
        <p:grpSpPr>
          <a:xfrm>
            <a:off x="4084320" y="2773680"/>
            <a:ext cx="304800" cy="595313"/>
            <a:chOff x="0" y="0"/>
            <a:chExt cx="192" cy="375"/>
          </a:xfrm>
        </p:grpSpPr>
        <p:sp>
          <p:nvSpPr>
            <p:cNvPr id="269338" name="Line 26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39" name="Text Box 27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29"/>
          <p:cNvGrpSpPr/>
          <p:nvPr/>
        </p:nvGrpSpPr>
        <p:grpSpPr>
          <a:xfrm>
            <a:off x="4312920" y="1935480"/>
            <a:ext cx="3505200" cy="609600"/>
            <a:chOff x="0" y="0"/>
            <a:chExt cx="2208" cy="384"/>
          </a:xfrm>
        </p:grpSpPr>
        <p:sp>
          <p:nvSpPr>
            <p:cNvPr id="269341" name="Line 29"/>
            <p:cNvSpPr/>
            <p:nvPr/>
          </p:nvSpPr>
          <p:spPr>
            <a:xfrm flipV="1">
              <a:off x="0" y="0"/>
              <a:ext cx="24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42" name="Line 30"/>
            <p:cNvSpPr/>
            <p:nvPr/>
          </p:nvSpPr>
          <p:spPr>
            <a:xfrm>
              <a:off x="240" y="0"/>
              <a:ext cx="16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43" name="Line 31"/>
            <p:cNvSpPr/>
            <p:nvPr/>
          </p:nvSpPr>
          <p:spPr>
            <a:xfrm>
              <a:off x="1872" y="0"/>
              <a:ext cx="14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44" name="Oval 32"/>
            <p:cNvSpPr/>
            <p:nvPr/>
          </p:nvSpPr>
          <p:spPr>
            <a:xfrm>
              <a:off x="1968" y="14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34"/>
          <p:cNvGrpSpPr/>
          <p:nvPr/>
        </p:nvGrpSpPr>
        <p:grpSpPr>
          <a:xfrm>
            <a:off x="6751320" y="2773680"/>
            <a:ext cx="304800" cy="595313"/>
            <a:chOff x="0" y="0"/>
            <a:chExt cx="192" cy="375"/>
          </a:xfrm>
        </p:grpSpPr>
        <p:sp>
          <p:nvSpPr>
            <p:cNvPr id="269346" name="Line 34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47" name="Text Box 35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37"/>
          <p:cNvGrpSpPr/>
          <p:nvPr/>
        </p:nvGrpSpPr>
        <p:grpSpPr>
          <a:xfrm>
            <a:off x="4312920" y="2849880"/>
            <a:ext cx="2438400" cy="609600"/>
            <a:chOff x="0" y="0"/>
            <a:chExt cx="1440" cy="384"/>
          </a:xfrm>
        </p:grpSpPr>
        <p:sp>
          <p:nvSpPr>
            <p:cNvPr id="269349" name="Line 37"/>
            <p:cNvSpPr/>
            <p:nvPr/>
          </p:nvSpPr>
          <p:spPr>
            <a:xfrm flipH="1">
              <a:off x="1152" y="0"/>
              <a:ext cx="28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50" name="Line 38"/>
            <p:cNvSpPr/>
            <p:nvPr/>
          </p:nvSpPr>
          <p:spPr>
            <a:xfrm flipH="1">
              <a:off x="144" y="384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51" name="Line 39"/>
            <p:cNvSpPr/>
            <p:nvPr/>
          </p:nvSpPr>
          <p:spPr>
            <a:xfrm flipH="1" flipV="1">
              <a:off x="48" y="24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52" name="Oval 40"/>
            <p:cNvSpPr/>
            <p:nvPr/>
          </p:nvSpPr>
          <p:spPr>
            <a:xfrm>
              <a:off x="0" y="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42"/>
          <p:cNvGrpSpPr/>
          <p:nvPr/>
        </p:nvGrpSpPr>
        <p:grpSpPr>
          <a:xfrm>
            <a:off x="4922520" y="2773680"/>
            <a:ext cx="304800" cy="595313"/>
            <a:chOff x="0" y="0"/>
            <a:chExt cx="192" cy="375"/>
          </a:xfrm>
        </p:grpSpPr>
        <p:sp>
          <p:nvSpPr>
            <p:cNvPr id="269354" name="Line 42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55" name="Text Box 43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45"/>
          <p:cNvGrpSpPr/>
          <p:nvPr/>
        </p:nvGrpSpPr>
        <p:grpSpPr>
          <a:xfrm>
            <a:off x="5074920" y="2087880"/>
            <a:ext cx="1905000" cy="457200"/>
            <a:chOff x="0" y="0"/>
            <a:chExt cx="1200" cy="288"/>
          </a:xfrm>
        </p:grpSpPr>
        <p:sp>
          <p:nvSpPr>
            <p:cNvPr id="269357" name="Line 45"/>
            <p:cNvSpPr/>
            <p:nvPr/>
          </p:nvSpPr>
          <p:spPr>
            <a:xfrm flipV="1">
              <a:off x="0" y="0"/>
              <a:ext cx="96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58" name="Line 46"/>
            <p:cNvSpPr/>
            <p:nvPr/>
          </p:nvSpPr>
          <p:spPr>
            <a:xfrm>
              <a:off x="96" y="0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59" name="Line 47"/>
            <p:cNvSpPr/>
            <p:nvPr/>
          </p:nvSpPr>
          <p:spPr>
            <a:xfrm>
              <a:off x="864" y="0"/>
              <a:ext cx="144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60" name="Oval 48"/>
            <p:cNvSpPr/>
            <p:nvPr/>
          </p:nvSpPr>
          <p:spPr>
            <a:xfrm>
              <a:off x="960" y="4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76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50"/>
          <p:cNvGrpSpPr/>
          <p:nvPr/>
        </p:nvGrpSpPr>
        <p:grpSpPr>
          <a:xfrm>
            <a:off x="5989320" y="2773680"/>
            <a:ext cx="304800" cy="595313"/>
            <a:chOff x="0" y="0"/>
            <a:chExt cx="192" cy="375"/>
          </a:xfrm>
        </p:grpSpPr>
        <p:sp>
          <p:nvSpPr>
            <p:cNvPr id="269362" name="Line 50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63" name="Text Box 51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53"/>
          <p:cNvGrpSpPr/>
          <p:nvPr/>
        </p:nvGrpSpPr>
        <p:grpSpPr>
          <a:xfrm>
            <a:off x="5151120" y="2773680"/>
            <a:ext cx="762000" cy="533400"/>
            <a:chOff x="0" y="0"/>
            <a:chExt cx="480" cy="336"/>
          </a:xfrm>
        </p:grpSpPr>
        <p:sp>
          <p:nvSpPr>
            <p:cNvPr id="269365" name="Line 53"/>
            <p:cNvSpPr/>
            <p:nvPr/>
          </p:nvSpPr>
          <p:spPr>
            <a:xfrm flipH="1">
              <a:off x="384" y="48"/>
              <a:ext cx="96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66" name="Line 54"/>
            <p:cNvSpPr/>
            <p:nvPr/>
          </p:nvSpPr>
          <p:spPr>
            <a:xfrm flipH="1">
              <a:off x="144" y="33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67" name="Line 55"/>
            <p:cNvSpPr/>
            <p:nvPr/>
          </p:nvSpPr>
          <p:spPr>
            <a:xfrm flipH="1" flipV="1">
              <a:off x="96" y="240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68" name="Oval 56"/>
            <p:cNvSpPr/>
            <p:nvPr/>
          </p:nvSpPr>
          <p:spPr>
            <a:xfrm>
              <a:off x="0" y="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u="sng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u="sng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58"/>
          <p:cNvGrpSpPr/>
          <p:nvPr/>
        </p:nvGrpSpPr>
        <p:grpSpPr>
          <a:xfrm>
            <a:off x="5836920" y="2773680"/>
            <a:ext cx="304800" cy="595313"/>
            <a:chOff x="0" y="0"/>
            <a:chExt cx="192" cy="375"/>
          </a:xfrm>
        </p:grpSpPr>
        <p:sp>
          <p:nvSpPr>
            <p:cNvPr id="269370" name="Line 58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71" name="Text Box 59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469" name="Text Box 60"/>
          <p:cNvSpPr txBox="1"/>
          <p:nvPr/>
        </p:nvSpPr>
        <p:spPr>
          <a:xfrm>
            <a:off x="2026920" y="3900805"/>
            <a:ext cx="73914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   25         36         12         </a:t>
            </a:r>
            <a:r>
              <a: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]   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[  76        66         95  ]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470" name="AutoShape 61"/>
          <p:cNvSpPr/>
          <p:nvPr/>
        </p:nvSpPr>
        <p:spPr>
          <a:xfrm>
            <a:off x="5913120" y="3764280"/>
            <a:ext cx="3048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0" name="Group 63"/>
          <p:cNvGrpSpPr/>
          <p:nvPr/>
        </p:nvGrpSpPr>
        <p:grpSpPr>
          <a:xfrm>
            <a:off x="2407920" y="4297680"/>
            <a:ext cx="304800" cy="595313"/>
            <a:chOff x="0" y="0"/>
            <a:chExt cx="192" cy="375"/>
          </a:xfrm>
        </p:grpSpPr>
        <p:sp>
          <p:nvSpPr>
            <p:cNvPr id="269375" name="Line 63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76" name="Text Box 64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66"/>
          <p:cNvGrpSpPr/>
          <p:nvPr/>
        </p:nvGrpSpPr>
        <p:grpSpPr>
          <a:xfrm>
            <a:off x="2331720" y="3459480"/>
            <a:ext cx="381000" cy="533400"/>
            <a:chOff x="0" y="0"/>
            <a:chExt cx="240" cy="336"/>
          </a:xfrm>
        </p:grpSpPr>
        <p:sp>
          <p:nvSpPr>
            <p:cNvPr id="269378" name="Line 66"/>
            <p:cNvSpPr/>
            <p:nvPr/>
          </p:nvSpPr>
          <p:spPr>
            <a:xfrm flipV="1">
              <a:off x="96" y="168"/>
              <a:ext cx="0" cy="1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79" name="Text Box 67"/>
            <p:cNvSpPr txBox="1"/>
            <p:nvPr/>
          </p:nvSpPr>
          <p:spPr>
            <a:xfrm>
              <a:off x="0" y="0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69"/>
          <p:cNvGrpSpPr/>
          <p:nvPr/>
        </p:nvGrpSpPr>
        <p:grpSpPr>
          <a:xfrm>
            <a:off x="4922520" y="4297680"/>
            <a:ext cx="304800" cy="595313"/>
            <a:chOff x="0" y="0"/>
            <a:chExt cx="192" cy="375"/>
          </a:xfrm>
        </p:grpSpPr>
        <p:sp>
          <p:nvSpPr>
            <p:cNvPr id="269381" name="Line 69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82" name="Text Box 70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Group 72"/>
          <p:cNvGrpSpPr/>
          <p:nvPr/>
        </p:nvGrpSpPr>
        <p:grpSpPr>
          <a:xfrm>
            <a:off x="4160520" y="4297680"/>
            <a:ext cx="304800" cy="595313"/>
            <a:chOff x="0" y="0"/>
            <a:chExt cx="192" cy="375"/>
          </a:xfrm>
        </p:grpSpPr>
        <p:sp>
          <p:nvSpPr>
            <p:cNvPr id="269384" name="Line 72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85" name="Text Box 73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Group 75"/>
          <p:cNvGrpSpPr/>
          <p:nvPr/>
        </p:nvGrpSpPr>
        <p:grpSpPr>
          <a:xfrm>
            <a:off x="2636520" y="4373880"/>
            <a:ext cx="1600200" cy="609600"/>
            <a:chOff x="0" y="0"/>
            <a:chExt cx="1440" cy="384"/>
          </a:xfrm>
        </p:grpSpPr>
        <p:sp>
          <p:nvSpPr>
            <p:cNvPr id="269387" name="Line 75"/>
            <p:cNvSpPr/>
            <p:nvPr/>
          </p:nvSpPr>
          <p:spPr>
            <a:xfrm flipH="1">
              <a:off x="1152" y="0"/>
              <a:ext cx="288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88" name="Line 76"/>
            <p:cNvSpPr/>
            <p:nvPr/>
          </p:nvSpPr>
          <p:spPr>
            <a:xfrm flipH="1">
              <a:off x="144" y="384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89" name="Line 77"/>
            <p:cNvSpPr/>
            <p:nvPr/>
          </p:nvSpPr>
          <p:spPr>
            <a:xfrm flipH="1" flipV="1">
              <a:off x="48" y="240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90" name="Oval 78"/>
            <p:cNvSpPr/>
            <p:nvPr/>
          </p:nvSpPr>
          <p:spPr>
            <a:xfrm>
              <a:off x="0" y="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Group 80"/>
          <p:cNvGrpSpPr/>
          <p:nvPr/>
        </p:nvGrpSpPr>
        <p:grpSpPr>
          <a:xfrm>
            <a:off x="3169920" y="4297680"/>
            <a:ext cx="304800" cy="595313"/>
            <a:chOff x="0" y="0"/>
            <a:chExt cx="192" cy="375"/>
          </a:xfrm>
        </p:grpSpPr>
        <p:sp>
          <p:nvSpPr>
            <p:cNvPr id="269392" name="Line 80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93" name="Text Box 81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83"/>
          <p:cNvGrpSpPr/>
          <p:nvPr/>
        </p:nvGrpSpPr>
        <p:grpSpPr>
          <a:xfrm>
            <a:off x="3322320" y="3688080"/>
            <a:ext cx="1066800" cy="304800"/>
            <a:chOff x="0" y="0"/>
            <a:chExt cx="672" cy="192"/>
          </a:xfrm>
        </p:grpSpPr>
        <p:sp>
          <p:nvSpPr>
            <p:cNvPr id="269395" name="Line 83"/>
            <p:cNvSpPr/>
            <p:nvPr/>
          </p:nvSpPr>
          <p:spPr>
            <a:xfrm flipV="1">
              <a:off x="0" y="48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96" name="Line 84"/>
            <p:cNvSpPr/>
            <p:nvPr/>
          </p:nvSpPr>
          <p:spPr>
            <a:xfrm>
              <a:off x="48" y="4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397" name="Line 85"/>
            <p:cNvSpPr/>
            <p:nvPr/>
          </p:nvSpPr>
          <p:spPr>
            <a:xfrm>
              <a:off x="384" y="48"/>
              <a:ext cx="96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398" name="Oval 86"/>
            <p:cNvSpPr/>
            <p:nvPr/>
          </p:nvSpPr>
          <p:spPr>
            <a:xfrm>
              <a:off x="480" y="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36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Group 88"/>
          <p:cNvGrpSpPr/>
          <p:nvPr/>
        </p:nvGrpSpPr>
        <p:grpSpPr>
          <a:xfrm>
            <a:off x="3322320" y="4297680"/>
            <a:ext cx="304800" cy="595313"/>
            <a:chOff x="0" y="0"/>
            <a:chExt cx="192" cy="375"/>
          </a:xfrm>
        </p:grpSpPr>
        <p:sp>
          <p:nvSpPr>
            <p:cNvPr id="269400" name="Line 88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01" name="Text Box 89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499" name="Text Box 90"/>
          <p:cNvSpPr txBox="1"/>
          <p:nvPr/>
        </p:nvSpPr>
        <p:spPr>
          <a:xfrm>
            <a:off x="2026920" y="5288280"/>
            <a:ext cx="3657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   12   ]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25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[   36         </a:t>
            </a:r>
            <a:r>
              <a: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]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00" name="AutoShape 91"/>
          <p:cNvSpPr/>
          <p:nvPr/>
        </p:nvSpPr>
        <p:spPr>
          <a:xfrm>
            <a:off x="3246120" y="5059680"/>
            <a:ext cx="3048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8" name="Group 93"/>
          <p:cNvGrpSpPr/>
          <p:nvPr/>
        </p:nvGrpSpPr>
        <p:grpSpPr>
          <a:xfrm>
            <a:off x="4922520" y="5607368"/>
            <a:ext cx="304800" cy="595312"/>
            <a:chOff x="0" y="0"/>
            <a:chExt cx="192" cy="375"/>
          </a:xfrm>
        </p:grpSpPr>
        <p:sp>
          <p:nvSpPr>
            <p:cNvPr id="269405" name="Line 93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06" name="Text Box 94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96"/>
          <p:cNvGrpSpPr/>
          <p:nvPr/>
        </p:nvGrpSpPr>
        <p:grpSpPr>
          <a:xfrm>
            <a:off x="4008120" y="5607368"/>
            <a:ext cx="304800" cy="595312"/>
            <a:chOff x="0" y="0"/>
            <a:chExt cx="192" cy="375"/>
          </a:xfrm>
        </p:grpSpPr>
        <p:sp>
          <p:nvSpPr>
            <p:cNvPr id="269408" name="Line 96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09" name="Text Box 97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oup 99"/>
          <p:cNvGrpSpPr/>
          <p:nvPr/>
        </p:nvGrpSpPr>
        <p:grpSpPr>
          <a:xfrm>
            <a:off x="4084320" y="4831080"/>
            <a:ext cx="381000" cy="533400"/>
            <a:chOff x="0" y="0"/>
            <a:chExt cx="240" cy="336"/>
          </a:xfrm>
        </p:grpSpPr>
        <p:sp>
          <p:nvSpPr>
            <p:cNvPr id="269411" name="Line 99"/>
            <p:cNvSpPr/>
            <p:nvPr/>
          </p:nvSpPr>
          <p:spPr>
            <a:xfrm flipV="1">
              <a:off x="96" y="168"/>
              <a:ext cx="0" cy="1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12" name="Text Box 100"/>
            <p:cNvSpPr txBox="1"/>
            <p:nvPr/>
          </p:nvSpPr>
          <p:spPr>
            <a:xfrm>
              <a:off x="0" y="0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102"/>
          <p:cNvGrpSpPr/>
          <p:nvPr/>
        </p:nvGrpSpPr>
        <p:grpSpPr>
          <a:xfrm>
            <a:off x="4160520" y="5607368"/>
            <a:ext cx="304800" cy="595312"/>
            <a:chOff x="0" y="0"/>
            <a:chExt cx="192" cy="375"/>
          </a:xfrm>
        </p:grpSpPr>
        <p:sp>
          <p:nvSpPr>
            <p:cNvPr id="269414" name="Line 102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15" name="Text Box 103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513" name="Text Box 104"/>
          <p:cNvSpPr txBox="1"/>
          <p:nvPr/>
        </p:nvSpPr>
        <p:spPr>
          <a:xfrm>
            <a:off x="4008120" y="6323330"/>
            <a:ext cx="1828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[   </a:t>
            </a:r>
            <a:r>
              <a: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36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]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14" name="AutoShape 105"/>
          <p:cNvSpPr/>
          <p:nvPr/>
        </p:nvSpPr>
        <p:spPr>
          <a:xfrm>
            <a:off x="4084320" y="6126480"/>
            <a:ext cx="3048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2" name="Group 107"/>
          <p:cNvGrpSpPr/>
          <p:nvPr/>
        </p:nvGrpSpPr>
        <p:grpSpPr>
          <a:xfrm>
            <a:off x="6903720" y="4373880"/>
            <a:ext cx="304800" cy="595313"/>
            <a:chOff x="0" y="0"/>
            <a:chExt cx="192" cy="375"/>
          </a:xfrm>
        </p:grpSpPr>
        <p:sp>
          <p:nvSpPr>
            <p:cNvPr id="269419" name="Line 107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20" name="Text Box 108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Group 110"/>
          <p:cNvGrpSpPr/>
          <p:nvPr/>
        </p:nvGrpSpPr>
        <p:grpSpPr>
          <a:xfrm>
            <a:off x="8503920" y="4373880"/>
            <a:ext cx="304800" cy="595313"/>
            <a:chOff x="0" y="0"/>
            <a:chExt cx="192" cy="375"/>
          </a:xfrm>
        </p:grpSpPr>
        <p:sp>
          <p:nvSpPr>
            <p:cNvPr id="269422" name="Line 110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23" name="Text Box 111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113"/>
          <p:cNvGrpSpPr/>
          <p:nvPr/>
        </p:nvGrpSpPr>
        <p:grpSpPr>
          <a:xfrm>
            <a:off x="7056120" y="3383280"/>
            <a:ext cx="381000" cy="533400"/>
            <a:chOff x="0" y="0"/>
            <a:chExt cx="240" cy="336"/>
          </a:xfrm>
        </p:grpSpPr>
        <p:sp>
          <p:nvSpPr>
            <p:cNvPr id="269425" name="Line 113"/>
            <p:cNvSpPr/>
            <p:nvPr/>
          </p:nvSpPr>
          <p:spPr>
            <a:xfrm flipV="1">
              <a:off x="0" y="168"/>
              <a:ext cx="96" cy="1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26" name="Text Box 114"/>
            <p:cNvSpPr txBox="1"/>
            <p:nvPr/>
          </p:nvSpPr>
          <p:spPr>
            <a:xfrm>
              <a:off x="0" y="0"/>
              <a:ext cx="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3408" name="Group 116"/>
          <p:cNvGrpSpPr/>
          <p:nvPr/>
        </p:nvGrpSpPr>
        <p:grpSpPr>
          <a:xfrm>
            <a:off x="7741920" y="4373880"/>
            <a:ext cx="304800" cy="595313"/>
            <a:chOff x="0" y="0"/>
            <a:chExt cx="192" cy="375"/>
          </a:xfrm>
        </p:grpSpPr>
        <p:sp>
          <p:nvSpPr>
            <p:cNvPr id="269428" name="Line 116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29" name="Text Box 117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3409" name="Group 119"/>
          <p:cNvGrpSpPr/>
          <p:nvPr/>
        </p:nvGrpSpPr>
        <p:grpSpPr>
          <a:xfrm>
            <a:off x="7132320" y="4373880"/>
            <a:ext cx="533400" cy="609600"/>
            <a:chOff x="0" y="0"/>
            <a:chExt cx="336" cy="384"/>
          </a:xfrm>
        </p:grpSpPr>
        <p:grpSp>
          <p:nvGrpSpPr>
            <p:cNvPr id="269431" name="Group 120"/>
            <p:cNvGrpSpPr/>
            <p:nvPr/>
          </p:nvGrpSpPr>
          <p:grpSpPr>
            <a:xfrm>
              <a:off x="44" y="0"/>
              <a:ext cx="292" cy="384"/>
              <a:chOff x="0" y="0"/>
              <a:chExt cx="964" cy="384"/>
            </a:xfrm>
          </p:grpSpPr>
          <p:sp>
            <p:nvSpPr>
              <p:cNvPr id="269432" name="Line 120"/>
              <p:cNvSpPr/>
              <p:nvPr/>
            </p:nvSpPr>
            <p:spPr>
              <a:xfrm flipH="1">
                <a:off x="772" y="0"/>
                <a:ext cx="192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9433" name="Line 121"/>
              <p:cNvSpPr/>
              <p:nvPr/>
            </p:nvSpPr>
            <p:spPr>
              <a:xfrm flipH="1">
                <a:off x="67" y="384"/>
                <a:ext cx="70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9434" name="Line 122"/>
              <p:cNvSpPr/>
              <p:nvPr/>
            </p:nvSpPr>
            <p:spPr>
              <a:xfrm flipH="1" flipV="1">
                <a:off x="0" y="240"/>
                <a:ext cx="67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269435" name="Oval 123"/>
            <p:cNvSpPr/>
            <p:nvPr/>
          </p:nvSpPr>
          <p:spPr>
            <a:xfrm>
              <a:off x="0" y="0"/>
              <a:ext cx="168" cy="24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66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3411" name="Group 125"/>
          <p:cNvGrpSpPr/>
          <p:nvPr/>
        </p:nvGrpSpPr>
        <p:grpSpPr>
          <a:xfrm>
            <a:off x="7589520" y="4373880"/>
            <a:ext cx="304800" cy="595313"/>
            <a:chOff x="0" y="0"/>
            <a:chExt cx="192" cy="375"/>
          </a:xfrm>
        </p:grpSpPr>
        <p:sp>
          <p:nvSpPr>
            <p:cNvPr id="269437" name="Line 125"/>
            <p:cNvSpPr/>
            <p:nvPr/>
          </p:nvSpPr>
          <p:spPr>
            <a:xfrm flipV="1">
              <a:off x="96" y="0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9438" name="Text Box 126"/>
            <p:cNvSpPr txBox="1"/>
            <p:nvPr/>
          </p:nvSpPr>
          <p:spPr>
            <a:xfrm>
              <a:off x="0" y="144"/>
              <a:ext cx="1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73536" name="AutoShape 127"/>
          <p:cNvSpPr/>
          <p:nvPr/>
        </p:nvSpPr>
        <p:spPr>
          <a:xfrm>
            <a:off x="7665720" y="4983480"/>
            <a:ext cx="3048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37" name="Text Box 128"/>
          <p:cNvSpPr txBox="1"/>
          <p:nvPr/>
        </p:nvSpPr>
        <p:spPr>
          <a:xfrm>
            <a:off x="6522720" y="5288280"/>
            <a:ext cx="2895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  66   ]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76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[   95  ]  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3538" name="Text Box 129"/>
          <p:cNvSpPr txBox="1"/>
          <p:nvPr/>
        </p:nvSpPr>
        <p:spPr>
          <a:xfrm>
            <a:off x="1645920" y="5135880"/>
            <a:ext cx="457200" cy="11906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排序完毕  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73412" name="Group 131"/>
          <p:cNvGrpSpPr/>
          <p:nvPr/>
        </p:nvGrpSpPr>
        <p:grpSpPr>
          <a:xfrm>
            <a:off x="2255520" y="4221480"/>
            <a:ext cx="6477000" cy="2514600"/>
            <a:chOff x="0" y="0"/>
            <a:chExt cx="4320" cy="1632"/>
          </a:xfrm>
        </p:grpSpPr>
        <p:sp>
          <p:nvSpPr>
            <p:cNvPr id="269443" name="Line 131"/>
            <p:cNvSpPr/>
            <p:nvPr/>
          </p:nvSpPr>
          <p:spPr>
            <a:xfrm>
              <a:off x="0" y="1008"/>
              <a:ext cx="816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444" name="Line 132"/>
            <p:cNvSpPr/>
            <p:nvPr/>
          </p:nvSpPr>
          <p:spPr>
            <a:xfrm>
              <a:off x="816" y="1008"/>
              <a:ext cx="0" cy="624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445" name="Line 133"/>
            <p:cNvSpPr/>
            <p:nvPr/>
          </p:nvSpPr>
          <p:spPr>
            <a:xfrm>
              <a:off x="816" y="1632"/>
              <a:ext cx="1584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446" name="Line 134"/>
            <p:cNvSpPr/>
            <p:nvPr/>
          </p:nvSpPr>
          <p:spPr>
            <a:xfrm flipV="1">
              <a:off x="2400" y="0"/>
              <a:ext cx="144" cy="1632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447" name="Line 135"/>
            <p:cNvSpPr/>
            <p:nvPr/>
          </p:nvSpPr>
          <p:spPr>
            <a:xfrm>
              <a:off x="2544" y="0"/>
              <a:ext cx="384" cy="1008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448" name="Line 136"/>
            <p:cNvSpPr/>
            <p:nvPr/>
          </p:nvSpPr>
          <p:spPr>
            <a:xfrm>
              <a:off x="2928" y="1008"/>
              <a:ext cx="1392" cy="0"/>
            </a:xfrm>
            <a:prstGeom prst="line">
              <a:avLst/>
            </a:prstGeom>
            <a:ln w="19050" cap="flat" cmpd="sng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7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7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7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7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7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27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27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7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7" dur="500"/>
                                        <p:tgtEl>
                                          <p:spTgt spid="27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27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27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3" grpId="0"/>
      <p:bldP spid="273469" grpId="0"/>
      <p:bldP spid="273470" grpId="0" bldLvl="0" animBg="1"/>
      <p:bldP spid="273499" grpId="0"/>
      <p:bldP spid="273500" grpId="0" bldLvl="0" animBg="1"/>
      <p:bldP spid="273513" grpId="0"/>
      <p:bldP spid="273514" grpId="0" bldLvl="0" animBg="1"/>
      <p:bldP spid="273536" grpId="0" bldLvl="0" animBg="1"/>
      <p:bldP spid="273537" grpId="0"/>
      <p:bldP spid="2735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2291</Words>
  <Application>WPS 演示</Application>
  <PresentationFormat>宽屏</PresentationFormat>
  <Paragraphs>471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楷体_GB2312</vt:lpstr>
      <vt:lpstr>新宋体</vt:lpstr>
      <vt:lpstr>Arial Unicode MS</vt:lpstr>
      <vt:lpstr>Symbol</vt:lpstr>
      <vt:lpstr>Segoe Print</vt:lpstr>
      <vt:lpstr>华文中宋</vt:lpstr>
      <vt:lpstr>1_华清远见PPT模板（宽屏）-华清远见教育集团</vt:lpstr>
      <vt:lpstr>Office 主题</vt:lpstr>
      <vt:lpstr>Equation.3</vt:lpstr>
      <vt:lpstr>PowerPoint 演示文稿</vt:lpstr>
      <vt:lpstr>排序定义 </vt:lpstr>
      <vt:lpstr>排序定义</vt:lpstr>
      <vt:lpstr>内排序方法 </vt:lpstr>
      <vt:lpstr>插入排序 </vt:lpstr>
      <vt:lpstr>直接插入排序 </vt:lpstr>
      <vt:lpstr>直接插入排序 </vt:lpstr>
      <vt:lpstr>折半插入排序 </vt:lpstr>
      <vt:lpstr>折半插入排序 </vt:lpstr>
      <vt:lpstr>链表插入排序 </vt:lpstr>
      <vt:lpstr>链表插入排序</vt:lpstr>
      <vt:lpstr>交换排序 </vt:lpstr>
      <vt:lpstr>起泡排序 </vt:lpstr>
      <vt:lpstr>快速排序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1117</cp:revision>
  <cp:lastPrinted>2011-09-16T06:19:00Z</cp:lastPrinted>
  <dcterms:created xsi:type="dcterms:W3CDTF">2016-04-14T04:36:00Z</dcterms:created>
  <dcterms:modified xsi:type="dcterms:W3CDTF">2019-09-29T04:03:35Z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