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2"/>
  </p:sldMasterIdLst>
  <p:notesMasterIdLst>
    <p:notesMasterId r:id="rId8"/>
  </p:notesMasterIdLst>
  <p:handoutMasterIdLst>
    <p:handoutMasterId r:id="rId9"/>
  </p:handoutMasterIdLst>
  <p:sldIdLst>
    <p:sldId id="1031" r:id="rId3"/>
    <p:sldId id="800" r:id="rId4"/>
    <p:sldId id="801" r:id="rId5"/>
    <p:sldId id="802" r:id="rId6"/>
    <p:sldId id="1077" r:id="rId7"/>
  </p:sldIdLst>
  <p:sldSz cx="12192000" cy="6858000"/>
  <p:notesSz cx="7099300" cy="10234613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0">
          <p15:clr>
            <a:srgbClr val="A4A3A4"/>
          </p15:clr>
        </p15:guide>
        <p15:guide id="2" pos="400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3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0" autoAdjust="0"/>
    <p:restoredTop sz="95402" autoAdjust="0"/>
  </p:normalViewPr>
  <p:slideViewPr>
    <p:cSldViewPr>
      <p:cViewPr varScale="1">
        <p:scale>
          <a:sx n="96" d="100"/>
          <a:sy n="96" d="100"/>
        </p:scale>
        <p:origin x="248" y="52"/>
      </p:cViewPr>
      <p:guideLst>
        <p:guide orient="horz" pos="2260"/>
        <p:guide pos="400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127"/>
        <p:guide pos="23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 animBg="1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649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链表的复杂操作的实现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332" y="18254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5" y="1366793"/>
            <a:ext cx="9354185" cy="4790008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1</a:t>
            </a:r>
            <a:r>
              <a:rPr sz="2200" dirty="0">
                <a:solidFill>
                  <a:schemeClr val="bg1"/>
                </a:solidFill>
                <a:sym typeface="+mn-ea"/>
              </a:rPr>
              <a:t>、设计算法，将单链表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H</a:t>
            </a:r>
            <a:r>
              <a:rPr sz="2200" dirty="0">
                <a:solidFill>
                  <a:schemeClr val="bg1"/>
                </a:solidFill>
                <a:sym typeface="+mn-ea"/>
              </a:rPr>
              <a:t>倒置</a:t>
            </a: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10000"/>
              </a:lnSpc>
            </a:pPr>
            <a:r>
              <a:rPr sz="2200" dirty="0">
                <a:solidFill>
                  <a:schemeClr val="bg1"/>
                </a:solidFill>
                <a:sym typeface="+mn-ea"/>
              </a:rPr>
              <a:t>算法思路：依次取原链表中各结点，将其作为新链表首结点插入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H</a:t>
            </a:r>
            <a:r>
              <a:rPr sz="2200" dirty="0">
                <a:solidFill>
                  <a:schemeClr val="bg1"/>
                </a:solidFill>
                <a:sym typeface="+mn-ea"/>
              </a:rPr>
              <a:t>结点之后</a:t>
            </a: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10000"/>
              </a:lnSpc>
            </a:pP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10000"/>
              </a:lnSpc>
            </a:pP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10000"/>
              </a:lnSpc>
            </a:pP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10000"/>
              </a:lnSpc>
            </a:pP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10000"/>
              </a:lnSpc>
            </a:pP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10000"/>
              </a:lnSpc>
            </a:pP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10000"/>
              </a:lnSpc>
            </a:pPr>
            <a:endParaRPr lang="zh-CN" altLang="en-US" sz="2200" dirty="0">
              <a:solidFill>
                <a:schemeClr val="bg1"/>
              </a:solidFill>
            </a:endParaRPr>
          </a:p>
        </p:txBody>
      </p:sp>
      <p:grpSp>
        <p:nvGrpSpPr>
          <p:cNvPr id="76804" name="Group 5"/>
          <p:cNvGrpSpPr/>
          <p:nvPr/>
        </p:nvGrpSpPr>
        <p:grpSpPr>
          <a:xfrm>
            <a:off x="1067175" y="2573551"/>
            <a:ext cx="7055485" cy="1866552"/>
            <a:chOff x="0" y="0"/>
            <a:chExt cx="11040" cy="3206"/>
          </a:xfrm>
        </p:grpSpPr>
        <p:sp>
          <p:nvSpPr>
            <p:cNvPr id="76805" name="Text Box 5"/>
            <p:cNvSpPr txBox="1"/>
            <p:nvPr/>
          </p:nvSpPr>
          <p:spPr>
            <a:xfrm>
              <a:off x="1440" y="0"/>
              <a:ext cx="840" cy="634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06" name="Text Box 6"/>
            <p:cNvSpPr txBox="1"/>
            <p:nvPr/>
          </p:nvSpPr>
          <p:spPr>
            <a:xfrm>
              <a:off x="2280" y="0"/>
              <a:ext cx="840" cy="634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07" name="Text Box 7"/>
            <p:cNvSpPr txBox="1"/>
            <p:nvPr/>
          </p:nvSpPr>
          <p:spPr>
            <a:xfrm>
              <a:off x="0" y="53"/>
              <a:ext cx="600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76808" name="Line 8"/>
            <p:cNvSpPr/>
            <p:nvPr/>
          </p:nvSpPr>
          <p:spPr>
            <a:xfrm>
              <a:off x="600" y="360"/>
              <a:ext cx="8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6809" name="Group 10"/>
            <p:cNvGrpSpPr/>
            <p:nvPr/>
          </p:nvGrpSpPr>
          <p:grpSpPr>
            <a:xfrm>
              <a:off x="1440" y="0"/>
              <a:ext cx="840" cy="630"/>
              <a:chOff x="0" y="0"/>
              <a:chExt cx="336" cy="252"/>
            </a:xfrm>
          </p:grpSpPr>
          <p:sp>
            <p:nvSpPr>
              <p:cNvPr id="76810" name="Line 9"/>
              <p:cNvSpPr/>
              <p:nvPr/>
            </p:nvSpPr>
            <p:spPr>
              <a:xfrm flipH="1">
                <a:off x="0" y="0"/>
                <a:ext cx="192" cy="1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1" name="Line 10"/>
              <p:cNvSpPr/>
              <p:nvPr/>
            </p:nvSpPr>
            <p:spPr>
              <a:xfrm flipH="1">
                <a:off x="0" y="0"/>
                <a:ext cx="336" cy="252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2" name="Line 11"/>
              <p:cNvSpPr/>
              <p:nvPr/>
            </p:nvSpPr>
            <p:spPr>
              <a:xfrm flipH="1">
                <a:off x="144" y="108"/>
                <a:ext cx="192" cy="1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6813" name="Text Box 13"/>
            <p:cNvSpPr txBox="1"/>
            <p:nvPr/>
          </p:nvSpPr>
          <p:spPr>
            <a:xfrm>
              <a:off x="4920" y="0"/>
              <a:ext cx="840" cy="634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14" name="Text Box 14"/>
            <p:cNvSpPr txBox="1"/>
            <p:nvPr/>
          </p:nvSpPr>
          <p:spPr>
            <a:xfrm>
              <a:off x="4080" y="0"/>
              <a:ext cx="840" cy="633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6815" name="Line 15"/>
            <p:cNvSpPr/>
            <p:nvPr/>
          </p:nvSpPr>
          <p:spPr>
            <a:xfrm>
              <a:off x="2640" y="360"/>
              <a:ext cx="14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6" name="Text Box 17"/>
            <p:cNvSpPr txBox="1"/>
            <p:nvPr/>
          </p:nvSpPr>
          <p:spPr>
            <a:xfrm>
              <a:off x="6720" y="0"/>
              <a:ext cx="840" cy="633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6817" name="Text Box 18"/>
            <p:cNvSpPr txBox="1"/>
            <p:nvPr/>
          </p:nvSpPr>
          <p:spPr>
            <a:xfrm>
              <a:off x="7560" y="0"/>
              <a:ext cx="840" cy="634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18" name="Line 19"/>
            <p:cNvSpPr/>
            <p:nvPr/>
          </p:nvSpPr>
          <p:spPr>
            <a:xfrm>
              <a:off x="5400" y="360"/>
              <a:ext cx="132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9" name="Text Box 21"/>
            <p:cNvSpPr txBox="1"/>
            <p:nvPr/>
          </p:nvSpPr>
          <p:spPr>
            <a:xfrm>
              <a:off x="9360" y="0"/>
              <a:ext cx="840" cy="633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76820" name="Text Box 22"/>
            <p:cNvSpPr txBox="1"/>
            <p:nvPr/>
          </p:nvSpPr>
          <p:spPr>
            <a:xfrm>
              <a:off x="10200" y="0"/>
              <a:ext cx="840" cy="633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76821" name="Line 23"/>
            <p:cNvSpPr/>
            <p:nvPr/>
          </p:nvSpPr>
          <p:spPr>
            <a:xfrm>
              <a:off x="8040" y="360"/>
              <a:ext cx="132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2" name="Text Box 25"/>
            <p:cNvSpPr txBox="1"/>
            <p:nvPr/>
          </p:nvSpPr>
          <p:spPr>
            <a:xfrm>
              <a:off x="1440" y="870"/>
              <a:ext cx="840" cy="634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23" name="Text Box 26"/>
            <p:cNvSpPr txBox="1"/>
            <p:nvPr/>
          </p:nvSpPr>
          <p:spPr>
            <a:xfrm>
              <a:off x="2280" y="870"/>
              <a:ext cx="840" cy="634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24" name="Text Box 27"/>
            <p:cNvSpPr txBox="1"/>
            <p:nvPr/>
          </p:nvSpPr>
          <p:spPr>
            <a:xfrm>
              <a:off x="0" y="893"/>
              <a:ext cx="600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76825" name="Line 28"/>
            <p:cNvSpPr/>
            <p:nvPr/>
          </p:nvSpPr>
          <p:spPr>
            <a:xfrm>
              <a:off x="600" y="1230"/>
              <a:ext cx="8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6" name="Text Box 33"/>
            <p:cNvSpPr txBox="1"/>
            <p:nvPr/>
          </p:nvSpPr>
          <p:spPr>
            <a:xfrm>
              <a:off x="4920" y="870"/>
              <a:ext cx="840" cy="633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^</a:t>
              </a:r>
            </a:p>
          </p:txBody>
        </p:sp>
        <p:sp>
          <p:nvSpPr>
            <p:cNvPr id="76827" name="Text Box 34"/>
            <p:cNvSpPr txBox="1"/>
            <p:nvPr/>
          </p:nvSpPr>
          <p:spPr>
            <a:xfrm>
              <a:off x="4080" y="870"/>
              <a:ext cx="840" cy="633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6828" name="Line 35"/>
            <p:cNvSpPr/>
            <p:nvPr/>
          </p:nvSpPr>
          <p:spPr>
            <a:xfrm>
              <a:off x="2640" y="1110"/>
              <a:ext cx="14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9" name="Text Box 37"/>
            <p:cNvSpPr txBox="1"/>
            <p:nvPr/>
          </p:nvSpPr>
          <p:spPr>
            <a:xfrm>
              <a:off x="1440" y="1725"/>
              <a:ext cx="840" cy="634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30" name="Text Box 38"/>
            <p:cNvSpPr txBox="1"/>
            <p:nvPr/>
          </p:nvSpPr>
          <p:spPr>
            <a:xfrm>
              <a:off x="2280" y="1725"/>
              <a:ext cx="840" cy="634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31" name="Text Box 39"/>
            <p:cNvSpPr txBox="1"/>
            <p:nvPr/>
          </p:nvSpPr>
          <p:spPr>
            <a:xfrm>
              <a:off x="0" y="1830"/>
              <a:ext cx="600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76832" name="Line 40"/>
            <p:cNvSpPr/>
            <p:nvPr/>
          </p:nvSpPr>
          <p:spPr>
            <a:xfrm>
              <a:off x="600" y="2085"/>
              <a:ext cx="8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6833" name="Group 34"/>
            <p:cNvGrpSpPr/>
            <p:nvPr/>
          </p:nvGrpSpPr>
          <p:grpSpPr>
            <a:xfrm>
              <a:off x="2640" y="1710"/>
              <a:ext cx="3120" cy="636"/>
              <a:chOff x="0" y="0"/>
              <a:chExt cx="1248" cy="254"/>
            </a:xfrm>
          </p:grpSpPr>
          <p:sp>
            <p:nvSpPr>
              <p:cNvPr id="76834" name="Text Box 46"/>
              <p:cNvSpPr txBox="1"/>
              <p:nvPr/>
            </p:nvSpPr>
            <p:spPr>
              <a:xfrm>
                <a:off x="912" y="0"/>
                <a:ext cx="336" cy="254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35" name="Text Box 47"/>
              <p:cNvSpPr txBox="1"/>
              <p:nvPr/>
            </p:nvSpPr>
            <p:spPr>
              <a:xfrm>
                <a:off x="576" y="0"/>
                <a:ext cx="336" cy="253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76836" name="Line 48"/>
              <p:cNvSpPr/>
              <p:nvPr/>
            </p:nvSpPr>
            <p:spPr>
              <a:xfrm>
                <a:off x="0" y="14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6837" name="Group 38"/>
            <p:cNvGrpSpPr/>
            <p:nvPr/>
          </p:nvGrpSpPr>
          <p:grpSpPr>
            <a:xfrm>
              <a:off x="5400" y="1725"/>
              <a:ext cx="3000" cy="633"/>
              <a:chOff x="0" y="0"/>
              <a:chExt cx="1200" cy="253"/>
            </a:xfrm>
          </p:grpSpPr>
          <p:sp>
            <p:nvSpPr>
              <p:cNvPr id="76838" name="Text Box 50"/>
              <p:cNvSpPr txBox="1"/>
              <p:nvPr/>
            </p:nvSpPr>
            <p:spPr>
              <a:xfrm>
                <a:off x="528" y="0"/>
                <a:ext cx="336" cy="253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76839" name="Text Box 51"/>
              <p:cNvSpPr txBox="1"/>
              <p:nvPr/>
            </p:nvSpPr>
            <p:spPr>
              <a:xfrm>
                <a:off x="864" y="0"/>
                <a:ext cx="336" cy="253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^</a:t>
                </a:r>
              </a:p>
            </p:txBody>
          </p:sp>
          <p:sp>
            <p:nvSpPr>
              <p:cNvPr id="76840" name="Line 52"/>
              <p:cNvSpPr/>
              <p:nvPr/>
            </p:nvSpPr>
            <p:spPr>
              <a:xfrm>
                <a:off x="0" y="144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6841" name="Text Box 54"/>
            <p:cNvSpPr txBox="1"/>
            <p:nvPr/>
          </p:nvSpPr>
          <p:spPr>
            <a:xfrm>
              <a:off x="1440" y="2565"/>
              <a:ext cx="840" cy="634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42" name="Text Box 55"/>
            <p:cNvSpPr txBox="1"/>
            <p:nvPr/>
          </p:nvSpPr>
          <p:spPr>
            <a:xfrm>
              <a:off x="2280" y="2565"/>
              <a:ext cx="840" cy="634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43" name="Text Box 56"/>
            <p:cNvSpPr txBox="1"/>
            <p:nvPr/>
          </p:nvSpPr>
          <p:spPr>
            <a:xfrm>
              <a:off x="0" y="2573"/>
              <a:ext cx="600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76844" name="Line 57"/>
            <p:cNvSpPr/>
            <p:nvPr/>
          </p:nvSpPr>
          <p:spPr>
            <a:xfrm>
              <a:off x="600" y="2925"/>
              <a:ext cx="8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5" name="Text Box 62"/>
            <p:cNvSpPr txBox="1"/>
            <p:nvPr/>
          </p:nvSpPr>
          <p:spPr>
            <a:xfrm>
              <a:off x="4920" y="2565"/>
              <a:ext cx="840" cy="634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46" name="Text Box 63"/>
            <p:cNvSpPr txBox="1"/>
            <p:nvPr/>
          </p:nvSpPr>
          <p:spPr>
            <a:xfrm>
              <a:off x="4080" y="2565"/>
              <a:ext cx="840" cy="633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76847" name="Line 64"/>
            <p:cNvSpPr/>
            <p:nvPr/>
          </p:nvSpPr>
          <p:spPr>
            <a:xfrm>
              <a:off x="2640" y="2925"/>
              <a:ext cx="14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6848" name="Group 49"/>
            <p:cNvGrpSpPr/>
            <p:nvPr/>
          </p:nvGrpSpPr>
          <p:grpSpPr>
            <a:xfrm>
              <a:off x="5280" y="2565"/>
              <a:ext cx="3120" cy="636"/>
              <a:chOff x="0" y="0"/>
              <a:chExt cx="1248" cy="254"/>
            </a:xfrm>
          </p:grpSpPr>
          <p:sp>
            <p:nvSpPr>
              <p:cNvPr id="76849" name="Text Box 67"/>
              <p:cNvSpPr txBox="1"/>
              <p:nvPr/>
            </p:nvSpPr>
            <p:spPr>
              <a:xfrm>
                <a:off x="912" y="0"/>
                <a:ext cx="336" cy="254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50" name="Text Box 68"/>
              <p:cNvSpPr txBox="1"/>
              <p:nvPr/>
            </p:nvSpPr>
            <p:spPr>
              <a:xfrm>
                <a:off x="576" y="0"/>
                <a:ext cx="336" cy="253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76851" name="Line 69"/>
              <p:cNvSpPr/>
              <p:nvPr/>
            </p:nvSpPr>
            <p:spPr>
              <a:xfrm>
                <a:off x="0" y="14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6852" name="Group 53"/>
            <p:cNvGrpSpPr/>
            <p:nvPr/>
          </p:nvGrpSpPr>
          <p:grpSpPr>
            <a:xfrm>
              <a:off x="8040" y="2565"/>
              <a:ext cx="3000" cy="633"/>
              <a:chOff x="0" y="0"/>
              <a:chExt cx="1200" cy="253"/>
            </a:xfrm>
          </p:grpSpPr>
          <p:sp>
            <p:nvSpPr>
              <p:cNvPr id="76853" name="Text Box 71"/>
              <p:cNvSpPr txBox="1"/>
              <p:nvPr/>
            </p:nvSpPr>
            <p:spPr>
              <a:xfrm>
                <a:off x="528" y="0"/>
                <a:ext cx="336" cy="253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76854" name="Text Box 72"/>
              <p:cNvSpPr txBox="1"/>
              <p:nvPr/>
            </p:nvSpPr>
            <p:spPr>
              <a:xfrm>
                <a:off x="864" y="0"/>
                <a:ext cx="336" cy="253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^</a:t>
                </a:r>
              </a:p>
            </p:txBody>
          </p:sp>
          <p:sp>
            <p:nvSpPr>
              <p:cNvPr id="76855" name="Line 73"/>
              <p:cNvSpPr/>
              <p:nvPr/>
            </p:nvSpPr>
            <p:spPr>
              <a:xfrm>
                <a:off x="0" y="144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6856" name="Group 57"/>
            <p:cNvGrpSpPr/>
            <p:nvPr/>
          </p:nvGrpSpPr>
          <p:grpSpPr>
            <a:xfrm>
              <a:off x="1440" y="870"/>
              <a:ext cx="840" cy="630"/>
              <a:chOff x="0" y="0"/>
              <a:chExt cx="336" cy="252"/>
            </a:xfrm>
          </p:grpSpPr>
          <p:sp>
            <p:nvSpPr>
              <p:cNvPr id="76857" name="Line 76"/>
              <p:cNvSpPr/>
              <p:nvPr/>
            </p:nvSpPr>
            <p:spPr>
              <a:xfrm flipH="1">
                <a:off x="0" y="0"/>
                <a:ext cx="192" cy="1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58" name="Line 77"/>
              <p:cNvSpPr/>
              <p:nvPr/>
            </p:nvSpPr>
            <p:spPr>
              <a:xfrm flipH="1">
                <a:off x="0" y="0"/>
                <a:ext cx="336" cy="252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59" name="Line 78"/>
              <p:cNvSpPr/>
              <p:nvPr/>
            </p:nvSpPr>
            <p:spPr>
              <a:xfrm flipH="1">
                <a:off x="144" y="108"/>
                <a:ext cx="192" cy="1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6860" name="Group 61"/>
            <p:cNvGrpSpPr/>
            <p:nvPr/>
          </p:nvGrpSpPr>
          <p:grpSpPr>
            <a:xfrm>
              <a:off x="1440" y="1710"/>
              <a:ext cx="840" cy="630"/>
              <a:chOff x="0" y="0"/>
              <a:chExt cx="336" cy="252"/>
            </a:xfrm>
          </p:grpSpPr>
          <p:sp>
            <p:nvSpPr>
              <p:cNvPr id="76861" name="Line 80"/>
              <p:cNvSpPr/>
              <p:nvPr/>
            </p:nvSpPr>
            <p:spPr>
              <a:xfrm flipH="1">
                <a:off x="0" y="0"/>
                <a:ext cx="192" cy="1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62" name="Line 81"/>
              <p:cNvSpPr/>
              <p:nvPr/>
            </p:nvSpPr>
            <p:spPr>
              <a:xfrm flipH="1">
                <a:off x="0" y="0"/>
                <a:ext cx="336" cy="252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63" name="Line 82"/>
              <p:cNvSpPr/>
              <p:nvPr/>
            </p:nvSpPr>
            <p:spPr>
              <a:xfrm flipH="1">
                <a:off x="144" y="108"/>
                <a:ext cx="192" cy="1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6864" name="Group 65"/>
            <p:cNvGrpSpPr/>
            <p:nvPr/>
          </p:nvGrpSpPr>
          <p:grpSpPr>
            <a:xfrm>
              <a:off x="1440" y="2550"/>
              <a:ext cx="840" cy="630"/>
              <a:chOff x="0" y="0"/>
              <a:chExt cx="336" cy="252"/>
            </a:xfrm>
          </p:grpSpPr>
          <p:sp>
            <p:nvSpPr>
              <p:cNvPr id="76865" name="Line 84"/>
              <p:cNvSpPr/>
              <p:nvPr/>
            </p:nvSpPr>
            <p:spPr>
              <a:xfrm flipH="1">
                <a:off x="0" y="0"/>
                <a:ext cx="192" cy="1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66" name="Line 85"/>
              <p:cNvSpPr/>
              <p:nvPr/>
            </p:nvSpPr>
            <p:spPr>
              <a:xfrm flipH="1">
                <a:off x="0" y="0"/>
                <a:ext cx="336" cy="252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67" name="Line 86"/>
              <p:cNvSpPr/>
              <p:nvPr/>
            </p:nvSpPr>
            <p:spPr>
              <a:xfrm flipH="1">
                <a:off x="144" y="108"/>
                <a:ext cx="192" cy="1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43584" y="189407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2475" y="1144905"/>
            <a:ext cx="8707755" cy="583184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2</a:t>
            </a:r>
            <a:r>
              <a:rPr sz="2200" dirty="0">
                <a:solidFill>
                  <a:schemeClr val="bg1"/>
                </a:solidFill>
                <a:sym typeface="+mn-ea"/>
              </a:rPr>
              <a:t>、设结点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data</a:t>
            </a:r>
            <a:r>
              <a:rPr sz="2200" dirty="0">
                <a:solidFill>
                  <a:schemeClr val="bg1"/>
                </a:solidFill>
                <a:sym typeface="+mn-ea"/>
              </a:rPr>
              <a:t>域为整型，求链表中相邻两结点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data</a:t>
            </a:r>
            <a:r>
              <a:rPr sz="2200" dirty="0">
                <a:solidFill>
                  <a:schemeClr val="bg1"/>
                </a:solidFill>
                <a:sym typeface="+mn-ea"/>
              </a:rPr>
              <a:t>值之和为最大的第一结点的指针。</a:t>
            </a: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40000"/>
              </a:lnSpc>
            </a:pPr>
            <a:endParaRPr sz="2200" b="1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40000"/>
              </a:lnSpc>
            </a:pPr>
            <a:r>
              <a:rPr sz="2200" dirty="0">
                <a:solidFill>
                  <a:schemeClr val="bg1"/>
                </a:solidFill>
                <a:sym typeface="+mn-ea"/>
              </a:rPr>
              <a:t>算法思路：设</a:t>
            </a:r>
            <a:r>
              <a:rPr lang="en-US" altLang="zh-CN" sz="2200" dirty="0" err="1">
                <a:solidFill>
                  <a:schemeClr val="bg1"/>
                </a:solidFill>
                <a:sym typeface="+mn-ea"/>
              </a:rPr>
              <a:t>p,q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 </a:t>
            </a:r>
            <a:r>
              <a:rPr sz="2200" dirty="0">
                <a:solidFill>
                  <a:schemeClr val="bg1"/>
                </a:solidFill>
                <a:sym typeface="+mn-ea"/>
              </a:rPr>
              <a:t>分别为链表中相邻两结点指针，求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p-&gt;</a:t>
            </a:r>
            <a:r>
              <a:rPr lang="en-US" altLang="zh-CN" sz="2200" dirty="0" err="1">
                <a:solidFill>
                  <a:schemeClr val="bg1"/>
                </a:solidFill>
                <a:sym typeface="+mn-ea"/>
              </a:rPr>
              <a:t>data+q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-&gt;data</a:t>
            </a:r>
            <a:r>
              <a:rPr sz="2200" dirty="0">
                <a:solidFill>
                  <a:schemeClr val="bg1"/>
                </a:solidFill>
                <a:sym typeface="+mn-ea"/>
              </a:rPr>
              <a:t>为最大的那一组值，返回其相应的指针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p</a:t>
            </a:r>
            <a:r>
              <a:rPr sz="2200" dirty="0">
                <a:solidFill>
                  <a:schemeClr val="bg1"/>
                </a:solidFill>
                <a:sym typeface="+mn-ea"/>
              </a:rPr>
              <a:t>即可</a:t>
            </a:r>
            <a:endParaRPr lang="en-US" altLang="x-none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  <p:grpSp>
        <p:nvGrpSpPr>
          <p:cNvPr id="77827" name="Group 4"/>
          <p:cNvGrpSpPr/>
          <p:nvPr/>
        </p:nvGrpSpPr>
        <p:grpSpPr>
          <a:xfrm>
            <a:off x="903276" y="3877982"/>
            <a:ext cx="6705600" cy="517525"/>
            <a:chOff x="0" y="0"/>
            <a:chExt cx="5232" cy="384"/>
          </a:xfrm>
        </p:grpSpPr>
        <p:grpSp>
          <p:nvGrpSpPr>
            <p:cNvPr id="77828" name="Group 5"/>
            <p:cNvGrpSpPr/>
            <p:nvPr/>
          </p:nvGrpSpPr>
          <p:grpSpPr>
            <a:xfrm>
              <a:off x="0" y="0"/>
              <a:ext cx="1104" cy="384"/>
              <a:chOff x="0" y="0"/>
              <a:chExt cx="1104" cy="384"/>
            </a:xfrm>
          </p:grpSpPr>
          <p:sp>
            <p:nvSpPr>
              <p:cNvPr id="77829" name="Text Box 5"/>
              <p:cNvSpPr txBox="1"/>
              <p:nvPr/>
            </p:nvSpPr>
            <p:spPr>
              <a:xfrm>
                <a:off x="432" y="95"/>
                <a:ext cx="336" cy="280"/>
              </a:xfrm>
              <a:prstGeom prst="rect">
                <a:avLst/>
              </a:prstGeom>
              <a:solidFill>
                <a:srgbClr val="FF99CC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30" name="Text Box 6"/>
              <p:cNvSpPr txBox="1"/>
              <p:nvPr/>
            </p:nvSpPr>
            <p:spPr>
              <a:xfrm>
                <a:off x="768" y="95"/>
                <a:ext cx="336" cy="280"/>
              </a:xfrm>
              <a:prstGeom prst="rect">
                <a:avLst/>
              </a:prstGeom>
              <a:solidFill>
                <a:srgbClr val="FFCC99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31" name="Text Box 7"/>
              <p:cNvSpPr txBox="1"/>
              <p:nvPr/>
            </p:nvSpPr>
            <p:spPr>
              <a:xfrm>
                <a:off x="0" y="0"/>
                <a:ext cx="240" cy="272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H</a:t>
                </a:r>
              </a:p>
            </p:txBody>
          </p:sp>
          <p:sp>
            <p:nvSpPr>
              <p:cNvPr id="77832" name="Line 8"/>
              <p:cNvSpPr/>
              <p:nvPr/>
            </p:nvSpPr>
            <p:spPr>
              <a:xfrm>
                <a:off x="96" y="240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3" name="Line 9"/>
              <p:cNvSpPr/>
              <p:nvPr/>
            </p:nvSpPr>
            <p:spPr>
              <a:xfrm flipH="1">
                <a:off x="432" y="96"/>
                <a:ext cx="192" cy="144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4" name="Line 10"/>
              <p:cNvSpPr/>
              <p:nvPr/>
            </p:nvSpPr>
            <p:spPr>
              <a:xfrm flipH="1">
                <a:off x="432" y="96"/>
                <a:ext cx="336" cy="288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5" name="Line 11"/>
              <p:cNvSpPr/>
              <p:nvPr/>
            </p:nvSpPr>
            <p:spPr>
              <a:xfrm flipH="1">
                <a:off x="624" y="240"/>
                <a:ext cx="144" cy="144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836" name="Text Box 12"/>
            <p:cNvSpPr txBox="1"/>
            <p:nvPr/>
          </p:nvSpPr>
          <p:spPr>
            <a:xfrm>
              <a:off x="1584" y="95"/>
              <a:ext cx="336" cy="280"/>
            </a:xfrm>
            <a:prstGeom prst="rect">
              <a:avLst/>
            </a:prstGeom>
            <a:solidFill>
              <a:srgbClr val="FFCC99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837" name="Text Box 13"/>
            <p:cNvSpPr txBox="1"/>
            <p:nvPr/>
          </p:nvSpPr>
          <p:spPr>
            <a:xfrm>
              <a:off x="1249" y="95"/>
              <a:ext cx="335" cy="280"/>
            </a:xfrm>
            <a:prstGeom prst="rect">
              <a:avLst/>
            </a:prstGeom>
            <a:solidFill>
              <a:srgbClr val="FF99CC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7838" name="Text Box 14"/>
            <p:cNvSpPr txBox="1"/>
            <p:nvPr/>
          </p:nvSpPr>
          <p:spPr>
            <a:xfrm>
              <a:off x="2064" y="95"/>
              <a:ext cx="336" cy="280"/>
            </a:xfrm>
            <a:prstGeom prst="rect">
              <a:avLst/>
            </a:prstGeom>
            <a:solidFill>
              <a:srgbClr val="FF99CC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77839" name="Text Box 15"/>
            <p:cNvSpPr txBox="1"/>
            <p:nvPr/>
          </p:nvSpPr>
          <p:spPr>
            <a:xfrm>
              <a:off x="2400" y="95"/>
              <a:ext cx="336" cy="280"/>
            </a:xfrm>
            <a:prstGeom prst="rect">
              <a:avLst/>
            </a:prstGeom>
            <a:solidFill>
              <a:srgbClr val="FFCC99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840" name="Text Box 16"/>
            <p:cNvSpPr txBox="1"/>
            <p:nvPr/>
          </p:nvSpPr>
          <p:spPr>
            <a:xfrm>
              <a:off x="2880" y="95"/>
              <a:ext cx="336" cy="280"/>
            </a:xfrm>
            <a:prstGeom prst="rect">
              <a:avLst/>
            </a:prstGeom>
            <a:solidFill>
              <a:srgbClr val="FF99CC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7841" name="Text Box 17"/>
            <p:cNvSpPr txBox="1"/>
            <p:nvPr/>
          </p:nvSpPr>
          <p:spPr>
            <a:xfrm>
              <a:off x="3216" y="95"/>
              <a:ext cx="336" cy="280"/>
            </a:xfrm>
            <a:prstGeom prst="rect">
              <a:avLst/>
            </a:prstGeom>
            <a:solidFill>
              <a:srgbClr val="FFCC99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842" name="Text Box 18"/>
            <p:cNvSpPr txBox="1"/>
            <p:nvPr/>
          </p:nvSpPr>
          <p:spPr>
            <a:xfrm>
              <a:off x="4080" y="103"/>
              <a:ext cx="336" cy="279"/>
            </a:xfrm>
            <a:prstGeom prst="rect">
              <a:avLst/>
            </a:prstGeom>
            <a:solidFill>
              <a:srgbClr val="FFCC99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843" name="Text Box 19"/>
            <p:cNvSpPr txBox="1"/>
            <p:nvPr/>
          </p:nvSpPr>
          <p:spPr>
            <a:xfrm>
              <a:off x="3744" y="103"/>
              <a:ext cx="336" cy="279"/>
            </a:xfrm>
            <a:prstGeom prst="rect">
              <a:avLst/>
            </a:prstGeom>
            <a:solidFill>
              <a:srgbClr val="FF99CC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77844" name="Text Box 20"/>
            <p:cNvSpPr txBox="1"/>
            <p:nvPr/>
          </p:nvSpPr>
          <p:spPr>
            <a:xfrm>
              <a:off x="4559" y="103"/>
              <a:ext cx="337" cy="279"/>
            </a:xfrm>
            <a:prstGeom prst="rect">
              <a:avLst/>
            </a:prstGeom>
            <a:solidFill>
              <a:srgbClr val="FF99CC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7845" name="Text Box 21"/>
            <p:cNvSpPr txBox="1"/>
            <p:nvPr/>
          </p:nvSpPr>
          <p:spPr>
            <a:xfrm>
              <a:off x="4896" y="103"/>
              <a:ext cx="336" cy="279"/>
            </a:xfrm>
            <a:prstGeom prst="rect">
              <a:avLst/>
            </a:prstGeom>
            <a:solidFill>
              <a:srgbClr val="FFCC99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77846" name="Line 22"/>
            <p:cNvSpPr/>
            <p:nvPr/>
          </p:nvSpPr>
          <p:spPr>
            <a:xfrm>
              <a:off x="960" y="246"/>
              <a:ext cx="288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7" name="Line 23"/>
            <p:cNvSpPr/>
            <p:nvPr/>
          </p:nvSpPr>
          <p:spPr>
            <a:xfrm>
              <a:off x="2544" y="246"/>
              <a:ext cx="336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8" name="Line 24"/>
            <p:cNvSpPr/>
            <p:nvPr/>
          </p:nvSpPr>
          <p:spPr>
            <a:xfrm>
              <a:off x="3360" y="246"/>
              <a:ext cx="384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9" name="Line 25"/>
            <p:cNvSpPr/>
            <p:nvPr/>
          </p:nvSpPr>
          <p:spPr>
            <a:xfrm>
              <a:off x="1776" y="246"/>
              <a:ext cx="288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0" name="Line 26"/>
            <p:cNvSpPr/>
            <p:nvPr/>
          </p:nvSpPr>
          <p:spPr>
            <a:xfrm>
              <a:off x="4272" y="246"/>
              <a:ext cx="288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4924" y="372247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br>
              <a:rPr dirty="0">
                <a:sym typeface="+mn-ea"/>
              </a:rPr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5" y="1335405"/>
            <a:ext cx="9025255" cy="2077085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3</a:t>
            </a:r>
            <a:r>
              <a:rPr sz="2000" dirty="0">
                <a:solidFill>
                  <a:schemeClr val="bg1"/>
                </a:solidFill>
                <a:sym typeface="+mn-ea"/>
              </a:rPr>
              <a:t>、设两单链表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A</a:t>
            </a:r>
            <a:r>
              <a:rPr sz="2000" dirty="0">
                <a:solidFill>
                  <a:schemeClr val="bg1"/>
                </a:solidFill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B</a:t>
            </a:r>
            <a:r>
              <a:rPr sz="2000" dirty="0">
                <a:solidFill>
                  <a:schemeClr val="bg1"/>
                </a:solidFill>
                <a:sym typeface="+mn-ea"/>
              </a:rPr>
              <a:t>按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data</a:t>
            </a:r>
            <a:r>
              <a:rPr sz="2000" dirty="0">
                <a:solidFill>
                  <a:schemeClr val="bg1"/>
                </a:solidFill>
                <a:sym typeface="+mn-ea"/>
              </a:rPr>
              <a:t>值（设为整型）递增有序，将表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A</a:t>
            </a:r>
            <a:r>
              <a:rPr sz="2000" dirty="0">
                <a:solidFill>
                  <a:schemeClr val="bg1"/>
                </a:solidFill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B</a:t>
            </a:r>
            <a:r>
              <a:rPr sz="2000" dirty="0">
                <a:solidFill>
                  <a:schemeClr val="bg1"/>
                </a:solidFill>
                <a:sym typeface="+mn-ea"/>
              </a:rPr>
              <a:t>合并成一表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A</a:t>
            </a:r>
            <a:r>
              <a:rPr sz="2000" dirty="0">
                <a:solidFill>
                  <a:schemeClr val="bg1"/>
                </a:solidFill>
                <a:sym typeface="+mn-ea"/>
              </a:rPr>
              <a:t>，且表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A</a:t>
            </a:r>
            <a:r>
              <a:rPr sz="2000" dirty="0">
                <a:solidFill>
                  <a:schemeClr val="bg1"/>
                </a:solidFill>
                <a:sym typeface="+mn-ea"/>
              </a:rPr>
              <a:t>也按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data</a:t>
            </a:r>
            <a:r>
              <a:rPr sz="2000" dirty="0">
                <a:solidFill>
                  <a:schemeClr val="bg1"/>
                </a:solidFill>
                <a:sym typeface="+mn-ea"/>
              </a:rPr>
              <a:t>值递增有序。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/>
            <a:r>
              <a:rPr sz="2000" b="1" dirty="0">
                <a:solidFill>
                  <a:schemeClr val="bg1"/>
                </a:solidFill>
                <a:sym typeface="+mn-ea"/>
              </a:rPr>
              <a:t>算法思路</a:t>
            </a:r>
            <a:r>
              <a:rPr sz="2000" dirty="0">
                <a:solidFill>
                  <a:schemeClr val="bg1"/>
                </a:solidFill>
                <a:sym typeface="+mn-ea"/>
              </a:rPr>
              <a:t>：设指针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p</a:t>
            </a:r>
            <a:r>
              <a:rPr sz="2000" dirty="0">
                <a:solidFill>
                  <a:schemeClr val="bg1"/>
                </a:solidFill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q</a:t>
            </a:r>
            <a:r>
              <a:rPr sz="2000" dirty="0">
                <a:solidFill>
                  <a:schemeClr val="bg1"/>
                </a:solidFill>
                <a:sym typeface="+mn-ea"/>
              </a:rPr>
              <a:t>分别指向表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A</a:t>
            </a:r>
            <a:r>
              <a:rPr sz="2000" dirty="0">
                <a:solidFill>
                  <a:schemeClr val="bg1"/>
                </a:solidFill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B</a:t>
            </a:r>
            <a:r>
              <a:rPr sz="2000" dirty="0">
                <a:solidFill>
                  <a:schemeClr val="bg1"/>
                </a:solidFill>
                <a:sym typeface="+mn-ea"/>
              </a:rPr>
              <a:t>中的结点，若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p-&gt;data ≤q-&gt;data</a:t>
            </a:r>
            <a:r>
              <a:rPr sz="2000" dirty="0">
                <a:solidFill>
                  <a:schemeClr val="bg1"/>
                </a:solidFill>
                <a:sym typeface="+mn-ea"/>
              </a:rPr>
              <a:t>则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p</a:t>
            </a:r>
            <a:r>
              <a:rPr sz="2000" dirty="0">
                <a:solidFill>
                  <a:schemeClr val="bg1"/>
                </a:solidFill>
                <a:sym typeface="+mn-ea"/>
              </a:rPr>
              <a:t>结点进入结果表，否则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q</a:t>
            </a:r>
            <a:r>
              <a:rPr sz="2000" dirty="0">
                <a:solidFill>
                  <a:schemeClr val="bg1"/>
                </a:solidFill>
                <a:sym typeface="+mn-ea"/>
              </a:rPr>
              <a:t>结点进入结果表。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grpSp>
        <p:nvGrpSpPr>
          <p:cNvPr id="78851" name="Group 4"/>
          <p:cNvGrpSpPr/>
          <p:nvPr/>
        </p:nvGrpSpPr>
        <p:grpSpPr>
          <a:xfrm>
            <a:off x="1071492" y="3594477"/>
            <a:ext cx="7239000" cy="1479550"/>
            <a:chOff x="0" y="0"/>
            <a:chExt cx="11400" cy="2329"/>
          </a:xfrm>
        </p:grpSpPr>
        <p:grpSp>
          <p:nvGrpSpPr>
            <p:cNvPr id="78852" name="Group 5"/>
            <p:cNvGrpSpPr/>
            <p:nvPr/>
          </p:nvGrpSpPr>
          <p:grpSpPr>
            <a:xfrm>
              <a:off x="0" y="0"/>
              <a:ext cx="8880" cy="770"/>
              <a:chOff x="0" y="0"/>
              <a:chExt cx="4272" cy="417"/>
            </a:xfrm>
          </p:grpSpPr>
          <p:grpSp>
            <p:nvGrpSpPr>
              <p:cNvPr id="78853" name="Group 6"/>
              <p:cNvGrpSpPr/>
              <p:nvPr/>
            </p:nvGrpSpPr>
            <p:grpSpPr>
              <a:xfrm>
                <a:off x="0" y="0"/>
                <a:ext cx="1104" cy="417"/>
                <a:chOff x="0" y="0"/>
                <a:chExt cx="1104" cy="417"/>
              </a:xfrm>
            </p:grpSpPr>
            <p:sp>
              <p:nvSpPr>
                <p:cNvPr id="78854" name="Text Box 21"/>
                <p:cNvSpPr txBox="1"/>
                <p:nvPr/>
              </p:nvSpPr>
              <p:spPr>
                <a:xfrm>
                  <a:off x="432" y="96"/>
                  <a:ext cx="336" cy="32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855" name="Text Box 22"/>
                <p:cNvSpPr txBox="1"/>
                <p:nvPr/>
              </p:nvSpPr>
              <p:spPr>
                <a:xfrm>
                  <a:off x="768" y="96"/>
                  <a:ext cx="336" cy="321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856" name="Text Box 23"/>
                <p:cNvSpPr txBox="1"/>
                <p:nvPr/>
              </p:nvSpPr>
              <p:spPr>
                <a:xfrm>
                  <a:off x="0" y="0"/>
                  <a:ext cx="241" cy="31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</a:p>
              </p:txBody>
            </p:sp>
            <p:sp>
              <p:nvSpPr>
                <p:cNvPr id="78857" name="Line 24"/>
                <p:cNvSpPr/>
                <p:nvPr/>
              </p:nvSpPr>
              <p:spPr>
                <a:xfrm>
                  <a:off x="96" y="240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58" name="Line 25"/>
                <p:cNvSpPr/>
                <p:nvPr/>
              </p:nvSpPr>
              <p:spPr>
                <a:xfrm flipH="1">
                  <a:off x="432" y="96"/>
                  <a:ext cx="192" cy="144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59" name="Line 26"/>
                <p:cNvSpPr/>
                <p:nvPr/>
              </p:nvSpPr>
              <p:spPr>
                <a:xfrm flipH="1">
                  <a:off x="432" y="96"/>
                  <a:ext cx="336" cy="288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60" name="Line 27"/>
                <p:cNvSpPr/>
                <p:nvPr/>
              </p:nvSpPr>
              <p:spPr>
                <a:xfrm flipH="1">
                  <a:off x="624" y="240"/>
                  <a:ext cx="144" cy="144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8861" name="Group 14"/>
              <p:cNvGrpSpPr/>
              <p:nvPr/>
            </p:nvGrpSpPr>
            <p:grpSpPr>
              <a:xfrm>
                <a:off x="912" y="96"/>
                <a:ext cx="1248" cy="321"/>
                <a:chOff x="0" y="0"/>
                <a:chExt cx="1248" cy="321"/>
              </a:xfrm>
            </p:grpSpPr>
            <p:sp>
              <p:nvSpPr>
                <p:cNvPr id="78862" name="Text Box 29"/>
                <p:cNvSpPr txBox="1"/>
                <p:nvPr/>
              </p:nvSpPr>
              <p:spPr>
                <a:xfrm>
                  <a:off x="913" y="0"/>
                  <a:ext cx="335" cy="321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863" name="Text Box 30"/>
                <p:cNvSpPr txBox="1"/>
                <p:nvPr/>
              </p:nvSpPr>
              <p:spPr>
                <a:xfrm>
                  <a:off x="576" y="0"/>
                  <a:ext cx="337" cy="32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78864" name="Line 31"/>
                <p:cNvSpPr/>
                <p:nvPr/>
              </p:nvSpPr>
              <p:spPr>
                <a:xfrm>
                  <a:off x="0" y="144"/>
                  <a:ext cx="57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8865" name="Group 18"/>
              <p:cNvGrpSpPr/>
              <p:nvPr/>
            </p:nvGrpSpPr>
            <p:grpSpPr>
              <a:xfrm>
                <a:off x="2016" y="96"/>
                <a:ext cx="1200" cy="321"/>
                <a:chOff x="0" y="0"/>
                <a:chExt cx="1200" cy="321"/>
              </a:xfrm>
            </p:grpSpPr>
            <p:sp>
              <p:nvSpPr>
                <p:cNvPr id="78866" name="Text Box 33"/>
                <p:cNvSpPr txBox="1"/>
                <p:nvPr/>
              </p:nvSpPr>
              <p:spPr>
                <a:xfrm>
                  <a:off x="528" y="0"/>
                  <a:ext cx="337" cy="32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78867" name="Text Box 34"/>
                <p:cNvSpPr txBox="1"/>
                <p:nvPr/>
              </p:nvSpPr>
              <p:spPr>
                <a:xfrm>
                  <a:off x="865" y="0"/>
                  <a:ext cx="335" cy="321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868" name="Line 35"/>
                <p:cNvSpPr/>
                <p:nvPr/>
              </p:nvSpPr>
              <p:spPr>
                <a:xfrm>
                  <a:off x="0" y="144"/>
                  <a:ext cx="528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8869" name="Group 22"/>
              <p:cNvGrpSpPr/>
              <p:nvPr/>
            </p:nvGrpSpPr>
            <p:grpSpPr>
              <a:xfrm>
                <a:off x="3072" y="96"/>
                <a:ext cx="1200" cy="321"/>
                <a:chOff x="0" y="0"/>
                <a:chExt cx="1200" cy="321"/>
              </a:xfrm>
            </p:grpSpPr>
            <p:sp>
              <p:nvSpPr>
                <p:cNvPr id="78870" name="Text Box 37"/>
                <p:cNvSpPr txBox="1"/>
                <p:nvPr/>
              </p:nvSpPr>
              <p:spPr>
                <a:xfrm>
                  <a:off x="528" y="0"/>
                  <a:ext cx="337" cy="32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  <p:sp>
              <p:nvSpPr>
                <p:cNvPr id="78871" name="Text Box 38"/>
                <p:cNvSpPr txBox="1"/>
                <p:nvPr/>
              </p:nvSpPr>
              <p:spPr>
                <a:xfrm>
                  <a:off x="865" y="0"/>
                  <a:ext cx="335" cy="321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^</a:t>
                  </a:r>
                </a:p>
              </p:txBody>
            </p:sp>
            <p:sp>
              <p:nvSpPr>
                <p:cNvPr id="78872" name="Line 39"/>
                <p:cNvSpPr/>
                <p:nvPr/>
              </p:nvSpPr>
              <p:spPr>
                <a:xfrm>
                  <a:off x="0" y="144"/>
                  <a:ext cx="528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8873" name="Group 26"/>
            <p:cNvGrpSpPr/>
            <p:nvPr/>
          </p:nvGrpSpPr>
          <p:grpSpPr>
            <a:xfrm>
              <a:off x="0" y="780"/>
              <a:ext cx="7320" cy="735"/>
              <a:chOff x="0" y="0"/>
              <a:chExt cx="3216" cy="497"/>
            </a:xfrm>
          </p:grpSpPr>
          <p:grpSp>
            <p:nvGrpSpPr>
              <p:cNvPr id="78874" name="Group 27"/>
              <p:cNvGrpSpPr/>
              <p:nvPr/>
            </p:nvGrpSpPr>
            <p:grpSpPr>
              <a:xfrm>
                <a:off x="0" y="0"/>
                <a:ext cx="1104" cy="497"/>
                <a:chOff x="0" y="0"/>
                <a:chExt cx="1104" cy="497"/>
              </a:xfrm>
            </p:grpSpPr>
            <p:sp>
              <p:nvSpPr>
                <p:cNvPr id="78875" name="Text Box 42"/>
                <p:cNvSpPr txBox="1"/>
                <p:nvPr/>
              </p:nvSpPr>
              <p:spPr>
                <a:xfrm>
                  <a:off x="432" y="95"/>
                  <a:ext cx="336" cy="40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876" name="Text Box 43"/>
                <p:cNvSpPr txBox="1"/>
                <p:nvPr/>
              </p:nvSpPr>
              <p:spPr>
                <a:xfrm>
                  <a:off x="768" y="96"/>
                  <a:ext cx="336" cy="401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877" name="Text Box 44"/>
                <p:cNvSpPr txBox="1"/>
                <p:nvPr/>
              </p:nvSpPr>
              <p:spPr>
                <a:xfrm>
                  <a:off x="0" y="0"/>
                  <a:ext cx="239" cy="3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B</a:t>
                  </a:r>
                </a:p>
              </p:txBody>
            </p:sp>
            <p:sp>
              <p:nvSpPr>
                <p:cNvPr id="78878" name="Line 45"/>
                <p:cNvSpPr/>
                <p:nvPr/>
              </p:nvSpPr>
              <p:spPr>
                <a:xfrm>
                  <a:off x="96" y="240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79" name="Line 46"/>
                <p:cNvSpPr/>
                <p:nvPr/>
              </p:nvSpPr>
              <p:spPr>
                <a:xfrm flipH="1">
                  <a:off x="432" y="96"/>
                  <a:ext cx="192" cy="144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80" name="Line 47"/>
                <p:cNvSpPr/>
                <p:nvPr/>
              </p:nvSpPr>
              <p:spPr>
                <a:xfrm flipH="1">
                  <a:off x="432" y="96"/>
                  <a:ext cx="336" cy="288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81" name="Line 48"/>
                <p:cNvSpPr/>
                <p:nvPr/>
              </p:nvSpPr>
              <p:spPr>
                <a:xfrm flipH="1">
                  <a:off x="624" y="240"/>
                  <a:ext cx="144" cy="144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8882" name="Group 35"/>
              <p:cNvGrpSpPr/>
              <p:nvPr/>
            </p:nvGrpSpPr>
            <p:grpSpPr>
              <a:xfrm>
                <a:off x="912" y="96"/>
                <a:ext cx="1248" cy="401"/>
                <a:chOff x="0" y="0"/>
                <a:chExt cx="1248" cy="401"/>
              </a:xfrm>
            </p:grpSpPr>
            <p:sp>
              <p:nvSpPr>
                <p:cNvPr id="78883" name="Text Box 50"/>
                <p:cNvSpPr txBox="1"/>
                <p:nvPr/>
              </p:nvSpPr>
              <p:spPr>
                <a:xfrm>
                  <a:off x="912" y="0"/>
                  <a:ext cx="336" cy="401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884" name="Text Box 51"/>
                <p:cNvSpPr txBox="1"/>
                <p:nvPr/>
              </p:nvSpPr>
              <p:spPr>
                <a:xfrm>
                  <a:off x="576" y="0"/>
                  <a:ext cx="336" cy="40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78885" name="Line 52"/>
                <p:cNvSpPr/>
                <p:nvPr/>
              </p:nvSpPr>
              <p:spPr>
                <a:xfrm>
                  <a:off x="0" y="144"/>
                  <a:ext cx="57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8886" name="Group 39"/>
              <p:cNvGrpSpPr/>
              <p:nvPr/>
            </p:nvGrpSpPr>
            <p:grpSpPr>
              <a:xfrm>
                <a:off x="1968" y="96"/>
                <a:ext cx="1248" cy="401"/>
                <a:chOff x="0" y="0"/>
                <a:chExt cx="1248" cy="401"/>
              </a:xfrm>
            </p:grpSpPr>
            <p:sp>
              <p:nvSpPr>
                <p:cNvPr id="78887" name="Text Box 54"/>
                <p:cNvSpPr txBox="1"/>
                <p:nvPr/>
              </p:nvSpPr>
              <p:spPr>
                <a:xfrm>
                  <a:off x="912" y="0"/>
                  <a:ext cx="336" cy="401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^</a:t>
                  </a:r>
                </a:p>
              </p:txBody>
            </p:sp>
            <p:sp>
              <p:nvSpPr>
                <p:cNvPr id="78888" name="Text Box 55"/>
                <p:cNvSpPr txBox="1"/>
                <p:nvPr/>
              </p:nvSpPr>
              <p:spPr>
                <a:xfrm>
                  <a:off x="576" y="0"/>
                  <a:ext cx="336" cy="40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78889" name="Line 56"/>
                <p:cNvSpPr/>
                <p:nvPr/>
              </p:nvSpPr>
              <p:spPr>
                <a:xfrm>
                  <a:off x="0" y="144"/>
                  <a:ext cx="57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8890" name="Group 43"/>
            <p:cNvGrpSpPr/>
            <p:nvPr/>
          </p:nvGrpSpPr>
          <p:grpSpPr>
            <a:xfrm>
              <a:off x="0" y="1515"/>
              <a:ext cx="11400" cy="815"/>
              <a:chOff x="0" y="0"/>
              <a:chExt cx="5232" cy="384"/>
            </a:xfrm>
          </p:grpSpPr>
          <p:grpSp>
            <p:nvGrpSpPr>
              <p:cNvPr id="78891" name="Group 44"/>
              <p:cNvGrpSpPr/>
              <p:nvPr/>
            </p:nvGrpSpPr>
            <p:grpSpPr>
              <a:xfrm>
                <a:off x="0" y="0"/>
                <a:ext cx="1104" cy="384"/>
                <a:chOff x="0" y="0"/>
                <a:chExt cx="1104" cy="384"/>
              </a:xfrm>
            </p:grpSpPr>
            <p:sp>
              <p:nvSpPr>
                <p:cNvPr id="78892" name="Text Box 4"/>
                <p:cNvSpPr txBox="1"/>
                <p:nvPr/>
              </p:nvSpPr>
              <p:spPr>
                <a:xfrm>
                  <a:off x="432" y="95"/>
                  <a:ext cx="336" cy="280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893" name="Text Box 5"/>
                <p:cNvSpPr txBox="1"/>
                <p:nvPr/>
              </p:nvSpPr>
              <p:spPr>
                <a:xfrm>
                  <a:off x="768" y="95"/>
                  <a:ext cx="336" cy="280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894" name="Text Box 6"/>
                <p:cNvSpPr txBox="1"/>
                <p:nvPr/>
              </p:nvSpPr>
              <p:spPr>
                <a:xfrm>
                  <a:off x="0" y="0"/>
                  <a:ext cx="240" cy="27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</a:p>
              </p:txBody>
            </p:sp>
            <p:sp>
              <p:nvSpPr>
                <p:cNvPr id="78895" name="Line 7"/>
                <p:cNvSpPr/>
                <p:nvPr/>
              </p:nvSpPr>
              <p:spPr>
                <a:xfrm>
                  <a:off x="96" y="240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96" name="Line 8"/>
                <p:cNvSpPr/>
                <p:nvPr/>
              </p:nvSpPr>
              <p:spPr>
                <a:xfrm flipH="1">
                  <a:off x="432" y="96"/>
                  <a:ext cx="192" cy="144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97" name="Line 9"/>
                <p:cNvSpPr/>
                <p:nvPr/>
              </p:nvSpPr>
              <p:spPr>
                <a:xfrm flipH="1">
                  <a:off x="432" y="96"/>
                  <a:ext cx="336" cy="288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98" name="Line 10"/>
                <p:cNvSpPr/>
                <p:nvPr/>
              </p:nvSpPr>
              <p:spPr>
                <a:xfrm flipH="1">
                  <a:off x="624" y="240"/>
                  <a:ext cx="144" cy="144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8899" name="Group 52"/>
              <p:cNvGrpSpPr/>
              <p:nvPr/>
            </p:nvGrpSpPr>
            <p:grpSpPr>
              <a:xfrm>
                <a:off x="960" y="96"/>
                <a:ext cx="960" cy="279"/>
                <a:chOff x="0" y="0"/>
                <a:chExt cx="960" cy="279"/>
              </a:xfrm>
            </p:grpSpPr>
            <p:sp>
              <p:nvSpPr>
                <p:cNvPr id="78900" name="Text Box 12"/>
                <p:cNvSpPr txBox="1"/>
                <p:nvPr/>
              </p:nvSpPr>
              <p:spPr>
                <a:xfrm>
                  <a:off x="624" y="0"/>
                  <a:ext cx="336" cy="279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901" name="Text Box 13"/>
                <p:cNvSpPr txBox="1"/>
                <p:nvPr/>
              </p:nvSpPr>
              <p:spPr>
                <a:xfrm>
                  <a:off x="288" y="0"/>
                  <a:ext cx="336" cy="279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78902" name="Line 14"/>
                <p:cNvSpPr/>
                <p:nvPr/>
              </p:nvSpPr>
              <p:spPr>
                <a:xfrm>
                  <a:off x="0" y="150"/>
                  <a:ext cx="288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8903" name="Group 56"/>
              <p:cNvGrpSpPr/>
              <p:nvPr/>
            </p:nvGrpSpPr>
            <p:grpSpPr>
              <a:xfrm>
                <a:off x="1776" y="96"/>
                <a:ext cx="960" cy="279"/>
                <a:chOff x="0" y="0"/>
                <a:chExt cx="960" cy="279"/>
              </a:xfrm>
            </p:grpSpPr>
            <p:sp>
              <p:nvSpPr>
                <p:cNvPr id="78904" name="Text Box 16"/>
                <p:cNvSpPr txBox="1"/>
                <p:nvPr/>
              </p:nvSpPr>
              <p:spPr>
                <a:xfrm>
                  <a:off x="288" y="0"/>
                  <a:ext cx="336" cy="279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78905" name="Text Box 17"/>
                <p:cNvSpPr txBox="1"/>
                <p:nvPr/>
              </p:nvSpPr>
              <p:spPr>
                <a:xfrm>
                  <a:off x="624" y="0"/>
                  <a:ext cx="336" cy="279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906" name="Line 18"/>
                <p:cNvSpPr/>
                <p:nvPr/>
              </p:nvSpPr>
              <p:spPr>
                <a:xfrm>
                  <a:off x="0" y="150"/>
                  <a:ext cx="288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8907" name="Group 60"/>
              <p:cNvGrpSpPr/>
              <p:nvPr/>
            </p:nvGrpSpPr>
            <p:grpSpPr>
              <a:xfrm>
                <a:off x="2544" y="96"/>
                <a:ext cx="1008" cy="279"/>
                <a:chOff x="0" y="0"/>
                <a:chExt cx="1008" cy="279"/>
              </a:xfrm>
            </p:grpSpPr>
            <p:sp>
              <p:nvSpPr>
                <p:cNvPr id="78908" name="Text Box 58"/>
                <p:cNvSpPr txBox="1"/>
                <p:nvPr/>
              </p:nvSpPr>
              <p:spPr>
                <a:xfrm>
                  <a:off x="336" y="0"/>
                  <a:ext cx="336" cy="279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78909" name="Text Box 59"/>
                <p:cNvSpPr txBox="1"/>
                <p:nvPr/>
              </p:nvSpPr>
              <p:spPr>
                <a:xfrm>
                  <a:off x="672" y="0"/>
                  <a:ext cx="336" cy="279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910" name="Line 60"/>
                <p:cNvSpPr/>
                <p:nvPr/>
              </p:nvSpPr>
              <p:spPr>
                <a:xfrm>
                  <a:off x="0" y="150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8911" name="Group 64"/>
              <p:cNvGrpSpPr/>
              <p:nvPr/>
            </p:nvGrpSpPr>
            <p:grpSpPr>
              <a:xfrm>
                <a:off x="3360" y="102"/>
                <a:ext cx="1872" cy="280"/>
                <a:chOff x="0" y="0"/>
                <a:chExt cx="1872" cy="280"/>
              </a:xfrm>
            </p:grpSpPr>
            <p:sp>
              <p:nvSpPr>
                <p:cNvPr id="78912" name="Text Box 62"/>
                <p:cNvSpPr txBox="1"/>
                <p:nvPr/>
              </p:nvSpPr>
              <p:spPr>
                <a:xfrm>
                  <a:off x="720" y="0"/>
                  <a:ext cx="336" cy="280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913" name="Text Box 63"/>
                <p:cNvSpPr txBox="1"/>
                <p:nvPr/>
              </p:nvSpPr>
              <p:spPr>
                <a:xfrm>
                  <a:off x="384" y="0"/>
                  <a:ext cx="336" cy="280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78914" name="Text Box 64"/>
                <p:cNvSpPr txBox="1"/>
                <p:nvPr/>
              </p:nvSpPr>
              <p:spPr>
                <a:xfrm>
                  <a:off x="1200" y="0"/>
                  <a:ext cx="336" cy="280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  <p:sp>
              <p:nvSpPr>
                <p:cNvPr id="78915" name="Text Box 65"/>
                <p:cNvSpPr txBox="1"/>
                <p:nvPr/>
              </p:nvSpPr>
              <p:spPr>
                <a:xfrm>
                  <a:off x="1536" y="0"/>
                  <a:ext cx="336" cy="280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^</a:t>
                  </a:r>
                </a:p>
              </p:txBody>
            </p:sp>
            <p:sp>
              <p:nvSpPr>
                <p:cNvPr id="78916" name="Line 66"/>
                <p:cNvSpPr/>
                <p:nvPr/>
              </p:nvSpPr>
              <p:spPr>
                <a:xfrm>
                  <a:off x="912" y="144"/>
                  <a:ext cx="288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917" name="Line 67"/>
                <p:cNvSpPr/>
                <p:nvPr/>
              </p:nvSpPr>
              <p:spPr>
                <a:xfrm>
                  <a:off x="0" y="144"/>
                  <a:ext cx="384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28</TotalTime>
  <Words>170</Words>
  <Application>Microsoft Office PowerPoint</Application>
  <PresentationFormat>宽屏</PresentationFormat>
  <Paragraphs>63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 PL UMing CN</vt:lpstr>
      <vt:lpstr>方正兰亭粗黑_GBK</vt:lpstr>
      <vt:lpstr>华文细黑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Wingdings 3</vt:lpstr>
      <vt:lpstr>1_华清远见PPT模板（宽屏）-华清远见教育集团</vt:lpstr>
      <vt:lpstr>Office 主题</vt:lpstr>
      <vt:lpstr>PowerPoint 演示文稿</vt:lpstr>
      <vt:lpstr>基本运算的相关算法</vt:lpstr>
      <vt:lpstr>基本运算的相关算法 </vt:lpstr>
      <vt:lpstr>基本运算的相关算法  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明源 杨</cp:lastModifiedBy>
  <cp:revision>1124</cp:revision>
  <cp:lastPrinted>2011-09-16T06:19:00Z</cp:lastPrinted>
  <dcterms:created xsi:type="dcterms:W3CDTF">2016-04-14T04:36:00Z</dcterms:created>
  <dcterms:modified xsi:type="dcterms:W3CDTF">2025-03-11T13:04:53Z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