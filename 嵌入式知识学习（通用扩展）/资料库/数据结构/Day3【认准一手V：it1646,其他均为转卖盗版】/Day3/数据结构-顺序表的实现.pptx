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8"/>
  </p:handoutMasterIdLst>
  <p:sldIdLst>
    <p:sldId id="1110" r:id="rId4"/>
    <p:sldId id="1078" r:id="rId6"/>
    <p:sldId id="1056" r:id="rId7"/>
    <p:sldId id="775" r:id="rId8"/>
    <p:sldId id="1081" r:id="rId9"/>
    <p:sldId id="1036" r:id="rId10"/>
    <p:sldId id="1079" r:id="rId11"/>
    <p:sldId id="1057" r:id="rId12"/>
    <p:sldId id="1080" r:id="rId13"/>
    <p:sldId id="776" r:id="rId14"/>
    <p:sldId id="777" r:id="rId15"/>
    <p:sldId id="789" r:id="rId16"/>
    <p:sldId id="1108" r:id="rId17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6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23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3个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29344" y="592176"/>
            <a:ext cx="10363200" cy="533348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defRPr lang="zh-CN" altLang="en-US"/>
            </a:lvl1pPr>
          </a:lstStyle>
          <a:p>
            <a:r>
              <a:rPr lang="zh-CN" altLang="en-US" sz="2000" b="1" kern="1200" noProof="0" dirty="0">
                <a:solidFill>
                  <a:srgbClr val="216F96"/>
                </a:solidFill>
                <a:latin typeface="华文细黑" panose="02010600040101010101" pitchFamily="2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课程目录</a:t>
            </a:r>
            <a:endParaRPr lang="zh-CN" altLang="en-US" sz="2000" b="1" kern="1200" noProof="0" dirty="0">
              <a:solidFill>
                <a:srgbClr val="216F96"/>
              </a:solidFill>
              <a:latin typeface="华文细黑" panose="02010600040101010101" pitchFamily="2" charset="-122"/>
              <a:ea typeface="微软雅黑" panose="020B0503020204020204" pitchFamily="34" charset="-122"/>
              <a:cs typeface="+mj-cs"/>
              <a:sym typeface="Calibri" panose="020F0502020204030204" pitchFamily="34" charset="0"/>
            </a:endParaRPr>
          </a:p>
        </p:txBody>
      </p:sp>
      <p:sp>
        <p:nvSpPr>
          <p:cNvPr id="15" name="文本占位符 120"/>
          <p:cNvSpPr>
            <a:spLocks noGrp="1"/>
          </p:cNvSpPr>
          <p:nvPr>
            <p:ph type="body" sz="quarter" idx="13"/>
          </p:nvPr>
        </p:nvSpPr>
        <p:spPr>
          <a:xfrm>
            <a:off x="1391673" y="1701447"/>
            <a:ext cx="6778423" cy="3167570"/>
          </a:xfrm>
          <a:prstGeom prst="rect">
            <a:avLst/>
          </a:prstGeom>
        </p:spPr>
        <p:txBody>
          <a:bodyPr vert="horz" anchor="ctr"/>
          <a:lstStyle>
            <a:lvl1pPr marL="457200" marR="0" indent="-457200" algn="l" defTabSz="914400" rtl="0" eaLnBrk="1" fontAlgn="auto" latinLnBrk="0" hangingPunct="1">
              <a:lnSpc>
                <a:spcPct val="15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defRPr lang="zh-CN" altLang="en-US" sz="2400" b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顺序表的实现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线性表</a:t>
            </a:r>
            <a:r>
              <a:rPr lang="zh-CN" sz="4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的基本运算</a:t>
            </a:r>
            <a:endParaRPr lang="zh-CN" sz="4400" b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33705" y="46672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线性表的基本运算</a:t>
            </a:r>
            <a:endParaRPr lang="en-US" altLang="zh-CN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433705" y="1498600"/>
            <a:ext cx="10725785" cy="448437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  <a:buNone/>
            </a:pPr>
            <a:r>
              <a: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设线性表 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L=(a</a:t>
            </a:r>
            <a:r>
              <a:rPr lang="en-US" altLang="zh-CN" sz="22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2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……,a</a:t>
            </a:r>
            <a:r>
              <a:rPr lang="en-US" altLang="zh-CN" sz="22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，对 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的基本运算有：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</a:t>
            </a:r>
            <a:r>
              <a: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建立一个空表：</a:t>
            </a:r>
            <a:r>
              <a:rPr lang="en-US" altLang="zh-CN" sz="2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list_create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(L)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eaLnBrk="1" hangingPunct="1">
              <a:lnSpc>
                <a:spcPct val="160000"/>
              </a:lnSpc>
              <a:buNone/>
            </a:pP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2)</a:t>
            </a:r>
            <a:r>
              <a: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置空表：</a:t>
            </a:r>
            <a:r>
              <a:rPr lang="en-US" altLang="zh-CN" sz="2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list_clear(</a:t>
            </a:r>
            <a:r>
              <a:rPr lang="en-US" altLang="zh-CN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L)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34741" y="13652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35065" y="1149349"/>
            <a:ext cx="7841907" cy="5473026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3)</a:t>
            </a:r>
            <a:r>
              <a:rPr sz="2100" dirty="0">
                <a:solidFill>
                  <a:schemeClr val="bg1"/>
                </a:solidFill>
                <a:sym typeface="+mn-ea"/>
              </a:rPr>
              <a:t>判断表是否为空：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l</a:t>
            </a:r>
            <a:r>
              <a:rPr lang="en-US" altLang="zh-CN" sz="2100" dirty="0" err="1">
                <a:solidFill>
                  <a:schemeClr val="bg1"/>
                </a:solidFill>
                <a:sym typeface="+mn-ea"/>
              </a:rPr>
              <a:t>ist_empty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 (L)</a:t>
            </a:r>
            <a:r>
              <a:rPr sz="2100" dirty="0">
                <a:solidFill>
                  <a:schemeClr val="bg1"/>
                </a:solidFill>
                <a:sym typeface="+mn-ea"/>
              </a:rPr>
              <a:t>。若表为空，返回值为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1 , </a:t>
            </a:r>
            <a:r>
              <a:rPr sz="2100" dirty="0">
                <a:solidFill>
                  <a:schemeClr val="bg1"/>
                </a:solidFill>
                <a:sym typeface="+mn-ea"/>
              </a:rPr>
              <a:t>否则返回 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0</a:t>
            </a:r>
            <a:endParaRPr lang="zh-CN" altLang="en-US" sz="21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4)</a:t>
            </a:r>
            <a:r>
              <a:rPr sz="2100" dirty="0">
                <a:solidFill>
                  <a:schemeClr val="bg1"/>
                </a:solidFill>
                <a:sym typeface="+mn-ea"/>
              </a:rPr>
              <a:t>求表长：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length (L)</a:t>
            </a:r>
            <a:endParaRPr lang="zh-CN" altLang="en-US" sz="21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5)</a:t>
            </a:r>
            <a:r>
              <a:rPr sz="2100" dirty="0">
                <a:solidFill>
                  <a:schemeClr val="bg1"/>
                </a:solidFill>
                <a:sym typeface="+mn-ea"/>
              </a:rPr>
              <a:t>取表中某个元素：</a:t>
            </a:r>
            <a:r>
              <a:rPr lang="en-US" altLang="zh-CN" sz="2100" dirty="0" err="1">
                <a:solidFill>
                  <a:schemeClr val="bg1"/>
                </a:solidFill>
                <a:sym typeface="+mn-ea"/>
              </a:rPr>
              <a:t>GetList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(L , </a:t>
            </a:r>
            <a:r>
              <a:rPr lang="en-US" altLang="zh-CN" sz="21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 )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, </a:t>
            </a:r>
            <a:r>
              <a:rPr sz="2100" dirty="0">
                <a:solidFill>
                  <a:schemeClr val="bg1"/>
                </a:solidFill>
                <a:sym typeface="+mn-ea"/>
              </a:rPr>
              <a:t>即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1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100" dirty="0">
                <a:solidFill>
                  <a:schemeClr val="bg1"/>
                </a:solidFill>
                <a:sym typeface="+mn-ea"/>
              </a:rPr>
              <a:t>。要求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0≤i≤length(L)-1</a:t>
            </a:r>
            <a:endParaRPr lang="zh-CN" altLang="en-US" sz="21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6)</a:t>
            </a:r>
            <a:r>
              <a:rPr sz="2100" dirty="0">
                <a:solidFill>
                  <a:schemeClr val="bg1"/>
                </a:solidFill>
                <a:sym typeface="+mn-ea"/>
              </a:rPr>
              <a:t>定位运算：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Locate(</a:t>
            </a:r>
            <a:r>
              <a:rPr lang="en-US" altLang="zh-CN" sz="2100" dirty="0" err="1">
                <a:solidFill>
                  <a:schemeClr val="bg1"/>
                </a:solidFill>
                <a:sym typeface="+mn-ea"/>
              </a:rPr>
              <a:t>L,x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)</a:t>
            </a:r>
            <a:r>
              <a:rPr sz="2100" dirty="0">
                <a:solidFill>
                  <a:schemeClr val="bg1"/>
                </a:solidFill>
                <a:sym typeface="+mn-ea"/>
              </a:rPr>
              <a:t>。确定元素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x</a:t>
            </a:r>
            <a:r>
              <a:rPr sz="2100" dirty="0">
                <a:solidFill>
                  <a:schemeClr val="bg1"/>
                </a:solidFill>
                <a:sym typeface="+mn-ea"/>
              </a:rPr>
              <a:t>在表</a:t>
            </a:r>
            <a:r>
              <a:rPr lang="en-US" altLang="zh-CN" sz="2100" dirty="0">
                <a:solidFill>
                  <a:schemeClr val="bg1"/>
                </a:solidFill>
                <a:sym typeface="+mn-ea"/>
              </a:rPr>
              <a:t>L</a:t>
            </a:r>
            <a:r>
              <a:rPr sz="2100" dirty="0">
                <a:solidFill>
                  <a:schemeClr val="bg1"/>
                </a:solidFill>
                <a:sym typeface="+mn-ea"/>
              </a:rPr>
              <a:t>中的位置（或序号）</a:t>
            </a:r>
            <a:endParaRPr sz="21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6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                            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</a:t>
            </a:r>
            <a:r>
              <a:rPr sz="2000" dirty="0">
                <a:solidFill>
                  <a:schemeClr val="bg1"/>
                </a:solidFill>
                <a:sym typeface="+mn-ea"/>
              </a:rPr>
              <a:t>当元素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x=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∈L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,</a:t>
            </a:r>
            <a:r>
              <a:rPr sz="2000" dirty="0">
                <a:solidFill>
                  <a:schemeClr val="bg1"/>
                </a:solidFill>
                <a:sym typeface="+mn-ea"/>
              </a:rPr>
              <a:t>且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是第一个与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x</a:t>
            </a:r>
            <a:r>
              <a:rPr sz="2000" dirty="0">
                <a:solidFill>
                  <a:schemeClr val="bg1"/>
                </a:solidFill>
                <a:sym typeface="+mn-ea"/>
              </a:rPr>
              <a:t>相等时；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Locate(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L,x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     -1    x</a:t>
            </a:r>
            <a:r>
              <a:rPr sz="2000" dirty="0">
                <a:solidFill>
                  <a:schemeClr val="bg1"/>
                </a:solidFill>
                <a:sym typeface="+mn-ea"/>
              </a:rPr>
              <a:t>不属于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</a:t>
            </a:r>
            <a:r>
              <a:rPr sz="2000" dirty="0">
                <a:solidFill>
                  <a:schemeClr val="bg1"/>
                </a:solidFill>
                <a:sym typeface="+mn-ea"/>
              </a:rPr>
              <a:t>时。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60000"/>
              </a:lnSpc>
            </a:pPr>
            <a:endParaRPr lang="zh-CN" altLang="en-US" sz="2000" dirty="0"/>
          </a:p>
        </p:txBody>
      </p:sp>
      <p:sp>
        <p:nvSpPr>
          <p:cNvPr id="48132" name="AutoShape 4"/>
          <p:cNvSpPr/>
          <p:nvPr/>
        </p:nvSpPr>
        <p:spPr>
          <a:xfrm>
            <a:off x="2850188" y="440118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8132" grpId="0" animBg="1"/>
      <p:bldP spid="5" grpId="1" build="p"/>
      <p:bldP spid="4813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27990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427990" y="1409065"/>
            <a:ext cx="8588375" cy="469074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sz="2400" b="1" dirty="0">
                <a:solidFill>
                  <a:schemeClr val="bg1"/>
                </a:solidFill>
                <a:sym typeface="+mn-ea"/>
              </a:rPr>
              <a:t>定位</a:t>
            </a:r>
            <a:r>
              <a:rPr sz="2400" dirty="0">
                <a:solidFill>
                  <a:schemeClr val="bg1"/>
                </a:solidFill>
                <a:sym typeface="+mn-ea"/>
              </a:rPr>
              <a:t>：确定给定元素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x</a:t>
            </a:r>
            <a:r>
              <a:rPr sz="2400" dirty="0">
                <a:solidFill>
                  <a:schemeClr val="bg1"/>
                </a:solidFill>
                <a:sym typeface="+mn-ea"/>
              </a:rPr>
              <a:t>在表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</a:t>
            </a:r>
            <a:r>
              <a:rPr sz="2400" dirty="0">
                <a:solidFill>
                  <a:schemeClr val="bg1"/>
                </a:solidFill>
                <a:sym typeface="+mn-ea"/>
              </a:rPr>
              <a:t>中第一次出现的位置（或序号）。即实现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Locate(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L,x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sym typeface="+mn-ea"/>
              </a:rPr>
              <a:t>。算法对应的存储结构如图所示。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</a:t>
            </a:r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60420" name="Group 5"/>
          <p:cNvGrpSpPr/>
          <p:nvPr/>
        </p:nvGrpSpPr>
        <p:grpSpPr>
          <a:xfrm>
            <a:off x="755385" y="2961496"/>
            <a:ext cx="4191000" cy="3138488"/>
            <a:chOff x="184" y="-345"/>
            <a:chExt cx="2640" cy="1977"/>
          </a:xfrm>
        </p:grpSpPr>
        <p:sp>
          <p:nvSpPr>
            <p:cNvPr id="60421" name="Text Box 5"/>
            <p:cNvSpPr txBox="1"/>
            <p:nvPr/>
          </p:nvSpPr>
          <p:spPr>
            <a:xfrm>
              <a:off x="184" y="-345"/>
              <a:ext cx="2640" cy="16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L-&gt;data[0]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..…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i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..…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L-&gt;last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N-1 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空闲单元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2" name="AutoShape 6"/>
            <p:cNvSpPr/>
            <p:nvPr/>
          </p:nvSpPr>
          <p:spPr>
            <a:xfrm>
              <a:off x="2057" y="1114"/>
              <a:ext cx="48" cy="14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3" name="Line 7"/>
            <p:cNvSpPr/>
            <p:nvPr/>
          </p:nvSpPr>
          <p:spPr>
            <a:xfrm>
              <a:off x="1392" y="13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61449" name="Group 9"/>
          <p:cNvGraphicFramePr>
            <a:graphicFrameLocks noGrp="1"/>
          </p:cNvGraphicFramePr>
          <p:nvPr/>
        </p:nvGraphicFramePr>
        <p:xfrm>
          <a:off x="2319390" y="2853801"/>
          <a:ext cx="1295400" cy="2687638"/>
        </p:xfrm>
        <a:graphic>
          <a:graphicData uri="http://schemas.openxmlformats.org/drawingml/2006/table">
            <a:tbl>
              <a:tblPr/>
              <a:tblGrid>
                <a:gridCol w="1295400"/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34741" y="13652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11175" y="1044575"/>
            <a:ext cx="8670925" cy="5257165"/>
          </a:xfrm>
        </p:spPr>
        <p:txBody>
          <a:bodyPr/>
          <a:lstStyle/>
          <a:p>
            <a:pPr algn="just" eaLnBrk="1" hangingPunct="1">
              <a:lnSpc>
                <a:spcPct val="170000"/>
              </a:lnSpc>
            </a:pP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7)</a:t>
            </a:r>
            <a:r>
              <a:rPr sz="2300" dirty="0">
                <a:solidFill>
                  <a:schemeClr val="bg1"/>
                </a:solidFill>
                <a:sym typeface="+mn-ea"/>
              </a:rPr>
              <a:t>插入：</a:t>
            </a:r>
            <a:endParaRPr sz="23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70000"/>
              </a:lnSpc>
            </a:pP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Insert(</a:t>
            </a:r>
            <a:r>
              <a:rPr lang="en-US" altLang="zh-CN" sz="2300" dirty="0" err="1">
                <a:solidFill>
                  <a:schemeClr val="bg1"/>
                </a:solidFill>
                <a:sym typeface="+mn-ea"/>
              </a:rPr>
              <a:t>L,x,i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)</a:t>
            </a:r>
            <a:r>
              <a:rPr sz="2300" dirty="0">
                <a:solidFill>
                  <a:schemeClr val="bg1"/>
                </a:solidFill>
                <a:sym typeface="+mn-ea"/>
              </a:rPr>
              <a:t>。</a:t>
            </a:r>
            <a:r>
              <a:rPr sz="2300" dirty="0">
                <a:solidFill>
                  <a:schemeClr val="bg1"/>
                </a:solidFill>
                <a:sym typeface="+mn-ea"/>
              </a:rPr>
              <a:t>将元素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x</a:t>
            </a:r>
            <a:r>
              <a:rPr sz="2300" dirty="0">
                <a:solidFill>
                  <a:schemeClr val="bg1"/>
                </a:solidFill>
                <a:sym typeface="+mn-ea"/>
              </a:rPr>
              <a:t>插入到表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L</a:t>
            </a:r>
            <a:r>
              <a:rPr sz="2300" dirty="0">
                <a:solidFill>
                  <a:schemeClr val="bg1"/>
                </a:solidFill>
                <a:sym typeface="+mn-ea"/>
              </a:rPr>
              <a:t>中第</a:t>
            </a:r>
            <a:r>
              <a:rPr lang="en-US" altLang="zh-CN" sz="23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300" dirty="0">
                <a:solidFill>
                  <a:schemeClr val="bg1"/>
                </a:solidFill>
                <a:sym typeface="+mn-ea"/>
              </a:rPr>
              <a:t>个元素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300" dirty="0">
                <a:solidFill>
                  <a:schemeClr val="bg1"/>
                </a:solidFill>
                <a:sym typeface="+mn-ea"/>
              </a:rPr>
              <a:t>之前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</a:t>
            </a:r>
            <a:r>
              <a:rPr sz="2300" dirty="0">
                <a:solidFill>
                  <a:schemeClr val="bg1"/>
                </a:solidFill>
                <a:sym typeface="+mn-ea"/>
              </a:rPr>
              <a:t>且表长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+1</a:t>
            </a:r>
            <a:r>
              <a:rPr sz="23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3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sz="2300" dirty="0">
                <a:solidFill>
                  <a:schemeClr val="bg1"/>
                </a:solidFill>
                <a:sym typeface="+mn-ea"/>
              </a:rPr>
              <a:t>插入前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: (a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,---,a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i-1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i+1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-------,a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) 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0≤i≤n,i=n</a:t>
            </a:r>
            <a:r>
              <a:rPr sz="2300" dirty="0">
                <a:solidFill>
                  <a:schemeClr val="bg1"/>
                </a:solidFill>
                <a:sym typeface="+mn-ea"/>
              </a:rPr>
              <a:t>时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,x</a:t>
            </a:r>
            <a:r>
              <a:rPr sz="2300" dirty="0">
                <a:solidFill>
                  <a:schemeClr val="bg1"/>
                </a:solidFill>
                <a:sym typeface="+mn-ea"/>
              </a:rPr>
              <a:t>插入表尾 </a:t>
            </a:r>
            <a:endParaRPr lang="zh-CN" altLang="en-US" sz="23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70000"/>
              </a:lnSpc>
            </a:pPr>
            <a:r>
              <a:rPr sz="2300" dirty="0">
                <a:solidFill>
                  <a:schemeClr val="bg1"/>
                </a:solidFill>
                <a:sym typeface="+mn-ea"/>
              </a:rPr>
              <a:t>插入后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: (a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,---,a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i-1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 x, 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i+1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-------,a</a:t>
            </a:r>
            <a:r>
              <a:rPr lang="en-US" altLang="zh-CN" sz="23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)</a:t>
            </a:r>
            <a:endParaRPr lang="en-US" altLang="zh-CN" sz="23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50000"/>
              </a:lnSpc>
            </a:pPr>
            <a:endParaRPr lang="zh-CN" altLang="en-US" sz="2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5450" y="70485"/>
            <a:ext cx="10515600" cy="1325563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515620" y="1152525"/>
            <a:ext cx="9156700" cy="455358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000" dirty="0">
                <a:solidFill>
                  <a:schemeClr val="bg1"/>
                </a:solidFill>
                <a:sym typeface="+mn-ea"/>
              </a:rPr>
              <a:t>：若表存在空闲空间，且参数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满足：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0≤i≤L-&gt;last+1,</a:t>
            </a:r>
            <a:r>
              <a:rPr sz="2000" dirty="0">
                <a:solidFill>
                  <a:schemeClr val="bg1"/>
                </a:solidFill>
                <a:sym typeface="+mn-ea"/>
              </a:rPr>
              <a:t>则可进行正常插入。插入前，将表中（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L-&gt;data[L-&gt;last]</a:t>
            </a:r>
            <a:r>
              <a:rPr sz="2000" dirty="0">
                <a:solidFill>
                  <a:schemeClr val="bg1"/>
                </a:solidFill>
                <a:sym typeface="+mn-ea"/>
              </a:rPr>
              <a:t>～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L-&gt;data[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）部分顺序下移一个位置，然后将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x</a:t>
            </a:r>
            <a:r>
              <a:rPr sz="2000" dirty="0">
                <a:solidFill>
                  <a:schemeClr val="bg1"/>
                </a:solidFill>
                <a:sym typeface="+mn-ea"/>
              </a:rPr>
              <a:t>插入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L-&gt;data[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处即可。算法对应的表结构。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56324" name="Group 5"/>
          <p:cNvGrpSpPr/>
          <p:nvPr/>
        </p:nvGrpSpPr>
        <p:grpSpPr>
          <a:xfrm>
            <a:off x="839416" y="3295649"/>
            <a:ext cx="4191000" cy="3243263"/>
            <a:chOff x="0" y="0"/>
            <a:chExt cx="2640" cy="2043"/>
          </a:xfrm>
        </p:grpSpPr>
        <p:sp>
          <p:nvSpPr>
            <p:cNvPr id="56325" name="Text Box 5"/>
            <p:cNvSpPr txBox="1"/>
            <p:nvPr/>
          </p:nvSpPr>
          <p:spPr>
            <a:xfrm>
              <a:off x="0" y="0"/>
              <a:ext cx="2640" cy="20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L-&gt;data[0]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..…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L-&gt;last = n-1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       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     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空闲单元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x-none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6" name="AutoShape 6"/>
            <p:cNvSpPr/>
            <p:nvPr/>
          </p:nvSpPr>
          <p:spPr>
            <a:xfrm>
              <a:off x="1920" y="1584"/>
              <a:ext cx="48" cy="14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7" name="Line 7"/>
            <p:cNvSpPr/>
            <p:nvPr/>
          </p:nvSpPr>
          <p:spPr>
            <a:xfrm>
              <a:off x="1440" y="10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57353" name="Group 9"/>
          <p:cNvGraphicFramePr>
            <a:graphicFrameLocks noGrp="1"/>
          </p:cNvGraphicFramePr>
          <p:nvPr/>
        </p:nvGraphicFramePr>
        <p:xfrm>
          <a:off x="2477716" y="3265358"/>
          <a:ext cx="1295400" cy="3200402"/>
        </p:xfrm>
        <a:graphic>
          <a:graphicData uri="http://schemas.openxmlformats.org/drawingml/2006/table">
            <a:tbl>
              <a:tblPr/>
              <a:tblGrid>
                <a:gridCol w="1295400"/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</a:t>
                      </a:r>
                      <a:r>
                        <a:rPr kumimoji="0" lang="en-US" sz="18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2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610360"/>
            <a:ext cx="9164320" cy="4351655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7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8)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删除：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just" eaLnBrk="1" hangingPunct="1">
              <a:lnSpc>
                <a:spcPct val="17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Delete(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L,i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中第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个元素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240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且表长减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 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要求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0≤i≤n-1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70000"/>
              </a:lnSpc>
              <a:buNone/>
            </a:pP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删除前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 (a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,---,a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i-1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i+1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-------,a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7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删除后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,---,a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i-1</a:t>
            </a:r>
            <a:r>
              <a:rPr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i+1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-------,a</a:t>
            </a:r>
            <a:r>
              <a:rPr lang="en-US" altLang="zh-CN" sz="2400" b="1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 algn="just" eaLnBrk="1" hangingPunct="1">
              <a:lnSpc>
                <a:spcPct val="170000"/>
              </a:lnSpc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710565" y="37846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799465" y="1365885"/>
            <a:ext cx="8875395" cy="4491990"/>
          </a:xfrm>
        </p:spPr>
        <p:txBody>
          <a:bodyPr/>
          <a:lstStyle/>
          <a:p>
            <a:pPr eaLnBrk="1" hangingPunct="1"/>
            <a:r>
              <a:rPr sz="2000" b="1" dirty="0">
                <a:solidFill>
                  <a:schemeClr val="bg1"/>
                </a:solidFill>
                <a:sym typeface="+mn-ea"/>
              </a:rPr>
              <a:t>删除</a:t>
            </a:r>
            <a:r>
              <a:rPr sz="2000" dirty="0">
                <a:solidFill>
                  <a:schemeClr val="bg1"/>
                </a:solidFill>
                <a:sym typeface="+mn-ea"/>
              </a:rPr>
              <a:t>：将表中第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个元素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从表中删除，即实现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DeleteSqlist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(L,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000" dirty="0">
                <a:solidFill>
                  <a:schemeClr val="bg1"/>
                </a:solidFill>
                <a:sym typeface="+mn-ea"/>
              </a:rPr>
              <a:t>： 若参数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满足：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0≤i≤L-&gt;last, </a:t>
            </a:r>
            <a:r>
              <a:rPr sz="2000" dirty="0">
                <a:solidFill>
                  <a:schemeClr val="bg1"/>
                </a:solidFill>
                <a:sym typeface="+mn-ea"/>
              </a:rPr>
              <a:t>将表中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L-&gt;data[i+1]∽L-&gt;data[L-&gt;last] </a:t>
            </a:r>
            <a:r>
              <a:rPr sz="2000" dirty="0">
                <a:solidFill>
                  <a:schemeClr val="bg1"/>
                </a:solidFill>
                <a:sym typeface="+mn-ea"/>
              </a:rPr>
              <a:t>部分顺序向上移动一个位置，覆盖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L-&gt;data[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59397" name="Group 5"/>
          <p:cNvGraphicFramePr>
            <a:graphicFrameLocks noGrp="1"/>
          </p:cNvGraphicFramePr>
          <p:nvPr/>
        </p:nvGraphicFramePr>
        <p:xfrm>
          <a:off x="2272665" y="3007519"/>
          <a:ext cx="1295400" cy="2687639"/>
        </p:xfrm>
        <a:graphic>
          <a:graphicData uri="http://schemas.openxmlformats.org/drawingml/2006/table">
            <a:tbl>
              <a:tblPr/>
              <a:tblGrid>
                <a:gridCol w="1295400"/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 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24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CA"/>
                    </a:solidFill>
                  </a:tcPr>
                </a:tc>
              </a:tr>
            </a:tbl>
          </a:graphicData>
        </a:graphic>
      </p:graphicFrame>
      <p:grpSp>
        <p:nvGrpSpPr>
          <p:cNvPr id="58388" name="Group 21"/>
          <p:cNvGrpSpPr/>
          <p:nvPr/>
        </p:nvGrpSpPr>
        <p:grpSpPr>
          <a:xfrm>
            <a:off x="710565" y="3043239"/>
            <a:ext cx="4191000" cy="2614613"/>
            <a:chOff x="0" y="0"/>
            <a:chExt cx="2640" cy="1647"/>
          </a:xfrm>
        </p:grpSpPr>
        <p:sp>
          <p:nvSpPr>
            <p:cNvPr id="58389" name="Text Box 21"/>
            <p:cNvSpPr txBox="1"/>
            <p:nvPr/>
          </p:nvSpPr>
          <p:spPr>
            <a:xfrm>
              <a:off x="0" y="0"/>
              <a:ext cx="2640" cy="164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L-&gt;data[0]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..…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i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..…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L-&gt;last -&gt; n-1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N-1   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空闲单元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0" name="AutoShape 22"/>
            <p:cNvSpPr/>
            <p:nvPr/>
          </p:nvSpPr>
          <p:spPr>
            <a:xfrm>
              <a:off x="1872" y="1440"/>
              <a:ext cx="48" cy="14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1" name="Line 23"/>
            <p:cNvSpPr/>
            <p:nvPr/>
          </p:nvSpPr>
          <p:spPr>
            <a:xfrm>
              <a:off x="1392" y="13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0565" y="304629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线性表的基本运算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703" y="1348011"/>
            <a:ext cx="9167059" cy="4968552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设线性表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La=(a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……,a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m-1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), 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Lb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= (b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b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 ……,b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sym typeface="+mn-ea"/>
              </a:rPr>
              <a:t>，求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La∪Lb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 =&gt;La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	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4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400" dirty="0">
                <a:solidFill>
                  <a:schemeClr val="bg1"/>
                </a:solidFill>
                <a:sym typeface="+mn-ea"/>
              </a:rPr>
              <a:t>：依次取表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Lb</a:t>
            </a:r>
            <a:r>
              <a:rPr sz="2400" dirty="0">
                <a:solidFill>
                  <a:schemeClr val="bg1"/>
                </a:solidFill>
                <a:sym typeface="+mn-ea"/>
              </a:rPr>
              <a:t>中的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b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=0,1,……,n-1)</a:t>
            </a:r>
            <a:r>
              <a:rPr sz="2400" dirty="0">
                <a:solidFill>
                  <a:schemeClr val="bg1"/>
                </a:solidFill>
                <a:sym typeface="+mn-ea"/>
              </a:rPr>
              <a:t>，若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b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400" dirty="0">
                <a:solidFill>
                  <a:schemeClr val="bg1"/>
                </a:solidFill>
                <a:sym typeface="+mn-ea"/>
              </a:rPr>
              <a:t>不属于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La,</a:t>
            </a:r>
            <a:r>
              <a:rPr sz="2400" dirty="0">
                <a:solidFill>
                  <a:schemeClr val="bg1"/>
                </a:solidFill>
                <a:sym typeface="+mn-ea"/>
              </a:rPr>
              <a:t>则将其插入表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La</a:t>
            </a:r>
            <a:r>
              <a:rPr sz="2400" dirty="0">
                <a:solidFill>
                  <a:schemeClr val="bg1"/>
                </a:solidFill>
                <a:sym typeface="+mn-ea"/>
              </a:rPr>
              <a:t>中。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2200" dirty="0">
              <a:solidFill>
                <a:schemeClr val="bg1"/>
              </a:solidFill>
            </a:endParaRPr>
          </a:p>
        </p:txBody>
      </p:sp>
      <p:grpSp>
        <p:nvGrpSpPr>
          <p:cNvPr id="49157" name="Group 6"/>
          <p:cNvGrpSpPr/>
          <p:nvPr/>
        </p:nvGrpSpPr>
        <p:grpSpPr>
          <a:xfrm>
            <a:off x="2282189" y="2748438"/>
            <a:ext cx="4846638" cy="838200"/>
            <a:chOff x="-605" y="-108"/>
            <a:chExt cx="3053" cy="528"/>
          </a:xfrm>
        </p:grpSpPr>
        <p:sp>
          <p:nvSpPr>
            <p:cNvPr id="49159" name="Oval 7"/>
            <p:cNvSpPr/>
            <p:nvPr/>
          </p:nvSpPr>
          <p:spPr>
            <a:xfrm>
              <a:off x="-605" y="-108"/>
              <a:ext cx="1488" cy="52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1    3    5  7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61" name="Oval 9"/>
            <p:cNvSpPr/>
            <p:nvPr/>
          </p:nvSpPr>
          <p:spPr>
            <a:xfrm>
              <a:off x="960" y="-108"/>
              <a:ext cx="1488" cy="528"/>
            </a:xfrm>
            <a:prstGeom prst="ellipse">
              <a:avLst/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5  7    9  11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62" name="AutoShape 10"/>
            <p:cNvSpPr/>
            <p:nvPr/>
          </p:nvSpPr>
          <p:spPr>
            <a:xfrm rot="5118289" flipH="1">
              <a:off x="1237" y="-111"/>
              <a:ext cx="454" cy="563"/>
            </a:xfrm>
            <a:custGeom>
              <a:avLst/>
              <a:gdLst/>
              <a:ahLst/>
              <a:cxnLst>
                <a:cxn ang="0">
                  <a:pos x="5" y="222"/>
                </a:cxn>
                <a:cxn ang="0">
                  <a:pos x="227" y="0"/>
                </a:cxn>
                <a:cxn ang="0">
                  <a:pos x="449" y="222"/>
                </a:cxn>
                <a:cxn ang="0">
                  <a:pos x="227" y="0"/>
                </a:cxn>
                <a:cxn ang="0">
                  <a:pos x="5" y="222"/>
                </a:cxn>
              </a:cxnLst>
              <a:rect l="0" t="0" r="0" b="0"/>
              <a:pathLst>
                <a:path w="21600" h="21600">
                  <a:moveTo>
                    <a:pt x="242" y="8522"/>
                  </a:moveTo>
                  <a:cubicBezTo>
                    <a:pt x="1315" y="3549"/>
                    <a:pt x="5713" y="-1"/>
                    <a:pt x="10800" y="0"/>
                  </a:cubicBezTo>
                  <a:cubicBezTo>
                    <a:pt x="15886" y="0"/>
                    <a:pt x="20284" y="3549"/>
                    <a:pt x="21357" y="8522"/>
                  </a:cubicBezTo>
                  <a:cubicBezTo>
                    <a:pt x="20284" y="3549"/>
                    <a:pt x="15886" y="-1"/>
                    <a:pt x="10799" y="0"/>
                  </a:cubicBezTo>
                  <a:cubicBezTo>
                    <a:pt x="5713" y="0"/>
                    <a:pt x="1315" y="3549"/>
                    <a:pt x="242" y="8522"/>
                  </a:cubicBezTo>
                  <a:close/>
                </a:path>
              </a:pathLst>
            </a:custGeom>
            <a:solidFill>
              <a:schemeClr val="accent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304629"/>
            <a:ext cx="10681335" cy="416560"/>
          </a:xfrm>
        </p:spPr>
        <p:txBody>
          <a:bodyPr/>
          <a:lstStyle/>
          <a:p>
            <a:r>
              <a:rPr lang="zh-CN" altLang="en-US" sz="4800" b="0" dirty="0">
                <a:solidFill>
                  <a:srgbClr val="01E1EF"/>
                </a:solidFill>
              </a:rPr>
              <a:t>线性表</a:t>
            </a:r>
            <a:endParaRPr lang="zh-CN" altLang="en-US" sz="48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4723" y="1382301"/>
            <a:ext cx="8640959" cy="5112568"/>
          </a:xfrm>
        </p:spPr>
        <p:txBody>
          <a:bodyPr/>
          <a:lstStyle/>
          <a:p>
            <a:pPr algn="just" eaLnBrk="1" hangingPunct="1">
              <a:lnSpc>
                <a:spcPct val="28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设计清除线性表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L=(a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,---,a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,-------,a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sym typeface="+mn-ea"/>
              </a:rPr>
              <a:t>中重复元素的算法。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lvl="0" eaLnBrk="1" hangingPunct="1">
              <a:lnSpc>
                <a:spcPct val="280000"/>
              </a:lnSpc>
            </a:pPr>
            <a:r>
              <a:rPr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算法思路：对当前表</a:t>
            </a:r>
            <a:r>
              <a:rPr lang="en-US" altLang="zh-CN"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中的每个</a:t>
            </a:r>
            <a:r>
              <a:rPr lang="en-US" altLang="zh-CN"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130" baseline="-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0≤i≤n-2</a:t>
            </a:r>
            <a:r>
              <a:rPr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sz="213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依次与</a:t>
            </a:r>
            <a:r>
              <a:rPr lang="en-US" altLang="zh-CN" sz="213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130" baseline="-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CN"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(i+1≤j≤n-1) </a:t>
            </a:r>
            <a:r>
              <a:rPr sz="213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比较，若与</a:t>
            </a:r>
            <a:r>
              <a:rPr lang="en-US" altLang="zh-CN" sz="213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130" baseline="-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13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相等，则删除之</a:t>
            </a:r>
            <a:r>
              <a:rPr sz="2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77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线性表的顺序存储缺点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77" y="1430019"/>
            <a:ext cx="7197013" cy="4906481"/>
          </a:xfrm>
        </p:spPr>
        <p:txBody>
          <a:bodyPr/>
          <a:lstStyle/>
          <a:p>
            <a:pPr eaLnBrk="1" hangingPunct="1">
              <a:lnSpc>
                <a:spcPct val="210000"/>
              </a:lnSpc>
            </a:pP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sym typeface="+mn-ea"/>
              </a:rPr>
              <a:t>线性表的顺序存储结构有存储密度高及能够随机存取等优点，但存在以下不足：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21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要求系统提供一片较大的连续存储空间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x-none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1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插入、删除等运算耗时，且存在元素在存储器中成片移动的现象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10000"/>
              </a:lnSpc>
            </a:pP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21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1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1862</Words>
  <Application>WPS 演示</Application>
  <PresentationFormat>宽屏</PresentationFormat>
  <Paragraphs>157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Calibri Light</vt:lpstr>
      <vt:lpstr>Segoe Print</vt:lpstr>
      <vt:lpstr>1_华清远见PPT模板（宽屏）-华清远见教育集团</vt:lpstr>
      <vt:lpstr>Office 主题</vt:lpstr>
      <vt:lpstr>PowerPoint 演示文稿</vt:lpstr>
      <vt:lpstr>线性表的基本运算</vt:lpstr>
      <vt:lpstr>线性表的基本运算</vt:lpstr>
      <vt:lpstr>线性表</vt:lpstr>
      <vt:lpstr>基本运算的相关算法 </vt:lpstr>
      <vt:lpstr>线性表</vt:lpstr>
      <vt:lpstr>基本运算的相关算法</vt:lpstr>
      <vt:lpstr>线性表</vt:lpstr>
      <vt:lpstr>基本运算的相关算法</vt:lpstr>
      <vt:lpstr>线性表的基本运算</vt:lpstr>
      <vt:lpstr>线性表</vt:lpstr>
      <vt:lpstr>线性表的顺序存储缺点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1139</cp:revision>
  <cp:lastPrinted>2011-09-16T06:19:00Z</cp:lastPrinted>
  <dcterms:created xsi:type="dcterms:W3CDTF">2016-04-14T04:36:00Z</dcterms:created>
  <dcterms:modified xsi:type="dcterms:W3CDTF">2019-09-11T12:31:45Z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